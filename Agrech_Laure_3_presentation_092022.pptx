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3"/>
  </p:notesMasterIdLst>
  <p:sldIdLst>
    <p:sldId id="256" r:id="rId2"/>
    <p:sldId id="295" r:id="rId3"/>
    <p:sldId id="257" r:id="rId4"/>
    <p:sldId id="270" r:id="rId5"/>
    <p:sldId id="258" r:id="rId6"/>
    <p:sldId id="259" r:id="rId7"/>
    <p:sldId id="311" r:id="rId8"/>
    <p:sldId id="312" r:id="rId9"/>
    <p:sldId id="313" r:id="rId10"/>
    <p:sldId id="320" r:id="rId11"/>
    <p:sldId id="322" r:id="rId12"/>
    <p:sldId id="319" r:id="rId13"/>
    <p:sldId id="308" r:id="rId14"/>
    <p:sldId id="318" r:id="rId15"/>
    <p:sldId id="321" r:id="rId16"/>
    <p:sldId id="314" r:id="rId17"/>
    <p:sldId id="297" r:id="rId18"/>
    <p:sldId id="315" r:id="rId19"/>
    <p:sldId id="316" r:id="rId20"/>
    <p:sldId id="296" r:id="rId21"/>
    <p:sldId id="317" r:id="rId22"/>
    <p:sldId id="269" r:id="rId23"/>
    <p:sldId id="305" r:id="rId24"/>
    <p:sldId id="302" r:id="rId25"/>
    <p:sldId id="301" r:id="rId26"/>
    <p:sldId id="299" r:id="rId27"/>
    <p:sldId id="309" r:id="rId28"/>
    <p:sldId id="300" r:id="rId29"/>
    <p:sldId id="304" r:id="rId30"/>
    <p:sldId id="277" r:id="rId31"/>
    <p:sldId id="275" r:id="rId32"/>
  </p:sldIdLst>
  <p:sldSz cx="9144000" cy="5143500" type="screen16x9"/>
  <p:notesSz cx="6858000" cy="9144000"/>
  <p:embeddedFontLst>
    <p:embeddedFont>
      <p:font typeface="Anaheim" panose="02000503000000000000" pitchFamily="2" charset="77"/>
      <p:regular r:id="rId34"/>
    </p:embeddedFont>
    <p:embeddedFont>
      <p:font typeface="Bebas Neue" panose="020B0606020202050201" pitchFamily="34" charset="77"/>
      <p:regular r:id="rId35"/>
    </p:embeddedFont>
    <p:embeddedFont>
      <p:font typeface="Nunito Light" panose="020F0302020204030204" pitchFamily="34" charset="0"/>
      <p:regular r:id="rId36"/>
      <p:italic r:id="rId37"/>
    </p:embeddedFont>
    <p:embeddedFont>
      <p:font typeface="Poppins Medium" panose="020B0604020202020204" pitchFamily="34" charset="0"/>
      <p:regular r:id="rId38"/>
      <p:bold r:id="rId39"/>
      <p:italic r:id="rId40"/>
      <p:boldItalic r:id="rId41"/>
    </p:embeddedFont>
    <p:embeddedFont>
      <p:font typeface="Quicksand" pitchFamily="2" charset="77"/>
      <p:regular r:id="rId42"/>
      <p:bold r:id="rId43"/>
    </p:embeddedFont>
    <p:embeddedFont>
      <p:font typeface="Quicksand Medium" pitchFamily="2" charset="77"/>
      <p:regular r:id="rId44"/>
      <p:bold r:id="rId45"/>
    </p:embeddedFont>
    <p:embeddedFont>
      <p:font typeface="Quicksand SemiBold" pitchFamily="2" charset="77"/>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100"/>
    <a:srgbClr val="53C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E1990F-7493-410F-B343-7341C0AC1395}">
  <a:tblStyle styleId="{A0E1990F-7493-410F-B343-7341C0AC13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13"/>
    <p:restoredTop sz="94721"/>
  </p:normalViewPr>
  <p:slideViewPr>
    <p:cSldViewPr snapToGrid="0">
      <p:cViewPr varScale="1">
        <p:scale>
          <a:sx n="123" d="100"/>
          <a:sy n="123" d="100"/>
        </p:scale>
        <p:origin x="208"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43:42.169"/>
    </inkml:context>
    <inkml:brush xml:id="br0">
      <inkml:brushProperty name="width" value="0.05" units="cm"/>
      <inkml:brushProperty name="height" value="0.05" units="cm"/>
      <inkml:brushProperty name="color" value="#FF4E00"/>
      <inkml:brushProperty name="inkEffects" value="rainbow"/>
      <inkml:brushProperty name="anchorX" value="-21134.36523"/>
      <inkml:brushProperty name="anchorY" value="-5570.12158"/>
      <inkml:brushProperty name="scaleFactor" value="0.5"/>
    </inkml:brush>
  </inkml:definitions>
  <inkml:trace contextRef="#ctx0" brushRef="#br0">4053 73 22650,'-9'3'0,"0"-1"938,-1-1-938,2-1 324,0 0-324,-1 0 164,-2 0-164,-4 0 499,-1 0-499,-1 0 0,1 0 0,0 0 0,0 0 0,-3 0 0,0 0 0,1 0 0,0 0 0,0-1 0,0 0 0,-1-1 0,-1 0 0,0 1 0,-2 0 0,-1-1 0,-1 0 0,0 0 0,0 0 0,0 0 0,1 0 0,2 0 0,0 2 0,1 0 0,-1 0 0,1 0 0,1 0 0,0 0 0,0 0 0,0 0 0,1 0 0,0 0 0,0 0 0,1 0 0,-2 0 0,2 0 0,-1 0 0,0 0 0,0 0 0,-1 0 0,-1 0 0,1 0 0,0 0 0,0 0 0,-1 0 0,1 0 0,0 0 0,-2 0 0,1 0 0,-1 0 0,1 0 0,1 0 0,0 0 0,-1 0 0,1 0 0,2 0 0,0 2 0,1 0 0,-2 2 0,1-1 0,1 1 0,3 1 0,-2-1 0,0 1 0,0 0 0,-1 0 0,1-1 0,-1 0 0,0 0 0,-2 0 0,0 0 0,0 0 0,1-1 0,0 1 0,2 1 0,0-1 0,1 1 0,-1 0 0,1 0 0,-1 0 0,2 0 0,0-1 0,1 1 0,-1 0 0,-1-1 0,-1 1 0,1 1 0,1-1 0,0 1 0,1-1 0,-1-2 0,1 1 0,-1 1 0,3-1 0,-1-1 0,1 0 0,1-1 0,1 2 0,2 0 0,-1 0 0,0 1 0,-2 1 0,0-1 0,1 2 0,-1-2 0,0 0 0,0 0 0,-2 1 0,0 0 0,1-1 0,-1-1 0,1 0 0,-1 0 0,-1 0 0,1 1 0,-2 0 0,1-1 0,0 1 0,-3 0 0,1-1 0,1 1 0,0 1 0,1 0 0,-1 0 0,-2 0 0,1-1 0,-1 1 0,0 0 0,1 1 0,-1 1 0,0-1 0,-2 1 0,0-1 0,0 1 0,1-1 0,1 0 0,1 1 0,-1-1 0,1 0 0,-1 0 0,0 1 0,1-1 0,-1 0 0,1 1 0,-1-1 0,-1 1 0,-1-1 0,-1 0 0,2 1 0,-1-1 0,0-1 0,-2 0 0,-1 0 0,1 0 0,0 1 0,0 1 0,0-2 0,2-1 0,0 1 0,0 0 0,0 2 0,0-1 0,1-2 0,1 1 0,1-1 0,-1 1 0,0 0 0,1-1 0,-1 0 0,2 1 0,0-1 0,2 1 0,0-2 0,1 1 0,0 0 0,1-2 0,-1 2 0,0 0 0,0-1 0,0 1 0,0 0 0,2-1 0,-3 1 0,-1 0 0,-1 1 0,-4 1 0,-1 1 0,-1 0 0,-3 0 0,0-1 0,-2 1 0,0 1 0,0-1 0,0 0 0,0 0 0,0 0 0,0 0 0,0 0 0,0 0 0,-1 0 0,-2 0 0,0 0 0,0 0 0,2 1 0,1-1 0,0 1 0,0 1 0,-2 0 0,0 0 0,-1-1 0,1-1 0,3 1 0,2 1 0,-1 0 0,2-1 0,1-1 0,3-1 0,1 1 0,1-3 0,-1 1 0,3-2 0,1 1 0,2-1 0,-1-1 0,0 0 0,0 0 0,0 1 0,1 0 0,-1 1 0,-1-1 0,2 1 0,-1 0 0,1-1 0,-1 1 0,-1 0 0,1 0 0,-1 2 0,0 0 0,1 0 0,1 0 0,0-1 0,2 1 0,1 0 0,-1-1 0,0 1 0,1 0 0,1-1 0,0 1 0,0 0 0,-1 1 0,0 1 0,-1 2 0,0-1 0,0 1 0,0 0 0,0-1 0,2 0 0,0-1 0,2-2 0,-1 1 0,2 1 0,-1-1 0,1 1 0,0-2 0,0 0 0,2-1 0,0-1 0,0-2 0,0 1 0,0-1 0,0 0 0,0 0 0,0 0 0,1 0 0,2 0 0,2 2 0,2-1 0,-1 0 0,1 0 0,1-2 0,1 1 0,2-2 0,2 2 0,0 0 0,2-1 0,-1 0 0,0 1 0,1-1 0,0 0 0,0 1 0,2 0 0,1 1 0,2-1 0,2-1 0,2 2 0,3 1 0,1-1 0,1 0 0,1-1 0,-1-1 0,0 0 0,0-2 0,1 0 0,1 0 0,-1 0 0,1 0 0,0 0 0,2 0 0,4 0 0,5 0 0,5 0 0,1 0 0,-1 0 0,-1 0 0,-1-3 0,2-2 0,-1-3 0,-3-1 0,-3 0 0,-3 1 0,-4 2 0,-1 0 0,-1-1 0,-1 0 0,0-1 0,1-1 0,0 1 0,1 0 0,0-1 0,2-1 0,1-1 0,3-2 0,4-2 0,1-1 0,3-2 0,-1-1 0,1-1 0,-1-1 0,-4 0 0,-1 1 0,-1 2 0,-1 1 0,-1-1 0,-3 1 0,2-1 0,1 1 0,2 1 0,0-2 0,3 1 0,6-4 0,4-3 0,1 1 0,-4 0 0,-2 3 0,6-2 0,4-2 0,8-4 0,6-2 0,-1 1 0,3-2 0,-2 3 0,-1 0 0,2-1 0,-3 3 0,-3 1 0,-5 2 0,0-1 0,0 1 0,-4 3 0,-3 3 0,-6 5 0,-4 0 0,-1 3 0,-3 2 0,-2 1 0,-1 2 0,-2-1 0,-1 1 0,-2 0 0,-1 0 0,-1 2 0,-1 0 0,0 1 0,-4-2 0,-2 2 0,-3-1 0,0 2 0,-1 0 0,-1 0 0,0 0 0,1 0 0,2 0 0,2 0 0,3 0 0,4 0 0,8 0 0,2 0 0,3 0 0,1 0 0,0 0 0,3 0 0,-1 0 0,-2 0 0,-3 0 0,-4 0 0,-2 0 0,-1 0 0,-2-2 0,-4 0 0,-5-2 0,-5 1 0,-3-1 0,-4-1 0,-1 1 0,-1-1 0,-2 1 0,-1-1 0,-2 1 0,-1-1 0,-3 0 0,0 0 0,0 0 0,0 1 0,-1-2 0,-3-1 0,-2 1 0,-4-1 0,-2 0 0,1 0 0,0 0 0,2 0 0,1 1 0,-1-1 0,0 0 0,-1 0 0,2 1 0,-1 1 0,-1 0 0,1 0 0,0-1 0,1-1 0,1 1 0,-2 1 0,1 1 0,-2 1 0,1-1 0,0 1 0,-1-1 0,1 2 0,0 0 0,0 0 0,-1 1 0,1-2 0,1 0 0,0-1 0,2 1 0,-1 0 0,1-2 0,0 2 0,1-2 0,-1 2 0,-1 0 0,-1 0 0,-2 1 0,-1 0 0,-1 0 0,-3 1 0,2-1 0,1 0 0,1 2 0,1 0 0,-1 0 0,3 0 0,0 0 0,1 0 0,0 0 0,1 0 0,-1 0 0,0 0 0,1 0 0,-1 0 0,1 0 0,1 0 0,1-1 0,1 0 0,-1-1 0,0 0 0,0 2 0,0-1 0,0-1 0,1 0 0,0 1 0,0 1 0,-1-2 0,1 1 0,0-1 0,-1 0 0,1 0 0,-2 1 0,2-2 0,-1 0 0,1 0 0,-1-2 0,-1 0 0,0-2 0,-2 1 0,1 1 0,-1 0 0,1 1 0,-1-2 0,0 0 0,1-1 0,-1 1 0,-1-1 0,0 0 0,-1 1 0,0 1 0,2 1 0,0 1 0,1 0 0,-1 1 0,2 0 0,0 2 0,0 0 0,0 0 0,-1 0 0,-1 0 0,1 0 0,0 0 0,1 0 0,0 0 0,0 0 0,0 0 0,-2 0 0,0 0 0,1 0 0,-1 0 0,1 0 0,-1 0 0,1 2 0,0 0 0,2 2 0,-1-2 0,0 1 0,0-1 0,0 0 0,1-1 0,0 0 0,0-1 0,0 1 0,1 1 0,0-1 0,0 2 0,0-1 0,0 0 0,0 1 0,-1-1 0,3 1 0,-2 0 0,2-1 0,-1 0 0,-1 0 0,1 2 0,-2-1 0,1 0 0,1-1 0,-1 0 0,1 0 0,0 1 0,-1-2 0,1 1 0,-1-1 0,-1 1 0,1 0 0,0-1 0,0 0 0,-1-1 0,1 0 0,0 0 0,0 0 0,1-1 0,0-5 0,2-2 0,0 1 0,0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43:53.443"/>
    </inkml:context>
    <inkml:brush xml:id="br0">
      <inkml:brushProperty name="width" value="0.05" units="cm"/>
      <inkml:brushProperty name="height" value="0.05" units="cm"/>
      <inkml:brushProperty name="color" value="#CC912C"/>
      <inkml:brushProperty name="inkEffects" value="gold"/>
      <inkml:brushProperty name="anchorX" value="-44384.39844"/>
      <inkml:brushProperty name="anchorY" value="-10738.83984"/>
      <inkml:brushProperty name="scaleFactor" value="0.5"/>
    </inkml:brush>
  </inkml:definitions>
  <inkml:trace contextRef="#ctx0" brushRef="#br0">1225 7 23441,'-9'-3'0,"0"1"559,-4 1-559,0 1 190,-3 0-190,0 0 95,-2 0-95,-2 0 290,1 0-290,0 0 0,-1 0 0,1 0 0,1 0 0,-2 0 0,0 0 0,-2 0 0,-1 0 0,0 0 0,0 0 0,-1 0 0,2 0 0,1 0 0,0 0 0,0 0 0,-2 0 0,-1 0 0,-1 0 0,0 0 0,1 0 0,0 0 0,0 0 0,2 0 0,1 0 0,0 0 0,1 0 0,-1 0 0,3 0 0,0 2 0,-1 1 0,2 1 0,-1 2 0,0 0 0,0 1 0,-1-2 0,-1 1 0,1 0 0,1 1 0,0 0 0,0 1 0,1-1 0,0 1 0,2-2 0,1-1 0,-1 0 0,1 1 0,-1 1 0,1 0 0,-1 1 0,2-1 0,1 0 0,1 0 0,1 0 0,-1 0 0,3-2 0,0 0 0,1 0 0,-2 0 0,1 2 0,0-2 0,2 0 0,2-2 0,1 1 0,0 0 0,0-1 0,1 1 0,1-2 0,0 1 0,1 0 0,0 0 0,0 0 0,0 0 0,0 0 0,0 1 0,0-1 0,0 0 0,0 1 0,0 0 0,0 0 0,1 0 0,0 0 0,1 0 0,1 0 0,1 0 0,1 0 0,1 2 0,1 0 0,-1 0 0,0 0 0,-2-1 0,1 0 0,1 0 0,0 1 0,0-1 0,1-1 0,-1-1 0,1 1 0,-1 1 0,1-1 0,0 0 0,2-1 0,0 1 0,-1-1 0,-1 0 0,0-1 0,-1 1 0,1 1 0,-1-1 0,1 2 0,-1-2 0,1 1 0,-1 0 0,1 0 0,-1 1 0,1 0 0,-1-2 0,1 2 0,-1-2 0,1 1 0,-1 1 0,1 0 0,0 0 0,2 0 0,2 1 0,0 0 0,1 0 0,-2-1 0,1 1 0,-1-1 0,1 0 0,-2 0 0,1 1 0,-1-1 0,1 0 0,2 0 0,-1 0 0,1 1 0,0-1 0,1 0 0,1 1 0,0-2 0,-1 1 0,0-2 0,-1 1 0,1-1 0,1-1 0,1 2 0,-1-2 0,1 2 0,-1-1 0,1-1 0,-1-1 0,1 0 0,-1 0 0,1 1 0,-1 0 0,2-1 0,1-1 0,0 0 0,-1 0 0,0 0 0,-2 0 0,2 0 0,1 0 0,2 0 0,0 0 0,0 0 0,0 0 0,-1 0 0,0 0 0,-1 0 0,2 0 0,0 0 0,0 0 0,0 0 0,1 0 0,-1 0 0,0 0 0,0 0 0,0-2 0,1 0 0,-1-2 0,0-2 0,1 1 0,2-2 0,-1-1 0,1-1 0,-1-2 0,0 0 0,-1-1 0,2-1 0,-2 0 0,1-3 0,1 0 0,0-1 0,0 0 0,-2 2 0,-3 0 0,0 0 0,-2 1 0,0-1 0,0 0 0,-3 0 0,-1 2 0,-2 1 0,-2 1 0,-1 1 0,1-1 0,-2 1 0,-2-2 0,-1 1 0,-2 0 0,0 2 0,0-1 0,0 0 0,-1 0 0,-1 1 0,-5 1 0,-3 2 0,-4 1 0,-1 0 0,-2 2 0,0 2 0,-1-1 0,0 0 0,0 0 0,0-1 0,1 0 0,-2 1 0,-2 0 0,1 2 0,-1-2 0,-1 0 0,2 0 0,2 0 0,-1 2 0,2 0 0,-1 0 0,1 0 0,3 0 0,-1-2 0,3 0 0,-1-1 0,3-1 0,2 0 0,2-1 0,3 0 0,2-2 0,1-2-1696,0-10 0,0 10 0,0-6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43:56.623"/>
    </inkml:context>
    <inkml:brush xml:id="br0">
      <inkml:brushProperty name="width" value="0.05" units="cm"/>
      <inkml:brushProperty name="height" value="0.05" units="cm"/>
      <inkml:brushProperty name="color" value="#CC912C"/>
      <inkml:brushProperty name="inkEffects" value="gold"/>
      <inkml:brushProperty name="anchorX" value="-66874.97656"/>
      <inkml:brushProperty name="anchorY" value="-15329.2002"/>
      <inkml:brushProperty name="scaleFactor" value="0.5"/>
    </inkml:brush>
  </inkml:definitions>
  <inkml:trace contextRef="#ctx0" brushRef="#br0">1435 2 24575,'-7'0'0,"-1"0"0,0 0 0,-3 0 0,0 0 0,0 0 0,-1 0 0,1 0 0,-2 0 0,-1 0 0,-1 0 0,-2 0 0,-1 0 0,0 0 0,0 0 0,-2 0 0,-3 0 0,-1 0 0,-2 0 0,2 0 0,1 0 0,-1 0 0,0 0 0,-3 0 0,-1 0 0,-1 0 0,-1 0 0,1 0 0,0 0 0,-1 0 0,-1 1 0,1 1 0,1 2 0,1 0 0,1 0 0,0 0 0,1-2 0,3 1 0,2-1 0,-1 0 0,1 1 0,-2 0 0,-1 0 0,0 1 0,0-1 0,-2 1 0,0-2 0,-1 2 0,0 0 0,3 1 0,0-1 0,2-2 0,1 1 0,0 0 0,1-1 0,-1 2 0,1-2 0,0 0 0,1 2 0,2 0 0,1 0 0,1 1 0,0-1 0,1 0 0,2 1 0,1-1 0,2 1 0,0 0 0,0 1 0,2 1 0,2-1 0,1 1 0,2-1 0,-1 1 0,1 0 0,0-1 0,0 1 0,2 0 0,0-1 0,0 1 0,0-1 0,0 1 0,0 0 0,0-1 0,0 1 0,0-1 0,0 1 0,0-1 0,0 1 0,0-1 0,0 1 0,0-2 0,0 0 0,1-2 0,1-2 0,2 0 0,1-1 0,1 0 0,0 0 0,1 1 0,0 1 0,-1-1 0,1 2 0,-1-1 0,1 0 0,-1 1 0,2-1 0,1 1 0,-1 0 0,-1 1 0,-2-1 0,0 0 0,0 1 0,0-1 0,0 0 0,0-1 0,0 1 0,1-1 0,1 2 0,-1 1 0,1-2 0,0 2 0,-1-2 0,-1 1 0,-1-1 0,1 0 0,-1 0 0,0-1 0,-1 1 0,0-1 0,0 0 0,0 0 0,1 0 0,-1 1 0,0-1 0,1 1 0,1 0 0,1-1 0,0 1 0,2 1 0,4 1 0,3 2 0,3 0 0,4 1 0,-3 0 0,3 0 0,-1 0 0,1 0 0,2 1 0,0 2 0,0-1 0,-1-1 0,-1-1 0,-1-1 0,1-1 0,-1 0 0,1-1 0,0 0 0,-1 1 0,2-1 0,0 0 0,1 1 0,0 0 0,0 0 0,0 0 0,0 0 0,0-1 0,0 0 0,0 0 0,-1-2 0,3 0 0,3 0 0,3-1 0,2 0 0,9-1 0,6-1 0,6 0 0,2 0 0,-4 0 0,1 0 0,-1 0 0,1 0 0,-5-1 0,-3-1 0,-6-3 0,-7-2 0,-4-1 0,-4 2 0,-4 1 0,-3-1 0,-2 0 0,-2-1 0,1-1 0,-1-1 0,0-1 0,-2-2 0,1-1 0,0-1 0,1-2 0,1-1 0,0 0 0,0-1 0,-2 0 0,-1 0 0,-2-1 0,-3 2 0,1-2 0,-2 2 0,-1-3 0,-1 1 0,-2 0 0,0 0 0,-2 2 0,0 0 0,0 1 0,-1-1 0,-3 0 0,-2 1 0,-2 1 0,-3 1 0,2-1 0,0 1 0,0 0 0,0 2 0,-1 3 0,-1 1 0,1 2 0,-2 1 0,0 0 0,-1 0 0,-1 0 0,-1 0 0,0 0 0,-2 0 0,1 1 0,-1 2 0,-2 0 0,0 2 0,0 0 0,-1 0 0,3 0 0,0 0 0,2 0 0,1 0 0,2 0 0,1 0 0,3 0 0,2 0 0,2 0 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43:59.973"/>
    </inkml:context>
    <inkml:brush xml:id="br0">
      <inkml:brushProperty name="width" value="0.05" units="cm"/>
      <inkml:brushProperty name="height" value="0.05" units="cm"/>
      <inkml:brushProperty name="color" value="#CC912C"/>
      <inkml:brushProperty name="inkEffects" value="gold"/>
      <inkml:brushProperty name="anchorX" value="-92758.74219"/>
      <inkml:brushProperty name="anchorY" value="-23655.38672"/>
      <inkml:brushProperty name="scaleFactor" value="0.5"/>
    </inkml:brush>
  </inkml:definitions>
  <inkml:trace contextRef="#ctx0" brushRef="#br0">977 8 24575,'-12'0'0,"-1"0"0,-1 0 0,-6 0 0,-5 0 0,-4 0 0,-7 0 0,-3 0 0,-6 0 0,-2 0 0,-3 0 0,0 0 0,3 0 0,5 1 0,4 1 0,4 1 0,3 1 0,2 3 0,4 0 0,1 0 0,1-1 0,1-1 0,2 1 0,2 0 0,1 0 0,3-1 0,1 0 0,2 1 0,0-1 0,1 0 0,1 0 0,0-1 0,2 1 0,-1-1 0,-1 0 0,1 1 0,-1 0 0,2 0 0,-1 0 0,-1 1 0,0-1 0,1 2 0,-1-1 0,1-1 0,-1 0 0,1 1 0,1-1 0,1 2 0,0-1 0,0 0 0,2-1 0,2 0 0,0 0 0,1 0 0,1 0 0,0 0 0,0-1 0,0 0 0,0 0 0,0-1 0,0 1 0,0 0 0,0 1 0,0-2 0,0 0 0,1 0 0,2-1 0,2 1 0,2-1 0,-1 0 0,1 1 0,-1-1 0,0 0 0,-1 1 0,0-2 0,0 2 0,1-1 0,0 0 0,1 0 0,-1-1 0,1-1 0,-1 2 0,1 0 0,-1 0 0,1 1 0,-1-1 0,1 0 0,-1 1 0,1-2 0,-1 1 0,1 0 0,-1-1 0,1 2 0,-1 1 0,1-1 0,-1 0 0,1 1 0,-2 0 0,0-1 0,0 2 0,0-1 0,0 1 0,0-1 0,0 0 0,-2-1 0,1 0 0,0 1 0,2-1 0,0 0 0,1 1 0,-1 0 0,1 0 0,-1 0 0,1 1 0,0-1 0,2 1 0,1-1 0,1 1 0,2-1 0,1 2 0,2-1 0,1 3 0,0-2 0,1-1 0,2 1 0,-1 0 0,2 0 0,-2 0 0,1-3 0,-1 1 0,-2 1 0,2 0 0,-2 0 0,0-2 0,-1-1 0,-2 2 0,1-2 0,-1 0 0,2 1 0,0-1 0,2 1 0,-2-1 0,0 0 0,-2 1 0,1 0 0,1-1 0,0 0 0,4 0 0,4 0 0,0 0 0,4 0 0,-1-1 0,2-1 0,2 0 0,1 0 0,4 2 0,2 0 0,2 1 0,1-1 0,0-2 0,0 0 0,-3 0 0,-1 0 0,-3 0 0,1 0 0,0 0 0,-1 0 0,-2-2 0,-3-1 0,-4-1 0,-3-2 0,-2 0 0,0-3 0,0 0 0,3-2 0,2-2 0,3-2 0,2-2 0,-3-2 0,-4-1 0,-3 1 0,-5-1 0,-3 1 0,-3 1 0,-2 2 0,-3 2 0,-2 2 0,-2 1 0,0 0 0,0 1 0,0 1 0,0-1 0,0 2 0,-2-3 0,-4-1 0,-6 1 0,-6-2 0,-4 1 0,-2 0 0,0 0 0,-3 0 0,0 0 0,-4 2 0,-1 2 0,0 3 0,0 1 0,1-1 0,3 2 0,1 0 0,2 0 0,1 0 0,0-1 0,2 0 0,1 0 0,4 1 0,1-2 0,2 1 0,1-1 0,2 0 0,3 1 0,4 0 0,3-2 0,0-2 0,1-2 0,0-2 0,0 6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44:03.457"/>
    </inkml:context>
    <inkml:brush xml:id="br0">
      <inkml:brushProperty name="width" value="0.05" units="cm"/>
      <inkml:brushProperty name="height" value="0.05" units="cm"/>
      <inkml:brushProperty name="color" value="#CC912C"/>
      <inkml:brushProperty name="inkEffects" value="gold"/>
      <inkml:brushProperty name="anchorX" value="-117096.23438"/>
      <inkml:brushProperty name="anchorY" value="-33745.93359"/>
      <inkml:brushProperty name="scaleFactor" value="0.5"/>
    </inkml:brush>
  </inkml:definitions>
  <inkml:trace contextRef="#ctx0" brushRef="#br0">1345 83 24575,'-12'0'0,"1"0"0,-2 0 0,-3 0 0,-5 0 0,-3 0 0,0 0 0,-1 0 0,-2 0 0,0 0 0,-1 0 0,2 0 0,0 0 0,1 0 0,0 0 0,-1 0 0,1 0 0,0 0 0,-1 0 0,2 0 0,0 0 0,0 0 0,0 0 0,0 0 0,2 0 0,3 0 0,0 0 0,0 1 0,-1 0 0,-2 2 0,1 0 0,1 1 0,-1 0 0,0 0 0,0 0 0,0 0 0,0 0 0,1 0 0,-2 1 0,1 1 0,-2 1 0,-2 0 0,-2-1 0,1-1 0,2 0 0,2 0 0,1 1 0,0-1 0,1 0 0,3 0 0,-2 1 0,2 1 0,0-1 0,0 0 0,2-1 0,1 1 0,-1 1 0,1 0 0,1-1 0,2-1 0,1 0 0,1 1 0,0 0 0,-1 1 0,1 0 0,1-2 0,0 0 0,3 0 0,1 1 0,0 0 0,1-1 0,0-1 0,2 1 0,0-1 0,1 1 0,0 0 0,0 0 0,0 0 0,0-1 0,0 1 0,0 1 0,0 0 0,0-1 0,0-1 0,0 1 0,0 0 0,1 0 0,1 0 0,1 0 0,2 2 0,0-1 0,2 1 0,1 2 0,3 2 0,0 1 0,2 1 0,2 0 0,1 0 0,1 1 0,-2-1 0,0-1 0,0-2 0,2-1 0,0 0 0,0 1 0,-2-1 0,1 0 0,1-1 0,0 0 0,1-1 0,0 1 0,0-2 0,2 0 0,-1-2 0,0 0 0,0-1 0,0 1 0,-1 0 0,-2-2 0,1 1 0,0 0 0,0-1 0,2 0 0,0-2 0,3 0 0,2 2 0,0 0 0,0 0 0,0-1 0,3-1 0,0 0 0,-1 0 0,0 1 0,-2 1 0,0 0 0,-2 0 0,0-1 0,-1-1 0,1 0 0,1 0 0,1 0 0,0 0 0,-2 0 0,0 0 0,-3 0 0,-1 0 0,-2 0 0,-1 0 0,0 0 0,1 0 0,1 0 0,2 0 0,2 0 0,2 0 0,0 0 0,1 0 0,0 0 0,3 0 0,-1 0 0,2 0 0,2 0 0,2-3 0,5-2 0,1-3 0,-2 0 0,-2-1 0,-3 1 0,-5-1 0,-3 2 0,-2 0 0,-2 1 0,0 1 0,0-1 0,0-1 0,-1-1 0,-1 1 0,-3 0 0,-2 0 0,-1 0 0,-2 0 0,-1-1 0,-1-1 0,0-1 0,-2-1 0,-1 1 0,-3-3 0,-1 0 0,0-1 0,0 1 0,0-1 0,0-1 0,0-1 0,0-3 0,0-2 0,0-4 0,0-3 0,0-2 0,0-3 0,0-4 0,0 1 0,0 1 0,0 3 0,0 5 0,0 5 0,-2 4 0,-6 6 0,-4 3 0,-4 5 0,-2 1 0,-1 3 0,-1 0 0,-1 0 0,-1 0 0,0 0 0,1 0 0,-1 0 0,3 0 0,0 0 0,0 0 0,1 0 0,2 0 0,2-2 0,6 1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6609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90cccfa9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90cccfa9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0" name="Google Shape;50;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5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1"/>
        <p:cNvGrpSpPr/>
        <p:nvPr/>
      </p:nvGrpSpPr>
      <p:grpSpPr>
        <a:xfrm>
          <a:off x="0" y="0"/>
          <a:ext cx="0" cy="0"/>
          <a:chOff x="0" y="0"/>
          <a:chExt cx="0" cy="0"/>
        </a:xfrm>
      </p:grpSpPr>
      <p:sp>
        <p:nvSpPr>
          <p:cNvPr id="172" name="Google Shape;172;p24"/>
          <p:cNvSpPr/>
          <p:nvPr/>
        </p:nvSpPr>
        <p:spPr>
          <a:xfrm rot="10800000">
            <a:off x="7181825" y="1722750"/>
            <a:ext cx="1698000" cy="1698000"/>
          </a:xfrm>
          <a:prstGeom prst="pie">
            <a:avLst>
              <a:gd name="adj1" fmla="val 5412192"/>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4"/>
          <p:cNvSpPr/>
          <p:nvPr/>
        </p:nvSpPr>
        <p:spPr>
          <a:xfrm>
            <a:off x="8388600" y="2610575"/>
            <a:ext cx="755400" cy="2532900"/>
          </a:xfrm>
          <a:prstGeom prst="round2SameRect">
            <a:avLst>
              <a:gd name="adj1" fmla="val 50000"/>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4"/>
          <p:cNvSpPr/>
          <p:nvPr/>
        </p:nvSpPr>
        <p:spPr>
          <a:xfrm rot="-5400000">
            <a:off x="149825" y="-304750"/>
            <a:ext cx="1126800" cy="11268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4"/>
          <p:cNvSpPr/>
          <p:nvPr/>
        </p:nvSpPr>
        <p:spPr>
          <a:xfrm>
            <a:off x="-1551725" y="386250"/>
            <a:ext cx="2738700" cy="27387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76"/>
        <p:cNvGrpSpPr/>
        <p:nvPr/>
      </p:nvGrpSpPr>
      <p:grpSpPr>
        <a:xfrm>
          <a:off x="0" y="0"/>
          <a:ext cx="0" cy="0"/>
          <a:chOff x="0" y="0"/>
          <a:chExt cx="0" cy="0"/>
        </a:xfrm>
      </p:grpSpPr>
      <p:sp>
        <p:nvSpPr>
          <p:cNvPr id="177" name="Google Shape;177;p25"/>
          <p:cNvSpPr/>
          <p:nvPr/>
        </p:nvSpPr>
        <p:spPr>
          <a:xfrm rot="5400000" flipH="1">
            <a:off x="1049250" y="3473750"/>
            <a:ext cx="616500" cy="27150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p:nvPr/>
        </p:nvSpPr>
        <p:spPr>
          <a:xfrm>
            <a:off x="201725" y="3848275"/>
            <a:ext cx="895200" cy="895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5"/>
          <p:cNvSpPr/>
          <p:nvPr/>
        </p:nvSpPr>
        <p:spPr>
          <a:xfrm>
            <a:off x="713225" y="3587925"/>
            <a:ext cx="409200" cy="409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p:nvPr/>
        </p:nvSpPr>
        <p:spPr>
          <a:xfrm rot="-5400000" flipH="1">
            <a:off x="7478250" y="-1049250"/>
            <a:ext cx="616500" cy="2715000"/>
          </a:xfrm>
          <a:prstGeom prst="round1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5"/>
          <p:cNvSpPr/>
          <p:nvPr/>
        </p:nvSpPr>
        <p:spPr>
          <a:xfrm>
            <a:off x="8194600" y="280950"/>
            <a:ext cx="1418700" cy="141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p:nvPr/>
        </p:nvSpPr>
        <p:spPr>
          <a:xfrm>
            <a:off x="8257550" y="1395950"/>
            <a:ext cx="564600" cy="564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inimalist Geometric Shapes Style Pitch Deck by Slidesgo" type="title">
  <p:cSld name="Minimalist Geometric Shapes Style Pitch Deck by Slidesgo">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35025" y="747412"/>
            <a:ext cx="4273800" cy="2925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000" b="0"/>
            </a:lvl1pPr>
            <a:lvl2pPr lvl="1" algn="ctr">
              <a:spcBef>
                <a:spcPts val="2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extLst>
      <p:ext uri="{BB962C8B-B14F-4D97-AF65-F5344CB8AC3E}">
        <p14:creationId xmlns:p14="http://schemas.microsoft.com/office/powerpoint/2010/main" val="295700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119138"/>
            <a:ext cx="7704000" cy="368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2" name="Google Shape;22;p4"/>
          <p:cNvSpPr/>
          <p:nvPr/>
        </p:nvSpPr>
        <p:spPr>
          <a:xfrm rot="10800000">
            <a:off x="8608500" y="0"/>
            <a:ext cx="535500" cy="18054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a:off x="0" y="2904150"/>
            <a:ext cx="535500" cy="2395500"/>
          </a:xfrm>
          <a:prstGeom prst="round1Rect">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5400000">
            <a:off x="267750" y="4608817"/>
            <a:ext cx="1086300" cy="10863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50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6"/>
          <p:cNvSpPr/>
          <p:nvPr/>
        </p:nvSpPr>
        <p:spPr>
          <a:xfrm rot="2700000">
            <a:off x="8453676" y="465901"/>
            <a:ext cx="1514623" cy="1514199"/>
          </a:xfrm>
          <a:prstGeom prst="roundRect">
            <a:avLst>
              <a:gd name="adj" fmla="val 26624"/>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p:nvPr/>
        </p:nvSpPr>
        <p:spPr>
          <a:xfrm rot="2700000">
            <a:off x="8331073" y="78952"/>
            <a:ext cx="921077" cy="921077"/>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3338100"/>
            <a:ext cx="535500" cy="1805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a:off x="351175" y="4524200"/>
            <a:ext cx="527700" cy="527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rot="5400000">
            <a:off x="143325" y="-212950"/>
            <a:ext cx="689100" cy="1590600"/>
          </a:xfrm>
          <a:prstGeom prst="round2Same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p:nvPr/>
        </p:nvSpPr>
        <p:spPr>
          <a:xfrm>
            <a:off x="1012575" y="174425"/>
            <a:ext cx="270600" cy="270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32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 name="Google Shape;63;p13"/>
          <p:cNvSpPr txBox="1">
            <a:spLocks noGrp="1"/>
          </p:cNvSpPr>
          <p:nvPr>
            <p:ph type="title" idx="2" hasCustomPrompt="1"/>
          </p:nvPr>
        </p:nvSpPr>
        <p:spPr>
          <a:xfrm>
            <a:off x="1676375" y="1126150"/>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3" hasCustomPrompt="1"/>
          </p:nvPr>
        </p:nvSpPr>
        <p:spPr>
          <a:xfrm>
            <a:off x="1676375" y="2931524"/>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title" idx="4" hasCustomPrompt="1"/>
          </p:nvPr>
        </p:nvSpPr>
        <p:spPr>
          <a:xfrm>
            <a:off x="4147050" y="1126150"/>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5" hasCustomPrompt="1"/>
          </p:nvPr>
        </p:nvSpPr>
        <p:spPr>
          <a:xfrm>
            <a:off x="4147050" y="2931525"/>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title" idx="6" hasCustomPrompt="1"/>
          </p:nvPr>
        </p:nvSpPr>
        <p:spPr>
          <a:xfrm>
            <a:off x="6617725" y="1126149"/>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title" idx="7" hasCustomPrompt="1"/>
          </p:nvPr>
        </p:nvSpPr>
        <p:spPr>
          <a:xfrm>
            <a:off x="6617725" y="2931524"/>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subTitle" idx="1"/>
          </p:nvPr>
        </p:nvSpPr>
        <p:spPr>
          <a:xfrm>
            <a:off x="997775"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 name="Google Shape;70;p13"/>
          <p:cNvSpPr txBox="1">
            <a:spLocks noGrp="1"/>
          </p:cNvSpPr>
          <p:nvPr>
            <p:ph type="subTitle" idx="8"/>
          </p:nvPr>
        </p:nvSpPr>
        <p:spPr>
          <a:xfrm>
            <a:off x="3468450"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9"/>
          </p:nvPr>
        </p:nvSpPr>
        <p:spPr>
          <a:xfrm>
            <a:off x="5939125"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2" name="Google Shape;72;p13"/>
          <p:cNvSpPr txBox="1">
            <a:spLocks noGrp="1"/>
          </p:cNvSpPr>
          <p:nvPr>
            <p:ph type="subTitle" idx="13"/>
          </p:nvPr>
        </p:nvSpPr>
        <p:spPr>
          <a:xfrm>
            <a:off x="997775"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13"/>
          <p:cNvSpPr txBox="1">
            <a:spLocks noGrp="1"/>
          </p:cNvSpPr>
          <p:nvPr>
            <p:ph type="subTitle" idx="14"/>
          </p:nvPr>
        </p:nvSpPr>
        <p:spPr>
          <a:xfrm>
            <a:off x="3468450"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4" name="Google Shape;74;p13"/>
          <p:cNvSpPr txBox="1">
            <a:spLocks noGrp="1"/>
          </p:cNvSpPr>
          <p:nvPr>
            <p:ph type="subTitle" idx="15"/>
          </p:nvPr>
        </p:nvSpPr>
        <p:spPr>
          <a:xfrm>
            <a:off x="5939125"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5" name="Google Shape;75;p13"/>
          <p:cNvSpPr/>
          <p:nvPr/>
        </p:nvSpPr>
        <p:spPr>
          <a:xfrm>
            <a:off x="8165725" y="2555025"/>
            <a:ext cx="2454300" cy="2454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8334750" y="4604000"/>
            <a:ext cx="394500" cy="3945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rot="10800000">
            <a:off x="96100" y="-178500"/>
            <a:ext cx="740700" cy="23916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658550" y="145000"/>
            <a:ext cx="447600" cy="447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txBox="1">
            <a:spLocks noGrp="1"/>
          </p:cNvSpPr>
          <p:nvPr>
            <p:ph type="subTitle" idx="16"/>
          </p:nvPr>
        </p:nvSpPr>
        <p:spPr>
          <a:xfrm>
            <a:off x="997775" y="2259225"/>
            <a:ext cx="2207100" cy="539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0" name="Google Shape;80;p13"/>
          <p:cNvSpPr txBox="1">
            <a:spLocks noGrp="1"/>
          </p:cNvSpPr>
          <p:nvPr>
            <p:ph type="subTitle" idx="17"/>
          </p:nvPr>
        </p:nvSpPr>
        <p:spPr>
          <a:xfrm>
            <a:off x="3468450" y="2259225"/>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1" name="Google Shape;81;p13"/>
          <p:cNvSpPr txBox="1">
            <a:spLocks noGrp="1"/>
          </p:cNvSpPr>
          <p:nvPr>
            <p:ph type="subTitle" idx="18"/>
          </p:nvPr>
        </p:nvSpPr>
        <p:spPr>
          <a:xfrm>
            <a:off x="5939125" y="2259225"/>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2" name="Google Shape;82;p13"/>
          <p:cNvSpPr txBox="1">
            <a:spLocks noGrp="1"/>
          </p:cNvSpPr>
          <p:nvPr>
            <p:ph type="subTitle" idx="19"/>
          </p:nvPr>
        </p:nvSpPr>
        <p:spPr>
          <a:xfrm>
            <a:off x="997775"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3" name="Google Shape;83;p13"/>
          <p:cNvSpPr txBox="1">
            <a:spLocks noGrp="1"/>
          </p:cNvSpPr>
          <p:nvPr>
            <p:ph type="subTitle" idx="20"/>
          </p:nvPr>
        </p:nvSpPr>
        <p:spPr>
          <a:xfrm>
            <a:off x="3468450"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 name="Google Shape;84;p13"/>
          <p:cNvSpPr txBox="1">
            <a:spLocks noGrp="1"/>
          </p:cNvSpPr>
          <p:nvPr>
            <p:ph type="subTitle" idx="21"/>
          </p:nvPr>
        </p:nvSpPr>
        <p:spPr>
          <a:xfrm>
            <a:off x="5939125"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000287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p7"/>
          <p:cNvSpPr/>
          <p:nvPr/>
        </p:nvSpPr>
        <p:spPr>
          <a:xfrm>
            <a:off x="7738850" y="2315350"/>
            <a:ext cx="1221600" cy="29955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title"/>
          </p:nvPr>
        </p:nvSpPr>
        <p:spPr>
          <a:xfrm>
            <a:off x="762601" y="1427550"/>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7"/>
          <p:cNvSpPr txBox="1">
            <a:spLocks noGrp="1"/>
          </p:cNvSpPr>
          <p:nvPr>
            <p:ph type="subTitle" idx="1"/>
          </p:nvPr>
        </p:nvSpPr>
        <p:spPr>
          <a:xfrm>
            <a:off x="762601" y="2001450"/>
            <a:ext cx="4294800" cy="171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1600"/>
              </a:spcBef>
              <a:spcAft>
                <a:spcPts val="0"/>
              </a:spcAft>
              <a:buClr>
                <a:srgbClr val="E76A28"/>
              </a:buClr>
              <a:buSzPts val="1200"/>
              <a:buFont typeface="Nunito Light"/>
              <a:buChar char="■"/>
              <a:defRPr/>
            </a:lvl3pPr>
            <a:lvl4pPr lvl="3" algn="ctr" rtl="0">
              <a:lnSpc>
                <a:spcPct val="100000"/>
              </a:lnSpc>
              <a:spcBef>
                <a:spcPts val="1600"/>
              </a:spcBef>
              <a:spcAft>
                <a:spcPts val="0"/>
              </a:spcAft>
              <a:buClr>
                <a:srgbClr val="E76A28"/>
              </a:buClr>
              <a:buSzPts val="12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200"/>
              <a:buFont typeface="Nunito Light"/>
              <a:buChar char="●"/>
              <a:defRPr/>
            </a:lvl7pPr>
            <a:lvl8pPr lvl="7" algn="ctr" rtl="0">
              <a:lnSpc>
                <a:spcPct val="100000"/>
              </a:lnSpc>
              <a:spcBef>
                <a:spcPts val="1600"/>
              </a:spcBef>
              <a:spcAft>
                <a:spcPts val="0"/>
              </a:spcAft>
              <a:buClr>
                <a:srgbClr val="999999"/>
              </a:buClr>
              <a:buSzPts val="12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sp>
        <p:nvSpPr>
          <p:cNvPr id="43" name="Google Shape;43;p7"/>
          <p:cNvSpPr>
            <a:spLocks noGrp="1"/>
          </p:cNvSpPr>
          <p:nvPr>
            <p:ph type="pic" idx="2"/>
          </p:nvPr>
        </p:nvSpPr>
        <p:spPr>
          <a:xfrm>
            <a:off x="5247001" y="1004550"/>
            <a:ext cx="3134400" cy="3134400"/>
          </a:xfrm>
          <a:prstGeom prst="roundRect">
            <a:avLst>
              <a:gd name="adj" fmla="val 16667"/>
            </a:avLst>
          </a:prstGeom>
          <a:noFill/>
          <a:ln>
            <a:noFill/>
          </a:ln>
        </p:spPr>
      </p:sp>
      <p:sp>
        <p:nvSpPr>
          <p:cNvPr id="44" name="Google Shape;44;p7"/>
          <p:cNvSpPr/>
          <p:nvPr/>
        </p:nvSpPr>
        <p:spPr>
          <a:xfrm rot="2700000">
            <a:off x="207927" y="-321867"/>
            <a:ext cx="1212547" cy="1212335"/>
          </a:xfrm>
          <a:prstGeom prst="roundRect">
            <a:avLst>
              <a:gd name="adj" fmla="val 2662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rot="2700000">
            <a:off x="1090784" y="-84895"/>
            <a:ext cx="737371" cy="737371"/>
          </a:xfrm>
          <a:prstGeom prst="roundRect">
            <a:avLst>
              <a:gd name="adj" fmla="val 2662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5678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191625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51"/>
        <p:cNvGrpSpPr/>
        <p:nvPr/>
      </p:nvGrpSpPr>
      <p:grpSpPr>
        <a:xfrm>
          <a:off x="0" y="0"/>
          <a:ext cx="0" cy="0"/>
          <a:chOff x="0" y="0"/>
          <a:chExt cx="0" cy="0"/>
        </a:xfrm>
      </p:grpSpPr>
      <p:sp>
        <p:nvSpPr>
          <p:cNvPr id="152" name="Google Shape;15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3" name="Google Shape;153;p21"/>
          <p:cNvSpPr/>
          <p:nvPr/>
        </p:nvSpPr>
        <p:spPr>
          <a:xfrm>
            <a:off x="8425975" y="3308650"/>
            <a:ext cx="5439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a:off x="8697225" y="3126350"/>
            <a:ext cx="341100" cy="341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rot="10800000">
            <a:off x="-27575" y="0"/>
            <a:ext cx="543900" cy="18522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rot="-5400000">
            <a:off x="50525" y="-542925"/>
            <a:ext cx="1325400" cy="13254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4933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 name="Google Shape;87;p14"/>
          <p:cNvSpPr txBox="1">
            <a:spLocks noGrp="1"/>
          </p:cNvSpPr>
          <p:nvPr>
            <p:ph type="body" idx="1"/>
          </p:nvPr>
        </p:nvSpPr>
        <p:spPr>
          <a:xfrm>
            <a:off x="720000" y="1119199"/>
            <a:ext cx="7704000" cy="2337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88" name="Google Shape;88;p14"/>
          <p:cNvSpPr/>
          <p:nvPr/>
        </p:nvSpPr>
        <p:spPr>
          <a:xfrm rot="10800000">
            <a:off x="8608500" y="0"/>
            <a:ext cx="535500" cy="1805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0" y="2904150"/>
            <a:ext cx="535500" cy="2395500"/>
          </a:xfrm>
          <a:prstGeom prst="round1Rect">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5400000">
            <a:off x="269925" y="4401450"/>
            <a:ext cx="1086300" cy="10863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57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23"/>
          <p:cNvSpPr txBox="1">
            <a:spLocks noGrp="1"/>
          </p:cNvSpPr>
          <p:nvPr>
            <p:ph type="subTitle" idx="1"/>
          </p:nvPr>
        </p:nvSpPr>
        <p:spPr>
          <a:xfrm>
            <a:off x="1206750" y="2652000"/>
            <a:ext cx="4209900" cy="9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6" name="Google Shape;166;p23"/>
          <p:cNvSpPr/>
          <p:nvPr/>
        </p:nvSpPr>
        <p:spPr>
          <a:xfrm>
            <a:off x="345625" y="4354125"/>
            <a:ext cx="713100" cy="713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3"/>
          <p:cNvSpPr/>
          <p:nvPr/>
        </p:nvSpPr>
        <p:spPr>
          <a:xfrm>
            <a:off x="8204425" y="3329950"/>
            <a:ext cx="7554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a:off x="7836850" y="4473975"/>
            <a:ext cx="543600" cy="5436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2700000">
            <a:off x="-612875" y="3395628"/>
            <a:ext cx="1384798" cy="1384798"/>
          </a:xfrm>
          <a:prstGeom prst="roundRect">
            <a:avLst>
              <a:gd name="adj" fmla="val 2662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0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1pPr>
            <a:lvl2pPr lvl="1"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2pPr>
            <a:lvl3pPr lvl="2"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3pPr>
            <a:lvl4pPr lvl="3"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4pPr>
            <a:lvl5pPr lvl="4"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5pPr>
            <a:lvl6pPr lvl="5"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6pPr>
            <a:lvl7pPr lvl="6"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7pPr>
            <a:lvl8pPr lvl="7"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8pPr>
            <a:lvl9pPr lvl="8"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1pPr>
            <a:lvl2pPr marL="914400" lvl="1"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2pPr>
            <a:lvl3pPr marL="1371600" lvl="2"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3pPr>
            <a:lvl4pPr marL="1828800" lvl="3"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4pPr>
            <a:lvl5pPr marL="2286000" lvl="4"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5pPr>
            <a:lvl6pPr marL="2743200" lvl="5"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6pPr>
            <a:lvl7pPr marL="3200400" lvl="6"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7pPr>
            <a:lvl8pPr marL="3657600" lvl="7"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8pPr>
            <a:lvl9pPr marL="4114800" lvl="8" indent="-304800">
              <a:lnSpc>
                <a:spcPct val="100000"/>
              </a:lnSpc>
              <a:spcBef>
                <a:spcPts val="1600"/>
              </a:spcBef>
              <a:spcAft>
                <a:spcPts val="160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70" r:id="rId3"/>
    <p:sldLayoutId id="2147483671"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www.videvo.net/?utm_source=slidesgo_template&amp;utm_medium=referral-link&amp;utm_campaign=sg_resources&amp;utm_content=videvo" TargetMode="External"/><Relationship Id="rId5" Type="http://schemas.openxmlformats.org/officeDocument/2006/relationships/hyperlink" Target="https://wepik.com/?utm_source=slidesgo_template&amp;utm_medium=referral-link&amp;utm_campaign=promo-slide&amp;utm_term=slidesgo&amp;utm_content=wepik" TargetMode="External"/><Relationship Id="rId4"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10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2.png"/><Relationship Id="rId4" Type="http://schemas.openxmlformats.org/officeDocument/2006/relationships/image" Target="../media/image90.png"/><Relationship Id="rId9" Type="http://schemas.openxmlformats.org/officeDocument/2006/relationships/customXml" Target="../ink/ink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docs.google.com/spreadsheets/d/1gmogyvBCjN4okJeHTOFxEkZkjn4_fwii_s-a1TS8rDU/copy#gid=0"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ctrTitle"/>
          </p:nvPr>
        </p:nvSpPr>
        <p:spPr>
          <a:xfrm>
            <a:off x="2435025" y="747412"/>
            <a:ext cx="4273800" cy="2925300"/>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fr-FR" sz="3600" i="0" dirty="0"/>
              <a:t>Concevez une application au service de la santé publique</a:t>
            </a:r>
            <a:endParaRPr sz="3600" dirty="0"/>
          </a:p>
        </p:txBody>
      </p:sp>
      <p:sp>
        <p:nvSpPr>
          <p:cNvPr id="194" name="Google Shape;194;p29"/>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p>
            <a:r>
              <a:rPr lang="fr-FR" dirty="0">
                <a:solidFill>
                  <a:schemeClr val="tx1">
                    <a:lumMod val="50000"/>
                    <a:lumOff val="50000"/>
                  </a:schemeClr>
                </a:solidFill>
              </a:rPr>
              <a:t>Laure </a:t>
            </a:r>
            <a:r>
              <a:rPr lang="fr-FR" dirty="0" err="1">
                <a:solidFill>
                  <a:schemeClr val="tx1">
                    <a:lumMod val="50000"/>
                    <a:lumOff val="50000"/>
                  </a:schemeClr>
                </a:solidFill>
              </a:rPr>
              <a:t>Agrech</a:t>
            </a:r>
            <a:r>
              <a:rPr lang="fr-FR" dirty="0">
                <a:solidFill>
                  <a:schemeClr val="tx1">
                    <a:lumMod val="50000"/>
                    <a:lumOff val="50000"/>
                  </a:schemeClr>
                </a:solidFill>
              </a:rPr>
              <a:t> P3</a:t>
            </a:r>
          </a:p>
        </p:txBody>
      </p:sp>
      <p:sp>
        <p:nvSpPr>
          <p:cNvPr id="195" name="Google Shape;195;p29"/>
          <p:cNvSpPr/>
          <p:nvPr/>
        </p:nvSpPr>
        <p:spPr>
          <a:xfrm>
            <a:off x="3767694" y="3794250"/>
            <a:ext cx="16086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584875" y="2841075"/>
            <a:ext cx="1327800" cy="23916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a:off x="584875" y="2710400"/>
            <a:ext cx="475800" cy="475800"/>
          </a:xfrm>
          <a:prstGeom prst="ellipse">
            <a:avLst/>
          </a:pr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a:off x="7786975" y="314675"/>
            <a:ext cx="2130900" cy="2130900"/>
          </a:xfrm>
          <a:prstGeom prst="ellipse">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rot="-5400000">
            <a:off x="7032742" y="-76500"/>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err="1"/>
              <a:t>Nettoyage</a:t>
            </a:r>
            <a:r>
              <a:rPr lang="en" dirty="0"/>
              <a:t> de </a:t>
            </a:r>
            <a:r>
              <a:rPr lang="en" dirty="0" err="1"/>
              <a:t>données</a:t>
            </a:r>
            <a:endParaRPr dirty="0"/>
          </a:p>
        </p:txBody>
      </p:sp>
      <p:sp>
        <p:nvSpPr>
          <p:cNvPr id="205" name="Google Shape;205;p30"/>
          <p:cNvSpPr txBox="1">
            <a:spLocks noGrp="1"/>
          </p:cNvSpPr>
          <p:nvPr>
            <p:ph type="body" idx="1"/>
          </p:nvPr>
        </p:nvSpPr>
        <p:spPr>
          <a:xfrm>
            <a:off x="720000" y="1119138"/>
            <a:ext cx="7704000" cy="36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Notebook </a:t>
            </a:r>
            <a:r>
              <a:rPr lang="en" dirty="0" err="1"/>
              <a:t>nettoyage</a:t>
            </a:r>
            <a:r>
              <a:rPr lang="en" dirty="0"/>
              <a:t> :</a:t>
            </a:r>
          </a:p>
        </p:txBody>
      </p:sp>
      <p:graphicFrame>
        <p:nvGraphicFramePr>
          <p:cNvPr id="206" name="Google Shape;206;p30"/>
          <p:cNvGraphicFramePr/>
          <p:nvPr/>
        </p:nvGraphicFramePr>
        <p:xfrm>
          <a:off x="779600" y="1589251"/>
          <a:ext cx="7704000" cy="3062562"/>
        </p:xfrm>
        <a:graphic>
          <a:graphicData uri="http://schemas.openxmlformats.org/drawingml/2006/table">
            <a:tbl>
              <a:tblPr>
                <a:noFill/>
                <a:tableStyleId>{A0E1990F-7493-410F-B343-7341C0AC1395}</a:tableStyleId>
              </a:tblPr>
              <a:tblGrid>
                <a:gridCol w="2734425">
                  <a:extLst>
                    <a:ext uri="{9D8B030D-6E8A-4147-A177-3AD203B41FA5}">
                      <a16:colId xmlns:a16="http://schemas.microsoft.com/office/drawing/2014/main" val="20000"/>
                    </a:ext>
                  </a:extLst>
                </a:gridCol>
                <a:gridCol w="4969575">
                  <a:extLst>
                    <a:ext uri="{9D8B030D-6E8A-4147-A177-3AD203B41FA5}">
                      <a16:colId xmlns:a16="http://schemas.microsoft.com/office/drawing/2014/main" val="20001"/>
                    </a:ext>
                  </a:extLst>
                </a:gridCol>
              </a:tblGrid>
              <a:tr h="53848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u="none" strike="noStrike" cap="none" dirty="0">
                          <a:solidFill>
                            <a:schemeClr val="lt1"/>
                          </a:solidFill>
                          <a:uFill>
                            <a:noFill/>
                          </a:uFill>
                          <a:latin typeface="Poppins Medium"/>
                          <a:cs typeface="Poppins Medium"/>
                          <a:sym typeface="Arial"/>
                        </a:rPr>
                        <a:t>Contexte et idée d’application</a:t>
                      </a:r>
                    </a:p>
                    <a:p>
                      <a:pPr marL="0" lvl="0" indent="0" algn="l" rtl="0">
                        <a:spcBef>
                          <a:spcPts val="0"/>
                        </a:spcBef>
                        <a:spcAft>
                          <a:spcPts val="0"/>
                        </a:spcAft>
                        <a:buNone/>
                      </a:pPr>
                      <a:endParaRPr sz="1200" b="0" i="0" u="none" strike="noStrike" cap="none" dirty="0">
                        <a:solidFill>
                          <a:schemeClr val="lt1"/>
                        </a:solidFill>
                        <a:uFill>
                          <a:noFill/>
                        </a:u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r>
                        <a:rPr lang="fr-FR" sz="1000" b="0" i="0" u="none" strike="noStrike" cap="none" dirty="0">
                          <a:solidFill>
                            <a:schemeClr val="dk1"/>
                          </a:solidFill>
                          <a:latin typeface="Quicksand Medium"/>
                          <a:ea typeface="Arial"/>
                          <a:cs typeface="Arial"/>
                          <a:sym typeface="Arial"/>
                        </a:rPr>
                        <a:t>Contexte, réflexion sur le choix et l’ idée d’application</a:t>
                      </a: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90475">
                <a:tc>
                  <a:txBody>
                    <a:bodyPr/>
                    <a:lstStyle/>
                    <a:p>
                      <a:pPr marL="0" lvl="0" indent="0" algn="l" rtl="0">
                        <a:spcBef>
                          <a:spcPts val="0"/>
                        </a:spcBef>
                        <a:spcAft>
                          <a:spcPts val="0"/>
                        </a:spcAft>
                        <a:buNone/>
                      </a:pPr>
                      <a:r>
                        <a:rPr lang="fr-FR" sz="1200" b="0" i="0" u="none" strike="noStrike" cap="none" dirty="0">
                          <a:solidFill>
                            <a:schemeClr val="lt1"/>
                          </a:solidFill>
                          <a:uFill>
                            <a:noFill/>
                          </a:uFill>
                          <a:latin typeface="Poppins Medium"/>
                          <a:ea typeface="Poppins Medium"/>
                          <a:cs typeface="Poppins Medium"/>
                          <a:sym typeface="Poppins Medium"/>
                        </a:rPr>
                        <a:t>Collecte, filtre sur les données pertinentes</a:t>
                      </a: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a:solidFill>
                            <a:schemeClr val="dk1"/>
                          </a:solidFill>
                          <a:latin typeface="Quicksand Medium"/>
                          <a:ea typeface="Arial"/>
                          <a:cs typeface="Arial"/>
                          <a:sym typeface="Arial"/>
                        </a:rPr>
                        <a:t>Filtrer </a:t>
                      </a:r>
                      <a:r>
                        <a:rPr lang="fr-FR" sz="1000" b="0" i="0" u="none" strike="noStrike" cap="none" dirty="0" err="1">
                          <a:solidFill>
                            <a:schemeClr val="dk1"/>
                          </a:solidFill>
                          <a:latin typeface="Quicksand Medium"/>
                          <a:ea typeface="Arial"/>
                          <a:cs typeface="Arial"/>
                          <a:sym typeface="Arial"/>
                        </a:rPr>
                        <a:t>dataset</a:t>
                      </a:r>
                      <a:r>
                        <a:rPr lang="fr-FR" sz="1000" b="0" i="0" u="none" strike="noStrike" cap="none" dirty="0">
                          <a:solidFill>
                            <a:schemeClr val="dk1"/>
                          </a:solidFill>
                          <a:latin typeface="Quicksand Medium"/>
                          <a:ea typeface="Arial"/>
                          <a:cs typeface="Arial"/>
                          <a:sym typeface="Arial"/>
                        </a:rPr>
                        <a:t> volumineux, Collectez des données pertinentes et de qualité l’analyse. S’assurer que les données sont complètes, nettoyées et formatées de manière appropriée.(</a:t>
                      </a:r>
                      <a:r>
                        <a:rPr lang="fr-FR" sz="1000" b="0" i="0" u="none" strike="noStrike" cap="none" dirty="0" err="1">
                          <a:solidFill>
                            <a:schemeClr val="dk1"/>
                          </a:solidFill>
                          <a:latin typeface="Quicksand Medium"/>
                          <a:ea typeface="Arial"/>
                          <a:cs typeface="Arial"/>
                          <a:sym typeface="Arial"/>
                        </a:rPr>
                        <a:t>dataset</a:t>
                      </a:r>
                      <a:r>
                        <a:rPr lang="fr-FR" sz="1000" b="0" i="0" u="none" strike="noStrike" cap="none" dirty="0">
                          <a:solidFill>
                            <a:schemeClr val="dk1"/>
                          </a:solidFill>
                          <a:latin typeface="Quicksand Medium"/>
                          <a:ea typeface="Arial"/>
                          <a:cs typeface="Arial"/>
                          <a:sym typeface="Arial"/>
                        </a:rPr>
                        <a:t> très large)</a:t>
                      </a: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90475">
                <a:tc>
                  <a:txBody>
                    <a:bodyPr/>
                    <a:lstStyle/>
                    <a:p>
                      <a:pPr marL="0" lvl="0" indent="0" algn="l" rtl="0">
                        <a:spcBef>
                          <a:spcPts val="0"/>
                        </a:spcBef>
                        <a:spcAft>
                          <a:spcPts val="0"/>
                        </a:spcAft>
                        <a:buNone/>
                      </a:pPr>
                      <a:r>
                        <a:rPr lang="en" sz="1200" dirty="0" err="1">
                          <a:solidFill>
                            <a:schemeClr val="lt1"/>
                          </a:solidFill>
                          <a:uFill>
                            <a:noFill/>
                          </a:uFill>
                          <a:latin typeface="Poppins Medium"/>
                          <a:ea typeface="Poppins Medium"/>
                          <a:cs typeface="Poppins Medium"/>
                          <a:sym typeface="Poppins Medium"/>
                        </a:rPr>
                        <a:t>Traitement</a:t>
                      </a:r>
                      <a:r>
                        <a:rPr lang="en" sz="1200" dirty="0">
                          <a:solidFill>
                            <a:schemeClr val="lt1"/>
                          </a:solidFill>
                          <a:uFill>
                            <a:noFill/>
                          </a:uFill>
                          <a:latin typeface="Poppins Medium"/>
                          <a:ea typeface="Poppins Medium"/>
                          <a:cs typeface="Poppins Medium"/>
                          <a:sym typeface="Poppins Medium"/>
                        </a:rPr>
                        <a:t> des </a:t>
                      </a:r>
                      <a:r>
                        <a:rPr lang="en" sz="1200" dirty="0" err="1">
                          <a:solidFill>
                            <a:schemeClr val="lt1"/>
                          </a:solidFill>
                          <a:uFill>
                            <a:noFill/>
                          </a:uFill>
                          <a:latin typeface="Poppins Medium"/>
                          <a:ea typeface="Poppins Medium"/>
                          <a:cs typeface="Poppins Medium"/>
                          <a:sym typeface="Poppins Medium"/>
                        </a:rPr>
                        <a:t>valeurs</a:t>
                      </a:r>
                      <a:r>
                        <a:rPr lang="en" sz="1200" dirty="0">
                          <a:solidFill>
                            <a:schemeClr val="lt1"/>
                          </a:solidFill>
                          <a:uFill>
                            <a:noFill/>
                          </a:uFill>
                          <a:latin typeface="Poppins Medium"/>
                          <a:ea typeface="Poppins Medium"/>
                          <a:cs typeface="Poppins Medium"/>
                          <a:sym typeface="Poppins Medium"/>
                        </a:rPr>
                        <a:t> </a:t>
                      </a:r>
                      <a:r>
                        <a:rPr lang="en" sz="1200" dirty="0" err="1">
                          <a:solidFill>
                            <a:schemeClr val="lt1"/>
                          </a:solidFill>
                          <a:uFill>
                            <a:noFill/>
                          </a:uFill>
                          <a:latin typeface="Poppins Medium"/>
                          <a:ea typeface="Poppins Medium"/>
                          <a:cs typeface="Poppins Medium"/>
                          <a:sym typeface="Poppins Medium"/>
                        </a:rPr>
                        <a:t>aberrantes</a:t>
                      </a:r>
                      <a:endParaRPr sz="1200" dirty="0">
                        <a:solidFill>
                          <a:schemeClr val="lt1"/>
                        </a:solid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r>
                        <a:rPr lang="fr-FR" sz="1000" b="0" i="0" u="none" strike="noStrike" cap="none" dirty="0">
                          <a:solidFill>
                            <a:schemeClr val="dk1"/>
                          </a:solidFill>
                          <a:latin typeface="Quicksand Medium"/>
                          <a:ea typeface="Arial"/>
                          <a:cs typeface="Arial"/>
                          <a:sym typeface="Arial"/>
                        </a:rPr>
                        <a:t>Méthodes pour identifier des valeurs aberrantes en fonction des </a:t>
                      </a:r>
                      <a:r>
                        <a:rPr lang="fr-FR" sz="1000" b="0" i="0" u="none" strike="noStrike" cap="none" dirty="0" err="1">
                          <a:solidFill>
                            <a:schemeClr val="dk1"/>
                          </a:solidFill>
                          <a:latin typeface="Quicksand Medium"/>
                          <a:ea typeface="Arial"/>
                          <a:cs typeface="Arial"/>
                          <a:sym typeface="Arial"/>
                        </a:rPr>
                        <a:t>caractéristques</a:t>
                      </a:r>
                      <a:r>
                        <a:rPr lang="fr-FR" sz="1000" b="0" i="0" u="none" strike="noStrike" cap="none" dirty="0">
                          <a:solidFill>
                            <a:schemeClr val="dk1"/>
                          </a:solidFill>
                          <a:latin typeface="Quicksand Medium"/>
                          <a:ea typeface="Arial"/>
                          <a:cs typeface="Arial"/>
                          <a:sym typeface="Arial"/>
                        </a:rPr>
                        <a:t> des différents nutriments</a:t>
                      </a:r>
                    </a:p>
                    <a:p>
                      <a:r>
                        <a:rPr lang="fr-FR" sz="1000" b="0" i="0" u="none" strike="noStrike" cap="none" dirty="0">
                          <a:solidFill>
                            <a:schemeClr val="dk1"/>
                          </a:solidFill>
                          <a:latin typeface="Quicksand Medium"/>
                          <a:ea typeface="Arial"/>
                          <a:cs typeface="Arial"/>
                          <a:sym typeface="Arial"/>
                        </a:rPr>
                        <a:t>(</a:t>
                      </a:r>
                      <a:r>
                        <a:rPr lang="fr-FR" sz="1000" b="0" i="0" u="none" strike="noStrike" cap="none" dirty="0" err="1">
                          <a:solidFill>
                            <a:schemeClr val="dk1"/>
                          </a:solidFill>
                          <a:latin typeface="Quicksand Medium"/>
                          <a:ea typeface="Arial"/>
                          <a:cs typeface="Arial"/>
                          <a:sym typeface="Arial"/>
                        </a:rPr>
                        <a:t>boxplot</a:t>
                      </a:r>
                      <a:r>
                        <a:rPr lang="fr-FR" sz="1000" b="0" i="0" u="none" strike="noStrike" cap="none" dirty="0">
                          <a:solidFill>
                            <a:schemeClr val="dk1"/>
                          </a:solidFill>
                          <a:latin typeface="Quicksand Medium"/>
                          <a:ea typeface="Arial"/>
                          <a:cs typeface="Arial"/>
                          <a:sym typeface="Arial"/>
                        </a:rPr>
                        <a:t>)</a:t>
                      </a: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90475">
                <a:tc>
                  <a:txBody>
                    <a:bodyPr/>
                    <a:lstStyle/>
                    <a:p>
                      <a:pPr marL="0" lvl="0" indent="0" algn="l" rtl="0">
                        <a:spcBef>
                          <a:spcPts val="0"/>
                        </a:spcBef>
                        <a:spcAft>
                          <a:spcPts val="0"/>
                        </a:spcAft>
                        <a:buNone/>
                      </a:pPr>
                      <a:r>
                        <a:rPr lang="fr-FR" sz="1200" dirty="0">
                          <a:solidFill>
                            <a:schemeClr val="lt1"/>
                          </a:solidFill>
                          <a:uFill>
                            <a:noFill/>
                          </a:uFill>
                          <a:latin typeface="Poppins Medium"/>
                          <a:ea typeface="Poppins Medium"/>
                          <a:cs typeface="Poppins Medium"/>
                          <a:sym typeface="Poppins Medium"/>
                        </a:rPr>
                        <a:t>Traitement des valeurs manquantes</a:t>
                      </a:r>
                      <a:br>
                        <a:rPr lang="fr-FR" sz="1200" dirty="0">
                          <a:solidFill>
                            <a:schemeClr val="lt1"/>
                          </a:solidFill>
                          <a:uFill>
                            <a:noFill/>
                          </a:uFill>
                          <a:latin typeface="Poppins Medium"/>
                          <a:ea typeface="Poppins Medium"/>
                          <a:cs typeface="Poppins Medium"/>
                          <a:sym typeface="Poppins Medium"/>
                        </a:rPr>
                      </a:br>
                      <a:r>
                        <a:rPr lang="fr-FR" sz="1200" dirty="0">
                          <a:solidFill>
                            <a:schemeClr val="lt1"/>
                          </a:solidFill>
                          <a:uFill>
                            <a:noFill/>
                          </a:uFill>
                          <a:latin typeface="Poppins Medium"/>
                          <a:ea typeface="Poppins Medium"/>
                          <a:cs typeface="Poppins Medium"/>
                          <a:sym typeface="Poppins Medium"/>
                        </a:rPr>
                        <a:t>Méthodes imputations données :</a:t>
                      </a:r>
                      <a:endParaRPr lang="fr-FR" sz="1200" dirty="0">
                        <a:solidFill>
                          <a:schemeClr val="lt1"/>
                        </a:solid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rgbClr val="53CFA2"/>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000" dirty="0">
                          <a:solidFill>
                            <a:schemeClr val="dk1"/>
                          </a:solidFill>
                          <a:latin typeface="Quicksand Medium"/>
                          <a:ea typeface="Quicksand Medium"/>
                          <a:cs typeface="Quicksand Medium"/>
                          <a:sym typeface="Quicksand Medium"/>
                        </a:rPr>
                        <a:t>Estimer les valeurs manquantes:</a:t>
                      </a:r>
                    </a:p>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000" dirty="0">
                          <a:solidFill>
                            <a:schemeClr val="dk1"/>
                          </a:solidFill>
                          <a:latin typeface="Quicksand Medium"/>
                          <a:ea typeface="Quicksand Medium"/>
                          <a:cs typeface="Quicksand Medium"/>
                          <a:sym typeface="Quicksand Medium"/>
                        </a:rPr>
                        <a:t>KNN </a:t>
                      </a:r>
                      <a:r>
                        <a:rPr lang="fr-FR" sz="1000" dirty="0" err="1">
                          <a:solidFill>
                            <a:schemeClr val="dk1"/>
                          </a:solidFill>
                          <a:latin typeface="Quicksand Medium"/>
                          <a:ea typeface="Quicksand Medium"/>
                          <a:cs typeface="Quicksand Medium"/>
                          <a:sym typeface="Quicksand Medium"/>
                        </a:rPr>
                        <a:t>regressor</a:t>
                      </a:r>
                      <a:r>
                        <a:rPr lang="fr-FR" sz="1000" dirty="0">
                          <a:solidFill>
                            <a:schemeClr val="dk1"/>
                          </a:solidFill>
                          <a:latin typeface="Quicksand Medium"/>
                          <a:ea typeface="Quicksand Medium"/>
                          <a:cs typeface="Quicksand Medium"/>
                          <a:sym typeface="Quicksand Medium"/>
                        </a:rPr>
                        <a:t> avec interprétation</a:t>
                      </a:r>
                    </a:p>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000" dirty="0">
                          <a:solidFill>
                            <a:schemeClr val="dk1"/>
                          </a:solidFill>
                          <a:latin typeface="Quicksand Medium"/>
                          <a:ea typeface="Quicksand Medium"/>
                          <a:cs typeface="Quicksand Medium"/>
                          <a:sym typeface="Quicksand Medium"/>
                        </a:rPr>
                        <a:t>KNN classifier</a:t>
                      </a:r>
                    </a:p>
                    <a:p>
                      <a:pPr marL="0" lvl="0" indent="0" algn="l" rtl="0">
                        <a:spcBef>
                          <a:spcPts val="0"/>
                        </a:spcBef>
                        <a:spcAft>
                          <a:spcPts val="1600"/>
                        </a:spcAft>
                        <a:buNone/>
                      </a:pPr>
                      <a:endParaRPr lang="fr-FR" sz="1000" dirty="0">
                        <a:solidFill>
                          <a:schemeClr val="dk1"/>
                        </a:solidFill>
                        <a:latin typeface="Quicksand Medium"/>
                        <a:ea typeface="Quicksand Medium"/>
                        <a:cs typeface="Quicksand Medium"/>
                        <a:sym typeface="Quicksand Medium"/>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904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dirty="0">
                          <a:solidFill>
                            <a:schemeClr val="lt1"/>
                          </a:solidFill>
                          <a:latin typeface="Poppins Medium"/>
                          <a:ea typeface="Poppins Medium"/>
                          <a:cs typeface="Poppins Medium"/>
                          <a:sym typeface="Poppins Medium"/>
                        </a:rPr>
                        <a:t>Choix de la méthode d’imputation optimale</a:t>
                      </a:r>
                    </a:p>
                  </a:txBody>
                  <a:tcPr marL="91425" marR="91425" marT="0" marB="0" anchor="ctr">
                    <a:lnL w="19050" cap="flat" cmpd="sng">
                      <a:solidFill>
                        <a:schemeClr val="dk2"/>
                      </a:solidFill>
                      <a:prstDash val="solid"/>
                      <a:round/>
                      <a:headEnd type="none" w="sm" len="sm"/>
                      <a:tailEnd type="none" w="sm" len="sm"/>
                    </a:lnL>
                    <a:lnR w="19050" cap="flat" cmpd="sng" algn="ctr">
                      <a:solidFill>
                        <a:schemeClr val="lt2"/>
                      </a:solidFill>
                      <a:prstDash val="solid"/>
                      <a:round/>
                      <a:headEnd type="none" w="sm" len="sm"/>
                      <a:tailEnd type="none" w="sm" len="sm"/>
                    </a:lnR>
                    <a:lnT w="19050" cap="flat" cmpd="sng" algn="ctr">
                      <a:solidFill>
                        <a:schemeClr val="lt1"/>
                      </a:solidFill>
                      <a:prstDash val="solid"/>
                      <a:round/>
                      <a:headEnd type="none" w="sm" len="sm"/>
                      <a:tailEnd type="none" w="sm" len="sm"/>
                    </a:lnT>
                    <a:lnB w="19050" cap="flat" cmpd="sng">
                      <a:solidFill>
                        <a:schemeClr val="dk2"/>
                      </a:solidFill>
                      <a:prstDash val="solid"/>
                      <a:round/>
                      <a:headEnd type="none" w="sm" len="sm"/>
                      <a:tailEnd type="none" w="sm" len="sm"/>
                    </a:lnB>
                    <a:solidFill>
                      <a:srgbClr val="53CFA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dirty="0">
                          <a:solidFill>
                            <a:schemeClr val="dk1"/>
                          </a:solidFill>
                          <a:latin typeface="Quicksand Medium"/>
                          <a:ea typeface="Quicksand Medium"/>
                          <a:cs typeface="Quicksand Medium"/>
                          <a:sym typeface="Quicksand Medium"/>
                        </a:rPr>
                        <a:t>KNN imputer</a:t>
                      </a:r>
                    </a:p>
                  </a:txBody>
                  <a:tcPr marL="91425" marR="91425" marT="0" marB="0" anchor="ctr">
                    <a:lnL w="19050" cap="flat" cmpd="sng" algn="ctr">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lgn="ctr">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3802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err="1"/>
              <a:t>Analyse</a:t>
            </a:r>
            <a:r>
              <a:rPr lang="en" dirty="0"/>
              <a:t> </a:t>
            </a:r>
            <a:r>
              <a:rPr lang="en" dirty="0" err="1"/>
              <a:t>exploratoire</a:t>
            </a:r>
            <a:endParaRPr dirty="0"/>
          </a:p>
        </p:txBody>
      </p:sp>
      <p:sp>
        <p:nvSpPr>
          <p:cNvPr id="205" name="Google Shape;205;p30"/>
          <p:cNvSpPr txBox="1">
            <a:spLocks noGrp="1"/>
          </p:cNvSpPr>
          <p:nvPr>
            <p:ph type="body" idx="1"/>
          </p:nvPr>
        </p:nvSpPr>
        <p:spPr>
          <a:xfrm>
            <a:off x="720000" y="1119138"/>
            <a:ext cx="7704000" cy="36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Notebook </a:t>
            </a:r>
            <a:r>
              <a:rPr lang="en" dirty="0" err="1"/>
              <a:t>exploratoire</a:t>
            </a:r>
            <a:r>
              <a:rPr lang="en" dirty="0"/>
              <a:t>:</a:t>
            </a:r>
            <a:endParaRPr dirty="0"/>
          </a:p>
        </p:txBody>
      </p:sp>
      <p:graphicFrame>
        <p:nvGraphicFramePr>
          <p:cNvPr id="206" name="Google Shape;206;p30"/>
          <p:cNvGraphicFramePr/>
          <p:nvPr/>
        </p:nvGraphicFramePr>
        <p:xfrm>
          <a:off x="720000" y="1487838"/>
          <a:ext cx="7704000" cy="2342850"/>
        </p:xfrm>
        <a:graphic>
          <a:graphicData uri="http://schemas.openxmlformats.org/drawingml/2006/table">
            <a:tbl>
              <a:tblPr>
                <a:noFill/>
                <a:tableStyleId>{A0E1990F-7493-410F-B343-7341C0AC1395}</a:tableStyleId>
              </a:tblPr>
              <a:tblGrid>
                <a:gridCol w="2734425">
                  <a:extLst>
                    <a:ext uri="{9D8B030D-6E8A-4147-A177-3AD203B41FA5}">
                      <a16:colId xmlns:a16="http://schemas.microsoft.com/office/drawing/2014/main" val="20000"/>
                    </a:ext>
                  </a:extLst>
                </a:gridCol>
                <a:gridCol w="4969575">
                  <a:extLst>
                    <a:ext uri="{9D8B030D-6E8A-4147-A177-3AD203B41FA5}">
                      <a16:colId xmlns:a16="http://schemas.microsoft.com/office/drawing/2014/main" val="20001"/>
                    </a:ext>
                  </a:extLst>
                </a:gridCol>
              </a:tblGrid>
              <a:tr h="3904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dirty="0">
                          <a:solidFill>
                            <a:schemeClr val="lt1"/>
                          </a:solidFill>
                          <a:uFill>
                            <a:noFill/>
                          </a:uFill>
                          <a:latin typeface="Poppins Medium"/>
                          <a:ea typeface="Poppins Medium"/>
                          <a:cs typeface="Poppins Medium"/>
                          <a:sym typeface="Poppins Medium"/>
                        </a:rPr>
                        <a:t>Analyse univariée, bivariée</a:t>
                      </a:r>
                      <a:endParaRPr lang="fr-FR" sz="1200" dirty="0">
                        <a:solidFill>
                          <a:schemeClr val="lt1"/>
                        </a:solid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000" b="0" i="0" u="none" strike="noStrike" cap="none" dirty="0" err="1">
                          <a:solidFill>
                            <a:schemeClr val="dk1"/>
                          </a:solidFill>
                          <a:latin typeface="Quicksand Medium"/>
                          <a:ea typeface="Arial"/>
                          <a:cs typeface="Arial"/>
                          <a:sym typeface="Arial"/>
                        </a:rPr>
                        <a:t>Boxplot</a:t>
                      </a:r>
                      <a:r>
                        <a:rPr lang="fr-FR" sz="1000" b="0" i="0" u="none" strike="noStrike" cap="none" dirty="0">
                          <a:solidFill>
                            <a:schemeClr val="dk1"/>
                          </a:solidFill>
                          <a:latin typeface="Quicksand Medium"/>
                          <a:ea typeface="Arial"/>
                          <a:cs typeface="Arial"/>
                          <a:sym typeface="Arial"/>
                        </a:rPr>
                        <a:t>, </a:t>
                      </a:r>
                      <a:r>
                        <a:rPr lang="fr-FR" sz="1000" b="0" i="0" u="none" strike="noStrike" cap="none" dirty="0" err="1">
                          <a:solidFill>
                            <a:schemeClr val="dk1"/>
                          </a:solidFill>
                          <a:latin typeface="Quicksand Medium"/>
                          <a:ea typeface="Arial"/>
                          <a:cs typeface="Arial"/>
                          <a:sym typeface="Arial"/>
                        </a:rPr>
                        <a:t>barplot</a:t>
                      </a:r>
                      <a:r>
                        <a:rPr lang="fr-FR" sz="1000" b="0" i="0" u="none" strike="noStrike" cap="none" dirty="0">
                          <a:solidFill>
                            <a:schemeClr val="dk1"/>
                          </a:solidFill>
                          <a:latin typeface="Quicksand Medium"/>
                          <a:ea typeface="Arial"/>
                          <a:cs typeface="Arial"/>
                          <a:sym typeface="Arial"/>
                        </a:rPr>
                        <a:t>, </a:t>
                      </a:r>
                      <a:r>
                        <a:rPr lang="fr-FR" sz="1000" b="0" i="0" u="none" strike="noStrike" cap="none" dirty="0" err="1">
                          <a:solidFill>
                            <a:schemeClr val="dk1"/>
                          </a:solidFill>
                          <a:latin typeface="Quicksand Medium"/>
                          <a:ea typeface="Arial"/>
                          <a:cs typeface="Arial"/>
                          <a:sym typeface="Arial"/>
                        </a:rPr>
                        <a:t>scatterplot</a:t>
                      </a:r>
                      <a:endParaRPr lang="fr-FR" sz="1000" b="0" i="0" u="none" strike="noStrike" cap="none" dirty="0">
                        <a:solidFill>
                          <a:schemeClr val="dk1"/>
                        </a:solidFill>
                        <a:latin typeface="Quicksand Medium"/>
                        <a:ea typeface="Arial"/>
                        <a:cs typeface="Arial"/>
                        <a:sym typeface="Arial"/>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904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u="none" strike="noStrike" cap="none" dirty="0">
                          <a:solidFill>
                            <a:schemeClr val="lt1"/>
                          </a:solidFill>
                          <a:uFill>
                            <a:noFill/>
                          </a:uFill>
                          <a:latin typeface="Poppins Medium"/>
                          <a:ea typeface="Poppins Medium"/>
                          <a:cs typeface="Poppins Medium"/>
                          <a:sym typeface="Poppins Medium"/>
                        </a:rPr>
                        <a:t>Analyses multivariée :</a:t>
                      </a:r>
                      <a:endParaRPr sz="1200" b="0" i="0" u="none" strike="noStrike" cap="none" dirty="0">
                        <a:solidFill>
                          <a:schemeClr val="lt1"/>
                        </a:solidFill>
                        <a:uFill>
                          <a:noFill/>
                        </a:u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endParaRPr lang="fr-FR" sz="1000" b="0" i="0" u="none" strike="noStrike" cap="none" dirty="0">
                        <a:solidFill>
                          <a:schemeClr val="dk1"/>
                        </a:solidFill>
                        <a:latin typeface="Quicksand Medium"/>
                        <a:ea typeface="Arial"/>
                        <a:cs typeface="Arial"/>
                        <a:sym typeface="Arial"/>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chemeClr val="tx2"/>
                    </a:solidFill>
                  </a:tcPr>
                </a:tc>
                <a:extLst>
                  <a:ext uri="{0D108BD9-81ED-4DB2-BD59-A6C34878D82A}">
                    <a16:rowId xmlns:a16="http://schemas.microsoft.com/office/drawing/2014/main" val="10001"/>
                  </a:ext>
                </a:extLst>
              </a:tr>
              <a:tr h="390475">
                <a:tc>
                  <a:txBody>
                    <a:bodyPr/>
                    <a:lstStyle/>
                    <a:p>
                      <a:pPr marL="0" lvl="0" indent="0" algn="l" rtl="0">
                        <a:spcBef>
                          <a:spcPts val="0"/>
                        </a:spcBef>
                        <a:spcAft>
                          <a:spcPts val="0"/>
                        </a:spcAft>
                        <a:buNone/>
                      </a:pPr>
                      <a:r>
                        <a:rPr lang="fr-FR" sz="1200" b="0" i="0" u="none" strike="noStrike" cap="none" dirty="0">
                          <a:solidFill>
                            <a:schemeClr val="lt1"/>
                          </a:solidFill>
                          <a:uFill>
                            <a:noFill/>
                          </a:uFill>
                          <a:latin typeface="Poppins Medium"/>
                          <a:ea typeface="Poppins Medium"/>
                          <a:cs typeface="Poppins Medium"/>
                          <a:sym typeface="Poppins Medium"/>
                        </a:rPr>
                        <a:t>               • ACP</a:t>
                      </a:r>
                      <a:endParaRPr sz="1200" b="0" i="0" u="none" strike="noStrike" cap="none" dirty="0">
                        <a:solidFill>
                          <a:schemeClr val="lt1"/>
                        </a:solidFill>
                        <a:uFill>
                          <a:noFill/>
                        </a:u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r>
                        <a:rPr lang="fr-FR" sz="1000" b="0" i="0" u="none" strike="noStrike" cap="none" dirty="0">
                          <a:solidFill>
                            <a:schemeClr val="dk1"/>
                          </a:solidFill>
                          <a:latin typeface="Quicksand Medium"/>
                          <a:ea typeface="Arial"/>
                          <a:cs typeface="Arial"/>
                          <a:sym typeface="Arial"/>
                        </a:rPr>
                        <a:t>Cercle de corrélation, hypothèses et interprétation graphique</a:t>
                      </a: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90475">
                <a:tc>
                  <a:txBody>
                    <a:bodyPr/>
                    <a:lstStyle/>
                    <a:p>
                      <a:pPr marL="0" lvl="0" indent="0" algn="l" rtl="0">
                        <a:spcBef>
                          <a:spcPts val="0"/>
                        </a:spcBef>
                        <a:spcAft>
                          <a:spcPts val="0"/>
                        </a:spcAft>
                        <a:buNone/>
                      </a:pPr>
                      <a:r>
                        <a:rPr lang="fr-FR" sz="1200" b="0" i="0" u="none" strike="noStrike" cap="none" dirty="0">
                          <a:solidFill>
                            <a:schemeClr val="lt1"/>
                          </a:solidFill>
                          <a:uFill>
                            <a:noFill/>
                          </a:uFill>
                          <a:latin typeface="Poppins Medium"/>
                          <a:ea typeface="Poppins Medium"/>
                          <a:cs typeface="Poppins Medium"/>
                          <a:sym typeface="Poppins Medium"/>
                        </a:rPr>
                        <a:t>               • ANOVA</a:t>
                      </a:r>
                      <a:endParaRPr sz="1200" b="0" i="0" u="none" strike="noStrike" cap="none" dirty="0">
                        <a:solidFill>
                          <a:schemeClr val="lt1"/>
                        </a:solidFill>
                        <a:uFill>
                          <a:noFill/>
                        </a:uFill>
                        <a:latin typeface="Poppins Medium"/>
                        <a:ea typeface="Poppins Medium"/>
                        <a:cs typeface="Poppins Medium"/>
                        <a:sym typeface="Poppins Medium"/>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endParaRPr lang="fr-FR" sz="1000" b="0" i="0" u="none" strike="noStrike" cap="none" dirty="0">
                        <a:solidFill>
                          <a:schemeClr val="dk1"/>
                        </a:solidFill>
                        <a:latin typeface="Quicksand Medium"/>
                        <a:ea typeface="Arial"/>
                        <a:cs typeface="Arial"/>
                        <a:sym typeface="Arial"/>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904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u="none" strike="noStrike" cap="none" dirty="0">
                          <a:solidFill>
                            <a:schemeClr val="lt1"/>
                          </a:solidFill>
                          <a:uFill>
                            <a:noFill/>
                          </a:uFill>
                          <a:latin typeface="Poppins Medium"/>
                          <a:ea typeface="Poppins Medium"/>
                          <a:cs typeface="Poppins Medium"/>
                          <a:sym typeface="Poppins Medium"/>
                        </a:rPr>
                        <a:t>Présentation application</a:t>
                      </a: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53CFA2"/>
                    </a:solidFill>
                  </a:tcPr>
                </a:tc>
                <a:tc>
                  <a:txBody>
                    <a:bodyPr/>
                    <a:lstStyle/>
                    <a:p>
                      <a:pPr marL="0" lvl="0" indent="0" algn="l" rtl="0">
                        <a:spcBef>
                          <a:spcPts val="0"/>
                        </a:spcBef>
                        <a:spcAft>
                          <a:spcPts val="0"/>
                        </a:spcAft>
                        <a:buNone/>
                      </a:pPr>
                      <a:r>
                        <a:rPr lang="fr-FR" sz="1000" dirty="0">
                          <a:solidFill>
                            <a:schemeClr val="dk1"/>
                          </a:solidFill>
                          <a:latin typeface="Quicksand Medium"/>
                          <a:ea typeface="Quicksand Medium"/>
                          <a:cs typeface="Quicksand Medium"/>
                          <a:sym typeface="Quicksand Medium"/>
                        </a:rPr>
                        <a:t>Présentation de l’idée d’app à l’agence de santé publique</a:t>
                      </a:r>
                      <a:endParaRPr sz="1000" dirty="0">
                        <a:solidFill>
                          <a:schemeClr val="dk1"/>
                        </a:solidFill>
                        <a:latin typeface="Quicksand Medium"/>
                        <a:ea typeface="Quicksand Medium"/>
                        <a:cs typeface="Quicksand Medium"/>
                        <a:sym typeface="Quicksand Medium"/>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904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u="none" strike="noStrike" cap="none" dirty="0">
                          <a:solidFill>
                            <a:schemeClr val="lt1"/>
                          </a:solidFill>
                          <a:uFill>
                            <a:noFill/>
                          </a:uFill>
                          <a:latin typeface="Poppins Medium"/>
                          <a:ea typeface="Poppins Medium"/>
                          <a:cs typeface="Poppins Medium"/>
                          <a:sym typeface="Poppins Medium"/>
                        </a:rPr>
                        <a:t>Justification de l’application</a:t>
                      </a:r>
                    </a:p>
                  </a:txBody>
                  <a:tcPr marL="91425" marR="91425" marT="0" marB="0" anchor="ctr">
                    <a:lnL w="19050" cap="flat" cmpd="sng">
                      <a:solidFill>
                        <a:schemeClr val="dk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dk2"/>
                      </a:solidFill>
                      <a:prstDash val="solid"/>
                      <a:round/>
                      <a:headEnd type="none" w="sm" len="sm"/>
                      <a:tailEnd type="none" w="sm" len="sm"/>
                    </a:lnB>
                    <a:solidFill>
                      <a:srgbClr val="53CFA2"/>
                    </a:solidFill>
                  </a:tcPr>
                </a:tc>
                <a:tc>
                  <a:txBody>
                    <a:bodyPr/>
                    <a:lstStyle/>
                    <a:p>
                      <a:pPr marL="0" lvl="0" indent="0" algn="l" rtl="0">
                        <a:spcBef>
                          <a:spcPts val="0"/>
                        </a:spcBef>
                        <a:spcAft>
                          <a:spcPts val="1600"/>
                        </a:spcAft>
                        <a:buNone/>
                      </a:pPr>
                      <a:r>
                        <a:rPr lang="fr-FR" sz="1000" b="0" dirty="0">
                          <a:solidFill>
                            <a:schemeClr val="dk1"/>
                          </a:solidFill>
                          <a:latin typeface="Quicksand"/>
                          <a:ea typeface="Quicksand"/>
                          <a:cs typeface="Quicksand"/>
                          <a:sym typeface="Quicksand"/>
                        </a:rPr>
                        <a:t>Limites et faisabilité de l’application santé</a:t>
                      </a:r>
                      <a:endParaRPr sz="1000" b="0" dirty="0">
                        <a:solidFill>
                          <a:schemeClr val="dk1"/>
                        </a:solidFill>
                        <a:latin typeface="Quicksand"/>
                        <a:ea typeface="Quicksand"/>
                        <a:cs typeface="Quicksand"/>
                        <a:sym typeface="Quicksand"/>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07" name="Google Shape;207;p30"/>
          <p:cNvSpPr txBox="1"/>
          <p:nvPr/>
        </p:nvSpPr>
        <p:spPr>
          <a:xfrm>
            <a:off x="1010412" y="4133675"/>
            <a:ext cx="3318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solidFill>
                  <a:schemeClr val="dk1"/>
                </a:solidFill>
                <a:latin typeface="Quicksand Medium"/>
                <a:ea typeface="Quicksand Medium"/>
                <a:cs typeface="Quicksand Medium"/>
                <a:sym typeface="Quicksand Medium"/>
              </a:rPr>
              <a:t>Notions </a:t>
            </a:r>
            <a:r>
              <a:rPr lang="en" sz="1000" dirty="0" err="1">
                <a:solidFill>
                  <a:schemeClr val="dk1"/>
                </a:solidFill>
                <a:latin typeface="Quicksand Medium"/>
                <a:ea typeface="Quicksand Medium"/>
                <a:cs typeface="Quicksand Medium"/>
                <a:sym typeface="Quicksand Medium"/>
              </a:rPr>
              <a:t>abordées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a:solidFill>
                  <a:schemeClr val="dk1"/>
                </a:solidFill>
                <a:uFill>
                  <a:noFill/>
                </a:u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KNN classifier </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ACP </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rPr>
              <a:t>ANOVA</a:t>
            </a:r>
            <a:r>
              <a:rPr lang="en" sz="1000" b="1" dirty="0">
                <a:solidFill>
                  <a:schemeClr val="dk1"/>
                </a:solidFill>
                <a:latin typeface="Quicksand"/>
                <a:ea typeface="Quicksand"/>
                <a:cs typeface="Quicksand"/>
                <a:sym typeface="Quicksand"/>
              </a:rPr>
              <a:t> | </a:t>
            </a:r>
            <a:r>
              <a:rPr lang="en" sz="1000" b="1" dirty="0">
                <a:solidFill>
                  <a:schemeClr val="dk1"/>
                </a:solidFill>
                <a:uFill>
                  <a:noFill/>
                </a:uFill>
                <a:latin typeface="Quicksand"/>
                <a:ea typeface="Quicksand"/>
                <a:cs typeface="Quicksand"/>
                <a:sym typeface="Quicksand"/>
              </a:rPr>
              <a:t>KRUSKAL-WALLIS</a:t>
            </a:r>
            <a:endParaRPr sz="1000" b="1" dirty="0">
              <a:solidFill>
                <a:schemeClr val="dk1"/>
              </a:solidFill>
              <a:latin typeface="Quicksand"/>
              <a:ea typeface="Quicksand"/>
              <a:cs typeface="Quicksand"/>
              <a:sym typeface="Quicksand"/>
            </a:endParaRPr>
          </a:p>
        </p:txBody>
      </p:sp>
      <p:sp>
        <p:nvSpPr>
          <p:cNvPr id="208" name="Google Shape;208;p30"/>
          <p:cNvSpPr txBox="1"/>
          <p:nvPr/>
        </p:nvSpPr>
        <p:spPr>
          <a:xfrm>
            <a:off x="4815588" y="4133675"/>
            <a:ext cx="3729698"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000" dirty="0">
                <a:solidFill>
                  <a:schemeClr val="dk1"/>
                </a:solidFill>
                <a:latin typeface="Quicksand Medium"/>
                <a:ea typeface="Quicksand Medium"/>
                <a:cs typeface="Quicksand Medium"/>
                <a:sym typeface="Quicksand Medium"/>
              </a:rPr>
              <a:t>L</a:t>
            </a:r>
            <a:r>
              <a:rPr lang="en" sz="1000" dirty="0" err="1">
                <a:solidFill>
                  <a:schemeClr val="dk1"/>
                </a:solidFill>
                <a:latin typeface="Quicksand Medium"/>
                <a:ea typeface="Quicksand Medium"/>
                <a:cs typeface="Quicksand Medium"/>
                <a:sym typeface="Quicksand Medium"/>
              </a:rPr>
              <a:t>ibrairies</a:t>
            </a:r>
            <a:r>
              <a:rPr lang="en" sz="1000" dirty="0">
                <a:solidFill>
                  <a:schemeClr val="dk1"/>
                </a:solidFill>
                <a:latin typeface="Quicksand Medium"/>
                <a:ea typeface="Quicksand Medium"/>
                <a:cs typeface="Quicksand Medium"/>
                <a:sym typeface="Quicksand Medium"/>
              </a:rPr>
              <a:t> </a:t>
            </a:r>
            <a:r>
              <a:rPr lang="en" sz="1000" dirty="0" err="1">
                <a:solidFill>
                  <a:schemeClr val="dk1"/>
                </a:solidFill>
                <a:latin typeface="Quicksand Medium"/>
                <a:ea typeface="Quicksand Medium"/>
                <a:cs typeface="Quicksand Medium"/>
                <a:sym typeface="Quicksand Medium"/>
              </a:rPr>
              <a:t>utilisées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a:solidFill>
                  <a:schemeClr val="dk1"/>
                </a:solidFill>
                <a:uFill>
                  <a:noFill/>
                </a:uFill>
                <a:latin typeface="Quicksand"/>
                <a:ea typeface="Quicksand"/>
                <a:cs typeface="Quicksand"/>
                <a:sym typeface="Quicksand"/>
              </a:rPr>
              <a:t>SCIPY</a:t>
            </a:r>
            <a:r>
              <a:rPr lang="en" sz="1000" b="1" dirty="0">
                <a:solidFill>
                  <a:schemeClr val="dk1"/>
                </a:solidFill>
                <a:latin typeface="Quicksand"/>
                <a:ea typeface="Quicksand"/>
                <a:cs typeface="Quicksand"/>
                <a:sym typeface="Quicksand"/>
              </a:rPr>
              <a:t> | </a:t>
            </a:r>
            <a:r>
              <a:rPr lang="en" sz="1000" b="1" dirty="0">
                <a:solidFill>
                  <a:schemeClr val="dk1"/>
                </a:solidFill>
                <a:uFill>
                  <a:noFill/>
                </a:uFill>
                <a:latin typeface="Quicksand"/>
                <a:ea typeface="Quicksand"/>
                <a:cs typeface="Quicksand"/>
                <a:sym typeface="Quicksand"/>
              </a:rPr>
              <a:t>MATPLOTLIB</a:t>
            </a:r>
            <a:r>
              <a:rPr lang="en" sz="1000" b="1" dirty="0">
                <a:solidFill>
                  <a:schemeClr val="dk1"/>
                </a:solidFill>
                <a:latin typeface="Quicksand"/>
                <a:ea typeface="Quicksand"/>
                <a:cs typeface="Quicksand"/>
                <a:sym typeface="Quicksand"/>
              </a:rPr>
              <a:t> | </a:t>
            </a:r>
            <a:r>
              <a:rPr lang="en" sz="1000" b="1" dirty="0">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S</a:t>
            </a:r>
            <a:r>
              <a:rPr lang="en" sz="1000" b="1" dirty="0">
                <a:solidFill>
                  <a:schemeClr val="dk1"/>
                </a:solidFill>
                <a:uFill>
                  <a:noFill/>
                </a:uFill>
                <a:latin typeface="Quicksand"/>
                <a:ea typeface="Quicksand"/>
                <a:cs typeface="Quicksand"/>
                <a:sym typeface="Quicksand"/>
              </a:rPr>
              <a:t>EABORN</a:t>
            </a:r>
            <a:r>
              <a:rPr lang="en" sz="1000" b="1" dirty="0">
                <a:solidFill>
                  <a:schemeClr val="dk1"/>
                </a:solidFill>
                <a:latin typeface="Quicksand"/>
                <a:ea typeface="Quicksand"/>
                <a:cs typeface="Quicksand"/>
                <a:sym typeface="Quicksand"/>
              </a:rPr>
              <a:t> | </a:t>
            </a:r>
            <a:r>
              <a:rPr lang="fr-FR" sz="1000" b="1" dirty="0">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missingno</a:t>
            </a:r>
            <a:r>
              <a:rPr lang="en" sz="1000" b="1" dirty="0">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 </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hlinkClick r:id="rId6">
                  <a:extLst>
                    <a:ext uri="{A12FA001-AC4F-418D-AE19-62706E023703}">
                      <ahyp:hlinkClr xmlns:ahyp="http://schemas.microsoft.com/office/drawing/2018/hyperlinkcolor" val="tx"/>
                    </a:ext>
                  </a:extLst>
                </a:hlinkClick>
              </a:rPr>
              <a:t>VIDEVO</a:t>
            </a:r>
            <a:endParaRPr sz="1000" b="1" dirty="0">
              <a:solidFill>
                <a:schemeClr val="dk1"/>
              </a:solidFill>
              <a:latin typeface="Quicksand"/>
              <a:ea typeface="Quicksand"/>
              <a:cs typeface="Quicksand"/>
              <a:sym typeface="Quicksa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Timeline</a:t>
            </a:r>
            <a:endParaRPr dirty="0"/>
          </a:p>
        </p:txBody>
      </p:sp>
      <p:sp>
        <p:nvSpPr>
          <p:cNvPr id="401" name="Google Shape;401;p43"/>
          <p:cNvSpPr txBox="1"/>
          <p:nvPr/>
        </p:nvSpPr>
        <p:spPr>
          <a:xfrm flipH="1">
            <a:off x="719979" y="143468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err="1">
                <a:solidFill>
                  <a:schemeClr val="tx2">
                    <a:lumMod val="10000"/>
                  </a:schemeClr>
                </a:solidFill>
                <a:latin typeface="Quicksand SemiBold"/>
                <a:ea typeface="Quicksand SemiBold"/>
                <a:cs typeface="Quicksand SemiBold"/>
                <a:sym typeface="Quicksand SemiBold"/>
              </a:rPr>
              <a:t>Nettoyage</a:t>
            </a:r>
            <a:r>
              <a:rPr lang="en" sz="2200" dirty="0">
                <a:solidFill>
                  <a:schemeClr val="tx2">
                    <a:lumMod val="10000"/>
                  </a:schemeClr>
                </a:solidFill>
                <a:latin typeface="Quicksand SemiBold"/>
                <a:ea typeface="Quicksand SemiBold"/>
                <a:cs typeface="Quicksand SemiBold"/>
                <a:sym typeface="Quicksand SemiBold"/>
              </a:rPr>
              <a:t> </a:t>
            </a: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1</a:t>
            </a:r>
            <a:endParaRPr sz="3500" dirty="0">
              <a:solidFill>
                <a:schemeClr val="dk2"/>
              </a:solidFill>
              <a:latin typeface="Quicksand SemiBold"/>
              <a:ea typeface="Quicksand SemiBold"/>
              <a:cs typeface="Quicksand SemiBold"/>
              <a:sym typeface="Quicksand SemiBold"/>
            </a:endParaRPr>
          </a:p>
        </p:txBody>
      </p:sp>
      <p:sp>
        <p:nvSpPr>
          <p:cNvPr id="402" name="Google Shape;402;p43"/>
          <p:cNvSpPr txBox="1"/>
          <p:nvPr/>
        </p:nvSpPr>
        <p:spPr>
          <a:xfrm flipH="1">
            <a:off x="720021" y="1935032"/>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Choix des </a:t>
            </a:r>
            <a:r>
              <a:rPr lang="en" sz="1200" dirty="0" err="1">
                <a:solidFill>
                  <a:schemeClr val="dk1"/>
                </a:solidFill>
                <a:latin typeface="Quicksand Medium"/>
                <a:ea typeface="Quicksand Medium"/>
                <a:cs typeface="Quicksand Medium"/>
                <a:sym typeface="Quicksand Medium"/>
              </a:rPr>
              <a:t>données</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pertinentes</a:t>
            </a:r>
            <a:endParaRPr sz="1200" dirty="0">
              <a:solidFill>
                <a:schemeClr val="dk1"/>
              </a:solidFill>
              <a:latin typeface="Quicksand Medium"/>
              <a:ea typeface="Quicksand Medium"/>
              <a:cs typeface="Quicksand Medium"/>
              <a:sym typeface="Quicksand Medium"/>
            </a:endParaRPr>
          </a:p>
        </p:txBody>
      </p:sp>
      <p:sp>
        <p:nvSpPr>
          <p:cNvPr id="403" name="Google Shape;403;p43"/>
          <p:cNvSpPr txBox="1"/>
          <p:nvPr/>
        </p:nvSpPr>
        <p:spPr>
          <a:xfrm flipH="1">
            <a:off x="2683879" y="1446407"/>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3</a:t>
            </a:r>
            <a:endParaRPr sz="3500" dirty="0">
              <a:solidFill>
                <a:schemeClr val="dk2"/>
              </a:solidFill>
              <a:latin typeface="Quicksand SemiBold"/>
              <a:ea typeface="Quicksand SemiBold"/>
              <a:cs typeface="Quicksand SemiBold"/>
              <a:sym typeface="Quicksand SemiBold"/>
            </a:endParaRPr>
          </a:p>
        </p:txBody>
      </p:sp>
      <p:sp>
        <p:nvSpPr>
          <p:cNvPr id="404" name="Google Shape;404;p43"/>
          <p:cNvSpPr txBox="1"/>
          <p:nvPr/>
        </p:nvSpPr>
        <p:spPr>
          <a:xfrm flipH="1">
            <a:off x="2683921" y="1946755"/>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sym typeface="Quicksand Medium"/>
              </a:rPr>
              <a:t>Imputation des données manquantes</a:t>
            </a:r>
            <a:endParaRPr sz="1200" dirty="0">
              <a:solidFill>
                <a:schemeClr val="dk1"/>
              </a:solidFill>
              <a:latin typeface="Quicksand Medium"/>
              <a:sym typeface="Quicksand Medium"/>
            </a:endParaRPr>
          </a:p>
        </p:txBody>
      </p:sp>
      <p:sp>
        <p:nvSpPr>
          <p:cNvPr id="405" name="Google Shape;405;p43"/>
          <p:cNvSpPr txBox="1"/>
          <p:nvPr/>
        </p:nvSpPr>
        <p:spPr>
          <a:xfrm flipH="1">
            <a:off x="4647779" y="131745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406" name="Google Shape;406;p43"/>
          <p:cNvSpPr txBox="1"/>
          <p:nvPr/>
        </p:nvSpPr>
        <p:spPr>
          <a:xfrm flipH="1">
            <a:off x="4647022" y="1709816"/>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ea typeface="Quicksand Medium"/>
                <a:cs typeface="Quicksand Medium"/>
                <a:sym typeface="Quicksand Medium"/>
              </a:rPr>
              <a:t>ACP, ANOVA, </a:t>
            </a:r>
            <a:r>
              <a:rPr lang="fr-FR" sz="1200" dirty="0" err="1">
                <a:solidFill>
                  <a:schemeClr val="dk1"/>
                </a:solidFill>
                <a:latin typeface="Quicksand Medium"/>
                <a:ea typeface="Quicksand Medium"/>
                <a:cs typeface="Quicksand Medium"/>
                <a:sym typeface="Quicksand Medium"/>
              </a:rPr>
              <a:t>Kruskal</a:t>
            </a:r>
            <a:r>
              <a:rPr lang="fr-FR" sz="1200" dirty="0">
                <a:solidFill>
                  <a:schemeClr val="dk1"/>
                </a:solidFill>
                <a:latin typeface="Quicksand Medium"/>
                <a:ea typeface="Quicksand Medium"/>
                <a:cs typeface="Quicksand Medium"/>
                <a:sym typeface="Quicksand Medium"/>
              </a:rPr>
              <a:t>-Wallis et régression linéaire</a:t>
            </a: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
        <p:nvSpPr>
          <p:cNvPr id="407" name="Google Shape;407;p43"/>
          <p:cNvSpPr txBox="1"/>
          <p:nvPr/>
        </p:nvSpPr>
        <p:spPr>
          <a:xfrm flipH="1">
            <a:off x="6611679" y="1446407"/>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err="1">
                <a:solidFill>
                  <a:schemeClr val="tx2">
                    <a:lumMod val="10000"/>
                  </a:schemeClr>
                </a:solidFill>
                <a:latin typeface="Quicksand SemiBold"/>
                <a:ea typeface="Quicksand SemiBold"/>
                <a:cs typeface="Quicksand SemiBold"/>
                <a:sym typeface="Quicksand SemiBold"/>
              </a:rPr>
              <a:t>Synthèse</a:t>
            </a:r>
            <a:r>
              <a:rPr lang="en" sz="2200" dirty="0">
                <a:solidFill>
                  <a:schemeClr val="tx2">
                    <a:lumMod val="10000"/>
                  </a:schemeClr>
                </a:solidFill>
                <a:latin typeface="Quicksand SemiBold"/>
                <a:ea typeface="Quicksand SemiBold"/>
                <a:cs typeface="Quicksand SemiBold"/>
                <a:sym typeface="Quicksand SemiBold"/>
              </a:rPr>
              <a:t> </a:t>
            </a:r>
            <a:r>
              <a:rPr lang="en" sz="2200" dirty="0">
                <a:solidFill>
                  <a:schemeClr val="dk1"/>
                </a:solidFill>
                <a:latin typeface="Quicksand SemiBold"/>
                <a:ea typeface="Quicksand SemiBold"/>
                <a:cs typeface="Quicksand SemiBold"/>
                <a:sym typeface="Quicksand SemiBold"/>
              </a:rPr>
              <a:t>Step </a:t>
            </a:r>
            <a:r>
              <a:rPr lang="en" sz="3500" dirty="0">
                <a:solidFill>
                  <a:schemeClr val="dk2"/>
                </a:solidFill>
                <a:latin typeface="Quicksand SemiBold"/>
                <a:ea typeface="Quicksand SemiBold"/>
                <a:cs typeface="Quicksand SemiBold"/>
                <a:sym typeface="Quicksand SemiBold"/>
              </a:rPr>
              <a:t>7</a:t>
            </a:r>
            <a:endParaRPr sz="3500" dirty="0">
              <a:solidFill>
                <a:schemeClr val="dk2"/>
              </a:solidFill>
              <a:latin typeface="Quicksand SemiBold"/>
              <a:ea typeface="Quicksand SemiBold"/>
              <a:cs typeface="Quicksand SemiBold"/>
              <a:sym typeface="Quicksand SemiBold"/>
            </a:endParaRPr>
          </a:p>
        </p:txBody>
      </p:sp>
      <p:sp>
        <p:nvSpPr>
          <p:cNvPr id="408" name="Google Shape;408;p43"/>
          <p:cNvSpPr txBox="1"/>
          <p:nvPr/>
        </p:nvSpPr>
        <p:spPr>
          <a:xfrm flipH="1">
            <a:off x="6611721" y="1946755"/>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err="1">
                <a:solidFill>
                  <a:schemeClr val="dk1"/>
                </a:solidFill>
                <a:latin typeface="Quicksand SemiBold"/>
                <a:ea typeface="Quicksand SemiBold"/>
                <a:cs typeface="Quicksand SemiBold"/>
                <a:sym typeface="Quicksand SemiBold"/>
              </a:rPr>
              <a:t>Faisabilité</a:t>
            </a:r>
            <a:r>
              <a:rPr lang="en" sz="1200" dirty="0">
                <a:solidFill>
                  <a:schemeClr val="dk1"/>
                </a:solidFill>
                <a:latin typeface="Quicksand SemiBold"/>
                <a:ea typeface="Quicksand SemiBold"/>
                <a:cs typeface="Quicksand SemiBold"/>
                <a:sym typeface="Quicksand SemiBold"/>
              </a:rPr>
              <a:t> de </a:t>
            </a:r>
            <a:r>
              <a:rPr lang="en" sz="1200" dirty="0" err="1">
                <a:solidFill>
                  <a:schemeClr val="dk1"/>
                </a:solidFill>
                <a:latin typeface="Quicksand SemiBold"/>
                <a:ea typeface="Quicksand SemiBold"/>
                <a:cs typeface="Quicksand SemiBold"/>
                <a:sym typeface="Quicksand SemiBold"/>
              </a:rPr>
              <a:t>l’application</a:t>
            </a:r>
            <a:endParaRPr lang="fr-FR" sz="1200" dirty="0">
              <a:solidFill>
                <a:schemeClr val="dk1"/>
              </a:solidFill>
              <a:latin typeface="Quicksand Medium"/>
              <a:ea typeface="Quicksand Medium"/>
              <a:cs typeface="Quicksand Medium"/>
              <a:sym typeface="Quicksand Medium"/>
            </a:endParaRPr>
          </a:p>
        </p:txBody>
      </p:sp>
      <p:sp>
        <p:nvSpPr>
          <p:cNvPr id="409" name="Google Shape;409;p43"/>
          <p:cNvSpPr txBox="1"/>
          <p:nvPr/>
        </p:nvSpPr>
        <p:spPr>
          <a:xfrm flipH="1">
            <a:off x="17019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a:solidFill>
                  <a:schemeClr val="dk1"/>
                </a:solidFill>
                <a:latin typeface="Quicksand SemiBold"/>
                <a:ea typeface="Quicksand SemiBold"/>
                <a:cs typeface="Quicksand SemiBold"/>
                <a:sym typeface="Quicksand SemiBold"/>
              </a:rPr>
              <a:t>Step</a:t>
            </a:r>
            <a:r>
              <a:rPr lang="en" sz="3500">
                <a:solidFill>
                  <a:schemeClr val="dk2"/>
                </a:solidFill>
                <a:latin typeface="Quicksand SemiBold"/>
                <a:ea typeface="Quicksand SemiBold"/>
                <a:cs typeface="Quicksand SemiBold"/>
                <a:sym typeface="Quicksand SemiBold"/>
              </a:rPr>
              <a:t> 2</a:t>
            </a:r>
            <a:endParaRPr sz="3500">
              <a:solidFill>
                <a:schemeClr val="dk2"/>
              </a:solidFill>
              <a:latin typeface="Quicksand SemiBold"/>
              <a:ea typeface="Quicksand SemiBold"/>
              <a:cs typeface="Quicksand SemiBold"/>
              <a:sym typeface="Quicksand SemiBold"/>
            </a:endParaRPr>
          </a:p>
        </p:txBody>
      </p:sp>
      <p:sp>
        <p:nvSpPr>
          <p:cNvPr id="410" name="Google Shape;410;p43"/>
          <p:cNvSpPr txBox="1"/>
          <p:nvPr/>
        </p:nvSpPr>
        <p:spPr>
          <a:xfrm flipH="1">
            <a:off x="1701971" y="3968773"/>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rPr>
              <a:t>Nettoyage des données, gestion des 	</a:t>
            </a:r>
            <a:r>
              <a:rPr lang="fr-FR" sz="1200" dirty="0" err="1">
                <a:solidFill>
                  <a:schemeClr val="dk1"/>
                </a:solidFill>
                <a:latin typeface="Quicksand Medium"/>
              </a:rPr>
              <a:t>outliers</a:t>
            </a:r>
            <a:endParaRPr sz="1200" dirty="0">
              <a:solidFill>
                <a:schemeClr val="dk1"/>
              </a:solidFill>
              <a:latin typeface="Quicksand Medium"/>
              <a:sym typeface="Quicksand Medium"/>
            </a:endParaRPr>
          </a:p>
        </p:txBody>
      </p:sp>
      <p:sp>
        <p:nvSpPr>
          <p:cNvPr id="411" name="Google Shape;411;p43"/>
          <p:cNvSpPr txBox="1"/>
          <p:nvPr/>
        </p:nvSpPr>
        <p:spPr>
          <a:xfrm flipH="1">
            <a:off x="36658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412" name="Google Shape;412;p43"/>
          <p:cNvSpPr txBox="1"/>
          <p:nvPr/>
        </p:nvSpPr>
        <p:spPr>
          <a:xfrm flipH="1">
            <a:off x="3665829" y="3861853"/>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analyse univariée, multivariée, une réduction dimensionnelle</a:t>
            </a:r>
          </a:p>
          <a:p>
            <a:pPr algn="ctr"/>
            <a:r>
              <a:rPr lang="en" sz="2000" dirty="0">
                <a:solidFill>
                  <a:schemeClr val="tx2">
                    <a:lumMod val="10000"/>
                  </a:schemeClr>
                </a:solidFill>
                <a:latin typeface="Quicksand SemiBold"/>
                <a:ea typeface="Quicksand SemiBold"/>
                <a:cs typeface="Quicksand SemiBold"/>
                <a:sym typeface="Quicksand SemiBold"/>
              </a:rPr>
              <a:t>Exploration</a:t>
            </a:r>
            <a:endParaRPr lang="fr-FR" sz="2000" dirty="0">
              <a:solidFill>
                <a:schemeClr val="dk1"/>
              </a:solidFill>
              <a:latin typeface="Quicksand Medium"/>
              <a:sym typeface="Quicksand Medium"/>
            </a:endParaRP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
        <p:nvSpPr>
          <p:cNvPr id="413" name="Google Shape;413;p43"/>
          <p:cNvSpPr txBox="1"/>
          <p:nvPr/>
        </p:nvSpPr>
        <p:spPr>
          <a:xfrm flipH="1">
            <a:off x="56297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414" name="Google Shape;414;p43"/>
          <p:cNvSpPr txBox="1"/>
          <p:nvPr/>
        </p:nvSpPr>
        <p:spPr>
          <a:xfrm flipH="1">
            <a:off x="5629771" y="3968773"/>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ea typeface="Quicksand Medium"/>
                <a:cs typeface="Quicksand Medium"/>
                <a:sym typeface="Quicksand Medium"/>
              </a:rPr>
              <a:t>Présentation prototype de l’application </a:t>
            </a:r>
            <a:r>
              <a:rPr lang="fr-FR" sz="1200" dirty="0">
                <a:solidFill>
                  <a:srgbClr val="53CFA2"/>
                </a:solidFill>
              </a:rPr>
              <a:t>Nu</a:t>
            </a:r>
            <a:r>
              <a:rPr lang="fr-FR" sz="1200" dirty="0">
                <a:solidFill>
                  <a:srgbClr val="92D050"/>
                </a:solidFill>
              </a:rPr>
              <a:t>tri</a:t>
            </a:r>
            <a:r>
              <a:rPr lang="fr-FR" sz="1200" dirty="0">
                <a:solidFill>
                  <a:srgbClr val="FFE100"/>
                </a:solidFill>
              </a:rPr>
              <a:t>-a</a:t>
            </a:r>
            <a:r>
              <a:rPr lang="fr-FR" sz="1200" dirty="0">
                <a:solidFill>
                  <a:srgbClr val="FFC000"/>
                </a:solidFill>
              </a:rPr>
              <a:t>p</a:t>
            </a:r>
            <a:r>
              <a:rPr lang="fr-FR" sz="1200" dirty="0">
                <a:solidFill>
                  <a:srgbClr val="FF0000"/>
                </a:solidFill>
              </a:rPr>
              <a:t>p</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415" name="Google Shape;415;p43"/>
          <p:cNvSpPr/>
          <p:nvPr/>
        </p:nvSpPr>
        <p:spPr>
          <a:xfrm>
            <a:off x="14921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3"/>
          <p:cNvSpPr/>
          <p:nvPr/>
        </p:nvSpPr>
        <p:spPr>
          <a:xfrm>
            <a:off x="24741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34560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443802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419" name="Google Shape;419;p43"/>
          <p:cNvSpPr/>
          <p:nvPr/>
        </p:nvSpPr>
        <p:spPr>
          <a:xfrm>
            <a:off x="54199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3"/>
          <p:cNvSpPr/>
          <p:nvPr/>
        </p:nvSpPr>
        <p:spPr>
          <a:xfrm>
            <a:off x="64019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3"/>
          <p:cNvSpPr/>
          <p:nvPr/>
        </p:nvSpPr>
        <p:spPr>
          <a:xfrm>
            <a:off x="73838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22" name="Google Shape;422;p43"/>
          <p:cNvCxnSpPr>
            <a:cxnSpLocks/>
          </p:cNvCxnSpPr>
          <p:nvPr/>
        </p:nvCxnSpPr>
        <p:spPr>
          <a:xfrm rot="10800000">
            <a:off x="1626129" y="24541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3" name="Google Shape;423;p43"/>
          <p:cNvCxnSpPr>
            <a:stCxn id="416" idx="4"/>
            <a:endCxn id="409" idx="0"/>
          </p:cNvCxnSpPr>
          <p:nvPr/>
        </p:nvCxnSpPr>
        <p:spPr>
          <a:xfrm>
            <a:off x="26080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4" name="Google Shape;424;p43"/>
          <p:cNvCxnSpPr>
            <a:cxnSpLocks/>
            <a:stCxn id="417" idx="0"/>
          </p:cNvCxnSpPr>
          <p:nvPr/>
        </p:nvCxnSpPr>
        <p:spPr>
          <a:xfrm flipV="1">
            <a:off x="3590029" y="2640724"/>
            <a:ext cx="0" cy="186600"/>
          </a:xfrm>
          <a:prstGeom prst="straightConnector1">
            <a:avLst/>
          </a:prstGeom>
          <a:noFill/>
          <a:ln w="19050" cap="flat" cmpd="sng">
            <a:solidFill>
              <a:schemeClr val="lt2"/>
            </a:solidFill>
            <a:prstDash val="solid"/>
            <a:round/>
            <a:headEnd type="none" w="med" len="med"/>
            <a:tailEnd type="oval" w="med" len="med"/>
          </a:ln>
        </p:spPr>
      </p:cxnSp>
      <p:cxnSp>
        <p:nvCxnSpPr>
          <p:cNvPr id="425" name="Google Shape;425;p43"/>
          <p:cNvCxnSpPr>
            <a:stCxn id="418" idx="4"/>
            <a:endCxn id="411" idx="0"/>
          </p:cNvCxnSpPr>
          <p:nvPr/>
        </p:nvCxnSpPr>
        <p:spPr>
          <a:xfrm>
            <a:off x="45719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6" name="Google Shape;426;p43"/>
          <p:cNvCxnSpPr>
            <a:stCxn id="420" idx="4"/>
            <a:endCxn id="413" idx="0"/>
          </p:cNvCxnSpPr>
          <p:nvPr/>
        </p:nvCxnSpPr>
        <p:spPr>
          <a:xfrm>
            <a:off x="65358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7" name="Google Shape;427;p43"/>
          <p:cNvCxnSpPr>
            <a:cxnSpLocks/>
          </p:cNvCxnSpPr>
          <p:nvPr/>
        </p:nvCxnSpPr>
        <p:spPr>
          <a:xfrm rot="10800000">
            <a:off x="5559455" y="2467570"/>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8" name="Google Shape;428;p43"/>
          <p:cNvCxnSpPr>
            <a:stCxn id="421" idx="0"/>
            <a:endCxn id="408" idx="2"/>
          </p:cNvCxnSpPr>
          <p:nvPr/>
        </p:nvCxnSpPr>
        <p:spPr>
          <a:xfrm flipV="1">
            <a:off x="7517829" y="2266555"/>
            <a:ext cx="42" cy="560769"/>
          </a:xfrm>
          <a:prstGeom prst="straightConnector1">
            <a:avLst/>
          </a:prstGeom>
          <a:noFill/>
          <a:ln w="19050" cap="flat" cmpd="sng">
            <a:solidFill>
              <a:schemeClr val="lt2"/>
            </a:solidFill>
            <a:prstDash val="solid"/>
            <a:round/>
            <a:headEnd type="none" w="med" len="med"/>
            <a:tailEnd type="oval" w="med" len="med"/>
          </a:ln>
        </p:spPr>
      </p:cxnSp>
      <p:cxnSp>
        <p:nvCxnSpPr>
          <p:cNvPr id="429" name="Google Shape;429;p43"/>
          <p:cNvCxnSpPr>
            <a:stCxn id="415" idx="6"/>
            <a:endCxn id="416" idx="2"/>
          </p:cNvCxnSpPr>
          <p:nvPr/>
        </p:nvCxnSpPr>
        <p:spPr>
          <a:xfrm>
            <a:off x="17600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0" name="Google Shape;430;p43"/>
          <p:cNvCxnSpPr>
            <a:stCxn id="416" idx="6"/>
            <a:endCxn id="417" idx="2"/>
          </p:cNvCxnSpPr>
          <p:nvPr/>
        </p:nvCxnSpPr>
        <p:spPr>
          <a:xfrm>
            <a:off x="27420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1" name="Google Shape;431;p43"/>
          <p:cNvCxnSpPr>
            <a:stCxn id="417" idx="6"/>
            <a:endCxn id="418" idx="2"/>
          </p:cNvCxnSpPr>
          <p:nvPr/>
        </p:nvCxnSpPr>
        <p:spPr>
          <a:xfrm>
            <a:off x="37239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2" name="Google Shape;432;p43"/>
          <p:cNvCxnSpPr>
            <a:stCxn id="418" idx="6"/>
            <a:endCxn id="419" idx="2"/>
          </p:cNvCxnSpPr>
          <p:nvPr/>
        </p:nvCxnSpPr>
        <p:spPr>
          <a:xfrm>
            <a:off x="47059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3" name="Google Shape;433;p43"/>
          <p:cNvCxnSpPr>
            <a:stCxn id="419" idx="6"/>
            <a:endCxn id="420" idx="2"/>
          </p:cNvCxnSpPr>
          <p:nvPr/>
        </p:nvCxnSpPr>
        <p:spPr>
          <a:xfrm>
            <a:off x="56878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4" name="Google Shape;434;p43"/>
          <p:cNvCxnSpPr>
            <a:stCxn id="420" idx="6"/>
            <a:endCxn id="421" idx="2"/>
          </p:cNvCxnSpPr>
          <p:nvPr/>
        </p:nvCxnSpPr>
        <p:spPr>
          <a:xfrm>
            <a:off x="6669829" y="2961274"/>
            <a:ext cx="714000" cy="0"/>
          </a:xfrm>
          <a:prstGeom prst="straightConnector1">
            <a:avLst/>
          </a:prstGeom>
          <a:noFill/>
          <a:ln w="19050" cap="flat" cmpd="sng">
            <a:solidFill>
              <a:schemeClr val="lt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Applications</a:t>
            </a:r>
            <a:endParaRPr dirty="0"/>
          </a:p>
        </p:txBody>
      </p:sp>
      <p:sp>
        <p:nvSpPr>
          <p:cNvPr id="42" name="Google Shape;237;p32">
            <a:extLst>
              <a:ext uri="{FF2B5EF4-FFF2-40B4-BE49-F238E27FC236}">
                <a16:creationId xmlns:a16="http://schemas.microsoft.com/office/drawing/2014/main" id="{007FBB48-F9FF-E5B6-11D9-6A04A9CB000E}"/>
              </a:ext>
            </a:extLst>
          </p:cNvPr>
          <p:cNvSpPr txBox="1">
            <a:spLocks noGrp="1"/>
          </p:cNvSpPr>
          <p:nvPr>
            <p:ph type="subTitle" idx="1"/>
          </p:nvPr>
        </p:nvSpPr>
        <p:spPr>
          <a:xfrm>
            <a:off x="902677" y="1201350"/>
            <a:ext cx="7521322" cy="365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FR" sz="1800" dirty="0"/>
              <a:t>Contexte :</a:t>
            </a:r>
          </a:p>
          <a:p>
            <a:pPr marL="0" lvl="0" indent="0" algn="l" rtl="0">
              <a:spcBef>
                <a:spcPts val="0"/>
              </a:spcBef>
              <a:spcAft>
                <a:spcPts val="0"/>
              </a:spcAft>
              <a:buClr>
                <a:schemeClr val="dk1"/>
              </a:buClr>
              <a:buSzPts val="1100"/>
              <a:buFont typeface="Arial"/>
              <a:buNone/>
            </a:pPr>
            <a:endParaRPr lang="fr-FR" sz="1050" b="0" i="0" u="none" strike="noStrike" dirty="0">
              <a:solidFill>
                <a:srgbClr val="353740"/>
              </a:solidFill>
              <a:effectLst/>
              <a:latin typeface="ColfaxAI"/>
            </a:endParaRPr>
          </a:p>
          <a:p>
            <a:pPr marL="0" lvl="0" indent="0" algn="l" rtl="0">
              <a:spcBef>
                <a:spcPts val="0"/>
              </a:spcBef>
              <a:spcAft>
                <a:spcPts val="0"/>
              </a:spcAft>
              <a:buClr>
                <a:schemeClr val="dk1"/>
              </a:buClr>
              <a:buSzPts val="1100"/>
              <a:buFont typeface="Arial"/>
              <a:buNone/>
            </a:pPr>
            <a:endParaRPr lang="fr-FR" sz="1050" dirty="0">
              <a:solidFill>
                <a:srgbClr val="353740"/>
              </a:solidFill>
              <a:latin typeface="ColfaxAI"/>
            </a:endParaRPr>
          </a:p>
          <a:p>
            <a:pPr marL="0" lvl="0" indent="0" algn="l" rtl="0">
              <a:spcBef>
                <a:spcPts val="0"/>
              </a:spcBef>
              <a:spcAft>
                <a:spcPts val="0"/>
              </a:spcAft>
              <a:buClr>
                <a:schemeClr val="dk1"/>
              </a:buClr>
              <a:buSzPts val="1100"/>
              <a:buFont typeface="Arial"/>
              <a:buNone/>
            </a:pPr>
            <a:r>
              <a:rPr lang="fr-FR" sz="1400" b="0" i="0" u="none" strike="noStrike" dirty="0">
                <a:solidFill>
                  <a:srgbClr val="353740"/>
                </a:solidFill>
                <a:effectLst/>
                <a:latin typeface="ColfaxAI"/>
              </a:rPr>
              <a:t>L'agence « Santé publique France » lance un appel à projets pour trouver des idées innovantes d'applications en lien avec l'alimentation. </a:t>
            </a:r>
          </a:p>
          <a:p>
            <a:pPr marL="0" lvl="0" indent="0" algn="l" rtl="0">
              <a:spcBef>
                <a:spcPts val="0"/>
              </a:spcBef>
              <a:spcAft>
                <a:spcPts val="0"/>
              </a:spcAft>
              <a:buClr>
                <a:schemeClr val="dk1"/>
              </a:buClr>
              <a:buSzPts val="1100"/>
              <a:buFont typeface="Arial"/>
              <a:buNone/>
            </a:pPr>
            <a:endParaRPr lang="fr-FR" sz="1400" dirty="0">
              <a:solidFill>
                <a:srgbClr val="353740"/>
              </a:solidFill>
              <a:latin typeface="ColfaxAI"/>
            </a:endParaRPr>
          </a:p>
          <a:p>
            <a:pPr marL="0" lvl="0" indent="0" algn="l" rtl="0">
              <a:spcBef>
                <a:spcPts val="0"/>
              </a:spcBef>
              <a:spcAft>
                <a:spcPts val="0"/>
              </a:spcAft>
              <a:buClr>
                <a:schemeClr val="dk1"/>
              </a:buClr>
              <a:buSzPts val="1100"/>
              <a:buFont typeface="Arial"/>
              <a:buNone/>
            </a:pPr>
            <a:r>
              <a:rPr lang="fr-FR" sz="1400" b="0" i="0" u="none" strike="noStrike" dirty="0">
                <a:solidFill>
                  <a:srgbClr val="353740"/>
                </a:solidFill>
                <a:effectLst/>
                <a:latin typeface="ColfaxAI"/>
              </a:rPr>
              <a:t>Participer et proposer une idée d'application nécessite de traiter le jeu de données disponible, réfléchir à une idée d'application, nettoyer les données, produire des visualisations et effectuer des analyses uni et </a:t>
            </a:r>
            <a:r>
              <a:rPr lang="fr-FR" sz="1400" b="0" i="0" u="none" strike="noStrike" dirty="0" err="1">
                <a:solidFill>
                  <a:srgbClr val="353740"/>
                </a:solidFill>
                <a:effectLst/>
                <a:latin typeface="ColfaxAI"/>
              </a:rPr>
              <a:t>multi-variées</a:t>
            </a:r>
            <a:r>
              <a:rPr lang="fr-FR" sz="1400" b="0" i="0" u="none" strike="noStrike" dirty="0">
                <a:solidFill>
                  <a:srgbClr val="353740"/>
                </a:solidFill>
                <a:effectLst/>
                <a:latin typeface="ColfaxAI"/>
              </a:rPr>
              <a:t>.</a:t>
            </a:r>
          </a:p>
          <a:p>
            <a:pPr marL="0" lvl="0" indent="0" algn="l" rtl="0">
              <a:spcBef>
                <a:spcPts val="0"/>
              </a:spcBef>
              <a:spcAft>
                <a:spcPts val="0"/>
              </a:spcAft>
              <a:buClr>
                <a:schemeClr val="dk1"/>
              </a:buClr>
              <a:buSzPts val="1100"/>
              <a:buFont typeface="Arial"/>
              <a:buNone/>
            </a:pPr>
            <a:endParaRPr lang="fr-FR" sz="1400" dirty="0">
              <a:solidFill>
                <a:srgbClr val="353740"/>
              </a:solidFill>
              <a:latin typeface="ColfaxAI"/>
            </a:endParaRPr>
          </a:p>
          <a:p>
            <a:pPr marL="0" lvl="0" indent="0" algn="l" rtl="0">
              <a:spcBef>
                <a:spcPts val="0"/>
              </a:spcBef>
              <a:spcAft>
                <a:spcPts val="0"/>
              </a:spcAft>
              <a:buClr>
                <a:schemeClr val="dk1"/>
              </a:buClr>
              <a:buSzPts val="1100"/>
              <a:buFont typeface="Arial"/>
              <a:buNone/>
            </a:pPr>
            <a:r>
              <a:rPr lang="fr-FR" sz="1400" b="0" i="0" u="none" strike="noStrike" dirty="0">
                <a:solidFill>
                  <a:srgbClr val="353740"/>
                </a:solidFill>
                <a:effectLst/>
                <a:latin typeface="ColfaxAI"/>
              </a:rPr>
              <a:t>Votre mission est de vérifier la faisabilité de votre application à l'aide d’observations étayées par des graphes et/ou tests statistiques.</a:t>
            </a:r>
            <a:endParaRPr lang="fr-FR" sz="1400" dirty="0"/>
          </a:p>
          <a:p>
            <a:pPr marL="0" lvl="0" indent="0" algn="l" rtl="0">
              <a:spcBef>
                <a:spcPts val="0"/>
              </a:spcBef>
              <a:spcAft>
                <a:spcPts val="0"/>
              </a:spcAft>
              <a:buClr>
                <a:schemeClr val="dk1"/>
              </a:buClr>
              <a:buSzPts val="1100"/>
              <a:buFont typeface="Arial"/>
              <a:buNone/>
            </a:pPr>
            <a:endParaRPr lang="fr-FR" sz="1200" dirty="0"/>
          </a:p>
          <a:p>
            <a:pPr marL="0" indent="0" algn="l">
              <a:buSzPts val="1100"/>
            </a:pPr>
            <a:endParaRPr lang="fr-FR" sz="1400" dirty="0"/>
          </a:p>
          <a:p>
            <a:pPr marL="0" indent="0" algn="l">
              <a:buSzPts val="1100"/>
            </a:pPr>
            <a:r>
              <a:rPr lang="fr-FR" sz="1400" dirty="0"/>
              <a:t>			Une idée d’application en lien avec la nutrition </a:t>
            </a:r>
            <a:r>
              <a:rPr lang="fr-FR" sz="1400" dirty="0">
                <a:sym typeface="Wingdings" pitchFamily="2" charset="2"/>
              </a:rPr>
              <a:t></a:t>
            </a:r>
            <a:endParaRPr lang="fr-FR" sz="1400" dirty="0"/>
          </a:p>
          <a:p>
            <a:pPr marL="0" lvl="0" indent="0" algn="l" rtl="0">
              <a:spcBef>
                <a:spcPts val="0"/>
              </a:spcBef>
              <a:spcAft>
                <a:spcPts val="0"/>
              </a:spcAft>
              <a:buClr>
                <a:schemeClr val="dk1"/>
              </a:buClr>
              <a:buSzPts val="1100"/>
              <a:buFont typeface="Arial"/>
              <a:buNone/>
            </a:pPr>
            <a:endParaRPr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a:spLocks noGrp="1"/>
          </p:cNvSpPr>
          <p:nvPr>
            <p:ph type="title"/>
          </p:nvPr>
        </p:nvSpPr>
        <p:spPr>
          <a:xfrm>
            <a:off x="762601" y="1427550"/>
            <a:ext cx="4294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Nutri-app</a:t>
            </a:r>
            <a:endParaRPr dirty="0"/>
          </a:p>
        </p:txBody>
      </p:sp>
      <p:sp>
        <p:nvSpPr>
          <p:cNvPr id="237" name="Google Shape;237;p32"/>
          <p:cNvSpPr txBox="1">
            <a:spLocks noGrp="1"/>
          </p:cNvSpPr>
          <p:nvPr>
            <p:ph type="subTitle" idx="1"/>
          </p:nvPr>
        </p:nvSpPr>
        <p:spPr>
          <a:xfrm>
            <a:off x="277200" y="2073667"/>
            <a:ext cx="4294800" cy="171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FR" dirty="0"/>
              <a:t>Une idée d’application avec 3 fonctions</a:t>
            </a:r>
            <a:endParaRPr dirty="0"/>
          </a:p>
          <a:p>
            <a:pPr marL="457200" lvl="0" indent="-304800" algn="l" rtl="0">
              <a:spcBef>
                <a:spcPts val="1000"/>
              </a:spcBef>
              <a:spcAft>
                <a:spcPts val="0"/>
              </a:spcAft>
              <a:buClr>
                <a:schemeClr val="dk2"/>
              </a:buClr>
              <a:buSzPts val="1200"/>
              <a:buChar char="●"/>
            </a:pPr>
            <a:r>
              <a:rPr lang="fr-FR" dirty="0">
                <a:solidFill>
                  <a:schemeClr val="tx2">
                    <a:lumMod val="10000"/>
                  </a:schemeClr>
                </a:solidFill>
              </a:rPr>
              <a:t>Aider les consommateurs à faire des choix alimentaires plus sains</a:t>
            </a:r>
          </a:p>
          <a:p>
            <a:pPr marL="457200" lvl="0" indent="-304800" algn="l" rtl="0">
              <a:spcBef>
                <a:spcPts val="1000"/>
              </a:spcBef>
              <a:spcAft>
                <a:spcPts val="0"/>
              </a:spcAft>
              <a:buClr>
                <a:schemeClr val="dk2"/>
              </a:buClr>
              <a:buSzPts val="1200"/>
              <a:buChar char="●"/>
            </a:pPr>
            <a:r>
              <a:rPr lang="fr-FR" dirty="0">
                <a:solidFill>
                  <a:schemeClr val="tx2">
                    <a:lumMod val="10000"/>
                  </a:schemeClr>
                </a:solidFill>
              </a:rPr>
              <a:t>P</a:t>
            </a:r>
            <a:r>
              <a:rPr lang="en" dirty="0" err="1">
                <a:solidFill>
                  <a:schemeClr val="tx2">
                    <a:lumMod val="10000"/>
                  </a:schemeClr>
                </a:solidFill>
              </a:rPr>
              <a:t>rendre</a:t>
            </a:r>
            <a:r>
              <a:rPr lang="en" dirty="0">
                <a:solidFill>
                  <a:schemeClr val="tx2">
                    <a:lumMod val="10000"/>
                  </a:schemeClr>
                </a:solidFill>
              </a:rPr>
              <a:t> conscience des nutriments </a:t>
            </a:r>
            <a:r>
              <a:rPr lang="en" dirty="0" err="1">
                <a:solidFill>
                  <a:schemeClr val="tx2">
                    <a:lumMod val="10000"/>
                  </a:schemeClr>
                </a:solidFill>
              </a:rPr>
              <a:t>composant</a:t>
            </a:r>
            <a:r>
              <a:rPr lang="en" dirty="0">
                <a:solidFill>
                  <a:schemeClr val="tx2">
                    <a:lumMod val="10000"/>
                  </a:schemeClr>
                </a:solidFill>
              </a:rPr>
              <a:t> </a:t>
            </a:r>
            <a:r>
              <a:rPr lang="en" dirty="0" err="1">
                <a:solidFill>
                  <a:schemeClr val="tx2">
                    <a:lumMod val="10000"/>
                  </a:schemeClr>
                </a:solidFill>
              </a:rPr>
              <a:t>leur</a:t>
            </a:r>
            <a:r>
              <a:rPr lang="en" dirty="0">
                <a:solidFill>
                  <a:schemeClr val="tx2">
                    <a:lumMod val="10000"/>
                  </a:schemeClr>
                </a:solidFill>
              </a:rPr>
              <a:t> assiette</a:t>
            </a:r>
          </a:p>
          <a:p>
            <a:pPr marL="457200" lvl="0" indent="-304800" algn="l" rtl="0">
              <a:spcBef>
                <a:spcPts val="1000"/>
              </a:spcBef>
              <a:spcAft>
                <a:spcPts val="0"/>
              </a:spcAft>
              <a:buClr>
                <a:schemeClr val="dk2"/>
              </a:buClr>
              <a:buSzPts val="1200"/>
              <a:buChar char="●"/>
            </a:pPr>
            <a:r>
              <a:rPr lang="en" dirty="0">
                <a:solidFill>
                  <a:schemeClr val="tx2">
                    <a:lumMod val="10000"/>
                  </a:schemeClr>
                </a:solidFill>
              </a:rPr>
              <a:t>A</a:t>
            </a:r>
            <a:r>
              <a:rPr lang="fr-FR" dirty="0">
                <a:solidFill>
                  <a:schemeClr val="tx2">
                    <a:lumMod val="10000"/>
                  </a:schemeClr>
                </a:solidFill>
              </a:rPr>
              <a:t>voir de meilleures recommandations selon la composition des nutriments d’un produit de même catégorie </a:t>
            </a:r>
            <a:endParaRPr dirty="0">
              <a:solidFill>
                <a:schemeClr val="tx2">
                  <a:lumMod val="10000"/>
                </a:schemeClr>
              </a:solidFill>
            </a:endParaRPr>
          </a:p>
        </p:txBody>
      </p:sp>
      <p:pic>
        <p:nvPicPr>
          <p:cNvPr id="238" name="Google Shape;238;p32"/>
          <p:cNvPicPr preferRelativeResize="0">
            <a:picLocks noGrp="1"/>
          </p:cNvPicPr>
          <p:nvPr>
            <p:ph type="pic" idx="2"/>
          </p:nvPr>
        </p:nvPicPr>
        <p:blipFill>
          <a:blip r:embed="rId3"/>
          <a:srcRect l="10039" r="10039"/>
          <a:stretch/>
        </p:blipFill>
        <p:spPr>
          <a:xfrm>
            <a:off x="4383399" y="496883"/>
            <a:ext cx="3134400" cy="3134400"/>
          </a:xfrm>
          <a:prstGeom prst="roundRect">
            <a:avLst>
              <a:gd name="adj" fmla="val 16667"/>
            </a:avLst>
          </a:prstGeom>
        </p:spPr>
      </p:pic>
      <p:sp>
        <p:nvSpPr>
          <p:cNvPr id="239" name="Google Shape;239;p32"/>
          <p:cNvSpPr/>
          <p:nvPr/>
        </p:nvSpPr>
        <p:spPr>
          <a:xfrm>
            <a:off x="7638450" y="3291400"/>
            <a:ext cx="7554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Google Shape;7031;p57">
            <a:extLst>
              <a:ext uri="{FF2B5EF4-FFF2-40B4-BE49-F238E27FC236}">
                <a16:creationId xmlns:a16="http://schemas.microsoft.com/office/drawing/2014/main" id="{4CB0C965-AAF8-4B07-161E-7C1EF8FE9C71}"/>
              </a:ext>
            </a:extLst>
          </p:cNvPr>
          <p:cNvSpPr/>
          <p:nvPr/>
        </p:nvSpPr>
        <p:spPr>
          <a:xfrm>
            <a:off x="1298625" y="4514992"/>
            <a:ext cx="438011" cy="438010"/>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435C71"/>
          </a:solidFill>
          <a:ln w="19050" cap="flat" cmpd="sng">
            <a:solidFill>
              <a:srgbClr val="435C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33" name="Google Shape;7031;p57">
            <a:extLst>
              <a:ext uri="{FF2B5EF4-FFF2-40B4-BE49-F238E27FC236}">
                <a16:creationId xmlns:a16="http://schemas.microsoft.com/office/drawing/2014/main" id="{243A16F9-A45A-8FC2-5D69-EBBFBA6D50F5}"/>
              </a:ext>
            </a:extLst>
          </p:cNvPr>
          <p:cNvSpPr/>
          <p:nvPr/>
        </p:nvSpPr>
        <p:spPr>
          <a:xfrm>
            <a:off x="1353059" y="3883619"/>
            <a:ext cx="438011" cy="438010"/>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4" name="Google Shape;401;p43">
            <a:extLst>
              <a:ext uri="{FF2B5EF4-FFF2-40B4-BE49-F238E27FC236}">
                <a16:creationId xmlns:a16="http://schemas.microsoft.com/office/drawing/2014/main" id="{5A80446C-6FA3-E013-A06A-374AD4BD1DAC}"/>
              </a:ext>
            </a:extLst>
          </p:cNvPr>
          <p:cNvSpPr txBox="1"/>
          <p:nvPr/>
        </p:nvSpPr>
        <p:spPr>
          <a:xfrm flipH="1">
            <a:off x="287900" y="653609"/>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err="1">
                <a:solidFill>
                  <a:schemeClr val="tx2">
                    <a:lumMod val="10000"/>
                  </a:schemeClr>
                </a:solidFill>
                <a:latin typeface="Quicksand SemiBold"/>
                <a:ea typeface="Quicksand SemiBold"/>
                <a:cs typeface="Quicksand SemiBold"/>
                <a:sym typeface="Quicksand SemiBold"/>
              </a:rPr>
              <a:t>Nettoyage</a:t>
            </a:r>
            <a:r>
              <a:rPr lang="en" sz="2200" dirty="0">
                <a:solidFill>
                  <a:schemeClr val="tx2">
                    <a:lumMod val="10000"/>
                  </a:schemeClr>
                </a:solidFill>
                <a:latin typeface="Quicksand SemiBold"/>
                <a:ea typeface="Quicksand SemiBold"/>
                <a:cs typeface="Quicksand SemiBold"/>
                <a:sym typeface="Quicksand SemiBold"/>
              </a:rPr>
              <a:t> </a:t>
            </a: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1</a:t>
            </a:r>
            <a:endParaRPr sz="3500" dirty="0">
              <a:solidFill>
                <a:schemeClr val="dk2"/>
              </a:solidFill>
              <a:latin typeface="Quicksand SemiBold"/>
              <a:ea typeface="Quicksand SemiBold"/>
              <a:cs typeface="Quicksand SemiBold"/>
              <a:sym typeface="Quicksand SemiBold"/>
            </a:endParaRPr>
          </a:p>
        </p:txBody>
      </p:sp>
      <p:sp>
        <p:nvSpPr>
          <p:cNvPr id="5" name="Google Shape;402;p43">
            <a:extLst>
              <a:ext uri="{FF2B5EF4-FFF2-40B4-BE49-F238E27FC236}">
                <a16:creationId xmlns:a16="http://schemas.microsoft.com/office/drawing/2014/main" id="{F38CB365-1851-8D12-2A71-13261D1D9E0E}"/>
              </a:ext>
            </a:extLst>
          </p:cNvPr>
          <p:cNvSpPr txBox="1"/>
          <p:nvPr/>
        </p:nvSpPr>
        <p:spPr>
          <a:xfrm flipH="1">
            <a:off x="287942" y="1153957"/>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F</a:t>
            </a:r>
            <a:r>
              <a:rPr lang="en" sz="1200" dirty="0" err="1">
                <a:solidFill>
                  <a:schemeClr val="dk1"/>
                </a:solidFill>
                <a:latin typeface="Quicksand Medium"/>
                <a:ea typeface="Quicksand Medium"/>
                <a:cs typeface="Quicksand Medium"/>
                <a:sym typeface="Quicksand Medium"/>
              </a:rPr>
              <a:t>iltre</a:t>
            </a:r>
            <a:r>
              <a:rPr lang="en" sz="1200" dirty="0">
                <a:solidFill>
                  <a:schemeClr val="dk1"/>
                </a:solidFill>
                <a:latin typeface="Quicksand Medium"/>
                <a:ea typeface="Quicksand Medium"/>
                <a:cs typeface="Quicksand Medium"/>
                <a:sym typeface="Quicksand Medium"/>
              </a:rPr>
              <a:t> sur </a:t>
            </a:r>
            <a:r>
              <a:rPr lang="en" sz="1200" dirty="0" err="1">
                <a:solidFill>
                  <a:schemeClr val="dk1"/>
                </a:solidFill>
                <a:latin typeface="Quicksand Medium"/>
                <a:ea typeface="Quicksand Medium"/>
                <a:cs typeface="Quicksand Medium"/>
                <a:sym typeface="Quicksand Medium"/>
              </a:rPr>
              <a:t>données</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pertinentes</a:t>
            </a:r>
            <a:endParaRPr sz="1200" dirty="0">
              <a:solidFill>
                <a:schemeClr val="dk1"/>
              </a:solidFill>
              <a:latin typeface="Quicksand Medium"/>
              <a:ea typeface="Quicksand Medium"/>
              <a:cs typeface="Quicksand Medium"/>
              <a:sym typeface="Quicksand Medium"/>
            </a:endParaRPr>
          </a:p>
        </p:txBody>
      </p:sp>
      <p:sp>
        <p:nvSpPr>
          <p:cNvPr id="6" name="ZoneTexte 5">
            <a:extLst>
              <a:ext uri="{FF2B5EF4-FFF2-40B4-BE49-F238E27FC236}">
                <a16:creationId xmlns:a16="http://schemas.microsoft.com/office/drawing/2014/main" id="{CF2F80C1-2419-1729-0D39-A35504D8C2A4}"/>
              </a:ext>
            </a:extLst>
          </p:cNvPr>
          <p:cNvSpPr txBox="1"/>
          <p:nvPr/>
        </p:nvSpPr>
        <p:spPr>
          <a:xfrm>
            <a:off x="1679177" y="1668595"/>
            <a:ext cx="4572000" cy="954107"/>
          </a:xfrm>
          <a:prstGeom prst="rect">
            <a:avLst/>
          </a:prstGeom>
          <a:noFill/>
        </p:spPr>
        <p:txBody>
          <a:bodyPr wrap="square">
            <a:spAutoFit/>
          </a:bodyPr>
          <a:lstStyle/>
          <a:p>
            <a:endParaRPr lang="fr-FR" dirty="0"/>
          </a:p>
          <a:p>
            <a:endParaRPr lang="fr-FR" dirty="0"/>
          </a:p>
          <a:p>
            <a:endParaRPr lang="fr-FR" dirty="0"/>
          </a:p>
          <a:p>
            <a:r>
              <a:rPr lang="fr-FR" b="1" dirty="0"/>
              <a:t>162 </a:t>
            </a:r>
            <a:r>
              <a:rPr lang="fr-FR" dirty="0"/>
              <a:t>variables</a:t>
            </a:r>
          </a:p>
        </p:txBody>
      </p:sp>
      <p:sp>
        <p:nvSpPr>
          <p:cNvPr id="7" name="ZoneTexte 6">
            <a:extLst>
              <a:ext uri="{FF2B5EF4-FFF2-40B4-BE49-F238E27FC236}">
                <a16:creationId xmlns:a16="http://schemas.microsoft.com/office/drawing/2014/main" id="{A0908BF7-FACC-444E-4FDB-4B7ABE9BAB04}"/>
              </a:ext>
            </a:extLst>
          </p:cNvPr>
          <p:cNvSpPr txBox="1"/>
          <p:nvPr/>
        </p:nvSpPr>
        <p:spPr>
          <a:xfrm>
            <a:off x="3274482" y="2167979"/>
            <a:ext cx="2527140" cy="1169551"/>
          </a:xfrm>
          <a:prstGeom prst="rect">
            <a:avLst/>
          </a:prstGeom>
          <a:noFill/>
        </p:spPr>
        <p:txBody>
          <a:bodyPr wrap="square" rtlCol="0">
            <a:spAutoFit/>
          </a:bodyPr>
          <a:lstStyle/>
          <a:p>
            <a:r>
              <a:rPr lang="fr-FR" b="1" dirty="0"/>
              <a:t>aucun doublons</a:t>
            </a:r>
          </a:p>
          <a:p>
            <a:endParaRPr lang="fr-FR" b="1" dirty="0"/>
          </a:p>
          <a:p>
            <a:endParaRPr lang="fr-FR" b="1" dirty="0"/>
          </a:p>
          <a:p>
            <a:endParaRPr lang="fr-FR" b="1" dirty="0"/>
          </a:p>
          <a:p>
            <a:endParaRPr lang="fr-FR" b="1" dirty="0"/>
          </a:p>
        </p:txBody>
      </p:sp>
      <p:grpSp>
        <p:nvGrpSpPr>
          <p:cNvPr id="8" name="Google Shape;7017;p57">
            <a:extLst>
              <a:ext uri="{FF2B5EF4-FFF2-40B4-BE49-F238E27FC236}">
                <a16:creationId xmlns:a16="http://schemas.microsoft.com/office/drawing/2014/main" id="{F48CD80B-CB2C-0A65-57B8-85FD4D17FDD2}"/>
              </a:ext>
            </a:extLst>
          </p:cNvPr>
          <p:cNvGrpSpPr/>
          <p:nvPr/>
        </p:nvGrpSpPr>
        <p:grpSpPr>
          <a:xfrm>
            <a:off x="1313794" y="1485578"/>
            <a:ext cx="5493279" cy="2289119"/>
            <a:chOff x="5194708" y="3484366"/>
            <a:chExt cx="2369266" cy="987304"/>
          </a:xfrm>
        </p:grpSpPr>
        <p:grpSp>
          <p:nvGrpSpPr>
            <p:cNvPr id="10" name="Google Shape;7022;p57">
              <a:extLst>
                <a:ext uri="{FF2B5EF4-FFF2-40B4-BE49-F238E27FC236}">
                  <a16:creationId xmlns:a16="http://schemas.microsoft.com/office/drawing/2014/main" id="{9132E625-5D38-05D6-B1CA-530DDA542132}"/>
                </a:ext>
              </a:extLst>
            </p:cNvPr>
            <p:cNvGrpSpPr/>
            <p:nvPr/>
          </p:nvGrpSpPr>
          <p:grpSpPr>
            <a:xfrm>
              <a:off x="6752546" y="3484366"/>
              <a:ext cx="811428" cy="987304"/>
              <a:chOff x="2332275" y="1617275"/>
              <a:chExt cx="1090775" cy="1327200"/>
            </a:xfrm>
          </p:grpSpPr>
          <p:sp>
            <p:nvSpPr>
              <p:cNvPr id="19" name="Google Shape;7023;p57">
                <a:extLst>
                  <a:ext uri="{FF2B5EF4-FFF2-40B4-BE49-F238E27FC236}">
                    <a16:creationId xmlns:a16="http://schemas.microsoft.com/office/drawing/2014/main" id="{D253F86B-B94A-A85E-B461-56DC1AB33123}"/>
                  </a:ext>
                </a:extLst>
              </p:cNvPr>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24;p57">
                <a:extLst>
                  <a:ext uri="{FF2B5EF4-FFF2-40B4-BE49-F238E27FC236}">
                    <a16:creationId xmlns:a16="http://schemas.microsoft.com/office/drawing/2014/main" id="{389AF92D-B190-3A0C-A638-2A4AA8D91080}"/>
                  </a:ext>
                </a:extLst>
              </p:cNvPr>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25;p57">
                <a:extLst>
                  <a:ext uri="{FF2B5EF4-FFF2-40B4-BE49-F238E27FC236}">
                    <a16:creationId xmlns:a16="http://schemas.microsoft.com/office/drawing/2014/main" id="{95E84971-5333-CC64-1529-80EBDDAB0EC3}"/>
                  </a:ext>
                </a:extLst>
              </p:cNvPr>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026;p57">
              <a:extLst>
                <a:ext uri="{FF2B5EF4-FFF2-40B4-BE49-F238E27FC236}">
                  <a16:creationId xmlns:a16="http://schemas.microsoft.com/office/drawing/2014/main" id="{5DF3CA7A-877A-C6BF-0CEE-F15B7B778A3D}"/>
                </a:ext>
              </a:extLst>
            </p:cNvPr>
            <p:cNvGrpSpPr/>
            <p:nvPr/>
          </p:nvGrpSpPr>
          <p:grpSpPr>
            <a:xfrm>
              <a:off x="5973664" y="3484366"/>
              <a:ext cx="811335" cy="987304"/>
              <a:chOff x="1285250" y="1617275"/>
              <a:chExt cx="1090650" cy="1327200"/>
            </a:xfrm>
          </p:grpSpPr>
          <p:sp>
            <p:nvSpPr>
              <p:cNvPr id="16" name="Google Shape;7027;p57">
                <a:extLst>
                  <a:ext uri="{FF2B5EF4-FFF2-40B4-BE49-F238E27FC236}">
                    <a16:creationId xmlns:a16="http://schemas.microsoft.com/office/drawing/2014/main" id="{2672C549-1733-A789-F7CC-4B7ACEBDDBCF}"/>
                  </a:ext>
                </a:extLst>
              </p:cNvPr>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028;p57">
                <a:extLst>
                  <a:ext uri="{FF2B5EF4-FFF2-40B4-BE49-F238E27FC236}">
                    <a16:creationId xmlns:a16="http://schemas.microsoft.com/office/drawing/2014/main" id="{ED4E4D51-EFFF-EFB3-5BFE-DA43CE0A307E}"/>
                  </a:ext>
                </a:extLst>
              </p:cNvPr>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29;p57">
                <a:extLst>
                  <a:ext uri="{FF2B5EF4-FFF2-40B4-BE49-F238E27FC236}">
                    <a16:creationId xmlns:a16="http://schemas.microsoft.com/office/drawing/2014/main" id="{2DF06288-9363-C8C0-2629-29A0536600CA}"/>
                  </a:ext>
                </a:extLst>
              </p:cNvPr>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7030;p57">
              <a:extLst>
                <a:ext uri="{FF2B5EF4-FFF2-40B4-BE49-F238E27FC236}">
                  <a16:creationId xmlns:a16="http://schemas.microsoft.com/office/drawing/2014/main" id="{EFEC8A9C-D701-D720-23CC-1C18CCDAB7C9}"/>
                </a:ext>
              </a:extLst>
            </p:cNvPr>
            <p:cNvGrpSpPr/>
            <p:nvPr/>
          </p:nvGrpSpPr>
          <p:grpSpPr>
            <a:xfrm>
              <a:off x="5194708" y="3484366"/>
              <a:ext cx="811409" cy="987304"/>
              <a:chOff x="238125" y="1617275"/>
              <a:chExt cx="1090750" cy="1327200"/>
            </a:xfrm>
          </p:grpSpPr>
          <p:sp>
            <p:nvSpPr>
              <p:cNvPr id="13" name="Google Shape;7031;p57">
                <a:extLst>
                  <a:ext uri="{FF2B5EF4-FFF2-40B4-BE49-F238E27FC236}">
                    <a16:creationId xmlns:a16="http://schemas.microsoft.com/office/drawing/2014/main" id="{9E080707-4B2D-68FA-33CF-4948A9546FDC}"/>
                  </a:ext>
                </a:extLst>
              </p:cNvPr>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14" name="Google Shape;7032;p57">
                <a:extLst>
                  <a:ext uri="{FF2B5EF4-FFF2-40B4-BE49-F238E27FC236}">
                    <a16:creationId xmlns:a16="http://schemas.microsoft.com/office/drawing/2014/main" id="{4E9D7CCB-AA9E-2B93-E9AB-06930FF030A4}"/>
                  </a:ext>
                </a:extLst>
              </p:cNvPr>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033;p57">
                <a:extLst>
                  <a:ext uri="{FF2B5EF4-FFF2-40B4-BE49-F238E27FC236}">
                    <a16:creationId xmlns:a16="http://schemas.microsoft.com/office/drawing/2014/main" id="{FA079E24-05C0-5A3E-CEF8-1E5180CCDD04}"/>
                  </a:ext>
                </a:extLst>
              </p:cNvPr>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 name="ZoneTexte 25">
            <a:extLst>
              <a:ext uri="{FF2B5EF4-FFF2-40B4-BE49-F238E27FC236}">
                <a16:creationId xmlns:a16="http://schemas.microsoft.com/office/drawing/2014/main" id="{BB4FC9E5-79DF-0829-6C3E-731DC577F6A5}"/>
              </a:ext>
            </a:extLst>
          </p:cNvPr>
          <p:cNvSpPr txBox="1"/>
          <p:nvPr/>
        </p:nvSpPr>
        <p:spPr>
          <a:xfrm>
            <a:off x="1679177" y="2058720"/>
            <a:ext cx="4572000" cy="307777"/>
          </a:xfrm>
          <a:prstGeom prst="rect">
            <a:avLst/>
          </a:prstGeom>
          <a:noFill/>
        </p:spPr>
        <p:txBody>
          <a:bodyPr wrap="square">
            <a:spAutoFit/>
          </a:bodyPr>
          <a:lstStyle/>
          <a:p>
            <a:r>
              <a:rPr lang="fr-FR" b="1" dirty="0"/>
              <a:t>320772</a:t>
            </a:r>
            <a:r>
              <a:rPr lang="fr-FR" dirty="0"/>
              <a:t> lignes</a:t>
            </a:r>
          </a:p>
        </p:txBody>
      </p:sp>
      <p:sp>
        <p:nvSpPr>
          <p:cNvPr id="28" name="ZoneTexte 27">
            <a:extLst>
              <a:ext uri="{FF2B5EF4-FFF2-40B4-BE49-F238E27FC236}">
                <a16:creationId xmlns:a16="http://schemas.microsoft.com/office/drawing/2014/main" id="{8819B2A3-5786-B7A8-555F-E3C69DF8E532}"/>
              </a:ext>
            </a:extLst>
          </p:cNvPr>
          <p:cNvSpPr txBox="1"/>
          <p:nvPr/>
        </p:nvSpPr>
        <p:spPr>
          <a:xfrm>
            <a:off x="1332029" y="3520431"/>
            <a:ext cx="1806098" cy="1384995"/>
          </a:xfrm>
          <a:prstGeom prst="rect">
            <a:avLst/>
          </a:prstGeom>
          <a:noFill/>
        </p:spPr>
        <p:txBody>
          <a:bodyPr wrap="square" rtlCol="0">
            <a:spAutoFit/>
          </a:bodyPr>
          <a:lstStyle/>
          <a:p>
            <a:r>
              <a:rPr lang="fr-FR" dirty="0"/>
              <a:t>Dont :</a:t>
            </a:r>
          </a:p>
          <a:p>
            <a:endParaRPr lang="fr-FR" dirty="0"/>
          </a:p>
          <a:p>
            <a:r>
              <a:rPr lang="fr-FR" dirty="0"/>
              <a:t>106 quantitatives et</a:t>
            </a:r>
          </a:p>
          <a:p>
            <a:endParaRPr lang="fr-FR" dirty="0"/>
          </a:p>
          <a:p>
            <a:endParaRPr lang="fr-FR" dirty="0"/>
          </a:p>
          <a:p>
            <a:r>
              <a:rPr lang="fr-FR" dirty="0">
                <a:solidFill>
                  <a:schemeClr val="accent1"/>
                </a:solidFill>
              </a:rPr>
              <a:t>56</a:t>
            </a:r>
            <a:r>
              <a:rPr lang="fr-FR" dirty="0"/>
              <a:t> qualitatives</a:t>
            </a:r>
          </a:p>
        </p:txBody>
      </p:sp>
      <p:sp>
        <p:nvSpPr>
          <p:cNvPr id="30" name="ZoneTexte 29">
            <a:extLst>
              <a:ext uri="{FF2B5EF4-FFF2-40B4-BE49-F238E27FC236}">
                <a16:creationId xmlns:a16="http://schemas.microsoft.com/office/drawing/2014/main" id="{F5D18BDC-9180-F115-708A-6F82028ED71A}"/>
              </a:ext>
            </a:extLst>
          </p:cNvPr>
          <p:cNvSpPr txBox="1"/>
          <p:nvPr/>
        </p:nvSpPr>
        <p:spPr>
          <a:xfrm>
            <a:off x="4708725" y="3865870"/>
            <a:ext cx="4572000" cy="1169551"/>
          </a:xfrm>
          <a:prstGeom prst="rect">
            <a:avLst/>
          </a:prstGeom>
          <a:noFill/>
        </p:spPr>
        <p:txBody>
          <a:bodyPr wrap="square">
            <a:spAutoFit/>
          </a:bodyPr>
          <a:lstStyle/>
          <a:p>
            <a:endParaRPr lang="fr-FR" b="1" dirty="0"/>
          </a:p>
          <a:p>
            <a:r>
              <a:rPr lang="fr-FR" dirty="0"/>
              <a:t>Filtre sur les colonnes pertinentes :</a:t>
            </a:r>
          </a:p>
          <a:p>
            <a:r>
              <a:rPr lang="fr-FR" dirty="0"/>
              <a:t>Je ne garde que 25 colonnes pour mon application, celles avec les nutriments, les noms de produits et les groupes pnns1 et pnns2</a:t>
            </a:r>
          </a:p>
        </p:txBody>
      </p:sp>
      <p:sp>
        <p:nvSpPr>
          <p:cNvPr id="32" name="ZoneTexte 31">
            <a:extLst>
              <a:ext uri="{FF2B5EF4-FFF2-40B4-BE49-F238E27FC236}">
                <a16:creationId xmlns:a16="http://schemas.microsoft.com/office/drawing/2014/main" id="{1C8CF948-CD6A-AFA2-10DA-3723BFA4F6EE}"/>
              </a:ext>
            </a:extLst>
          </p:cNvPr>
          <p:cNvSpPr txBox="1"/>
          <p:nvPr/>
        </p:nvSpPr>
        <p:spPr>
          <a:xfrm>
            <a:off x="5303500" y="2148456"/>
            <a:ext cx="4642756" cy="523220"/>
          </a:xfrm>
          <a:prstGeom prst="rect">
            <a:avLst/>
          </a:prstGeom>
          <a:noFill/>
        </p:spPr>
        <p:txBody>
          <a:bodyPr wrap="square">
            <a:spAutoFit/>
          </a:bodyPr>
          <a:lstStyle/>
          <a:p>
            <a:r>
              <a:rPr lang="fr-FR" b="1" dirty="0"/>
              <a:t>Après filtre :</a:t>
            </a:r>
          </a:p>
          <a:p>
            <a:r>
              <a:rPr lang="fr-FR" b="1" dirty="0"/>
              <a:t>25 </a:t>
            </a:r>
            <a:r>
              <a:rPr lang="fr-FR" dirty="0"/>
              <a:t>variables</a:t>
            </a:r>
          </a:p>
        </p:txBody>
      </p:sp>
    </p:spTree>
    <p:extLst>
      <p:ext uri="{BB962C8B-B14F-4D97-AF65-F5344CB8AC3E}">
        <p14:creationId xmlns:p14="http://schemas.microsoft.com/office/powerpoint/2010/main" val="4289741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9;p43">
            <a:extLst>
              <a:ext uri="{FF2B5EF4-FFF2-40B4-BE49-F238E27FC236}">
                <a16:creationId xmlns:a16="http://schemas.microsoft.com/office/drawing/2014/main" id="{5C3B707B-6084-A78F-A25E-02EB62E74FA3}"/>
              </a:ext>
            </a:extLst>
          </p:cNvPr>
          <p:cNvSpPr txBox="1"/>
          <p:nvPr/>
        </p:nvSpPr>
        <p:spPr>
          <a:xfrm flipH="1">
            <a:off x="7071099" y="1156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a:solidFill>
                  <a:schemeClr val="dk1"/>
                </a:solidFill>
                <a:latin typeface="Quicksand SemiBold"/>
                <a:ea typeface="Quicksand SemiBold"/>
                <a:cs typeface="Quicksand SemiBold"/>
                <a:sym typeface="Quicksand SemiBold"/>
              </a:rPr>
              <a:t>Step</a:t>
            </a:r>
            <a:r>
              <a:rPr lang="en" sz="3500">
                <a:solidFill>
                  <a:schemeClr val="dk2"/>
                </a:solidFill>
                <a:latin typeface="Quicksand SemiBold"/>
                <a:ea typeface="Quicksand SemiBold"/>
                <a:cs typeface="Quicksand SemiBold"/>
                <a:sym typeface="Quicksand SemiBold"/>
              </a:rPr>
              <a:t> 2</a:t>
            </a:r>
            <a:endParaRPr sz="3500">
              <a:solidFill>
                <a:schemeClr val="dk2"/>
              </a:solidFill>
              <a:latin typeface="Quicksand SemiBold"/>
              <a:ea typeface="Quicksand SemiBold"/>
              <a:cs typeface="Quicksand SemiBold"/>
              <a:sym typeface="Quicksand SemiBold"/>
            </a:endParaRPr>
          </a:p>
        </p:txBody>
      </p:sp>
      <p:sp>
        <p:nvSpPr>
          <p:cNvPr id="5" name="Google Shape;410;p43">
            <a:extLst>
              <a:ext uri="{FF2B5EF4-FFF2-40B4-BE49-F238E27FC236}">
                <a16:creationId xmlns:a16="http://schemas.microsoft.com/office/drawing/2014/main" id="{EB446DFF-1DCD-3A02-1052-6AFE9C00AF7C}"/>
              </a:ext>
            </a:extLst>
          </p:cNvPr>
          <p:cNvSpPr txBox="1"/>
          <p:nvPr/>
        </p:nvSpPr>
        <p:spPr>
          <a:xfrm flipH="1">
            <a:off x="7071141" y="615973"/>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rPr>
              <a:t>opérations de nettoyage effectuées, </a:t>
            </a:r>
            <a:r>
              <a:rPr lang="fr-FR" sz="1200" dirty="0" err="1">
                <a:solidFill>
                  <a:schemeClr val="dk1"/>
                </a:solidFill>
                <a:latin typeface="Quicksand Medium"/>
              </a:rPr>
              <a:t>outliers</a:t>
            </a:r>
            <a:endParaRPr sz="1200" dirty="0">
              <a:solidFill>
                <a:schemeClr val="dk1"/>
              </a:solidFill>
              <a:latin typeface="Quicksand Medium"/>
              <a:sym typeface="Quicksand Medium"/>
            </a:endParaRPr>
          </a:p>
        </p:txBody>
      </p:sp>
      <p:sp>
        <p:nvSpPr>
          <p:cNvPr id="6" name="ZoneTexte 5">
            <a:extLst>
              <a:ext uri="{FF2B5EF4-FFF2-40B4-BE49-F238E27FC236}">
                <a16:creationId xmlns:a16="http://schemas.microsoft.com/office/drawing/2014/main" id="{2597D93B-69AB-2290-5683-9C77E72C48B6}"/>
              </a:ext>
            </a:extLst>
          </p:cNvPr>
          <p:cNvSpPr txBox="1"/>
          <p:nvPr/>
        </p:nvSpPr>
        <p:spPr>
          <a:xfrm>
            <a:off x="445477" y="775873"/>
            <a:ext cx="8698523" cy="3970318"/>
          </a:xfrm>
          <a:prstGeom prst="rect">
            <a:avLst/>
          </a:prstGeom>
          <a:noFill/>
        </p:spPr>
        <p:txBody>
          <a:bodyPr wrap="square" rtlCol="0">
            <a:spAutoFit/>
          </a:bodyPr>
          <a:lstStyle/>
          <a:p>
            <a:r>
              <a:rPr lang="fr-FR" b="1" i="0" dirty="0">
                <a:effectLst/>
                <a:latin typeface="Söhne"/>
              </a:rPr>
              <a:t>1- Identification des </a:t>
            </a:r>
            <a:r>
              <a:rPr lang="fr-FR" b="1" i="0" dirty="0" err="1">
                <a:effectLst/>
                <a:latin typeface="Söhne"/>
              </a:rPr>
              <a:t>outliers</a:t>
            </a:r>
            <a:r>
              <a:rPr lang="fr-FR" b="0" i="0" dirty="0">
                <a:solidFill>
                  <a:srgbClr val="374151"/>
                </a:solidFill>
                <a:effectLst/>
                <a:latin typeface="Söhne"/>
              </a:rPr>
              <a:t> :</a:t>
            </a:r>
          </a:p>
          <a:p>
            <a:endParaRPr lang="fr-FR" dirty="0"/>
          </a:p>
          <a:p>
            <a:r>
              <a:rPr lang="fr-FR" dirty="0"/>
              <a:t>• Définir et trouver ce que sont des </a:t>
            </a:r>
            <a:r>
              <a:rPr lang="fr-FR" dirty="0" err="1"/>
              <a:t>outliers</a:t>
            </a:r>
            <a:r>
              <a:rPr lang="fr-FR" dirty="0"/>
              <a:t> dans ce </a:t>
            </a:r>
            <a:r>
              <a:rPr lang="fr-FR" dirty="0" err="1"/>
              <a:t>dataset</a:t>
            </a:r>
            <a:r>
              <a:rPr lang="fr-FR" dirty="0"/>
              <a:t> :</a:t>
            </a:r>
          </a:p>
          <a:p>
            <a:endParaRPr lang="fr-FR" dirty="0"/>
          </a:p>
          <a:p>
            <a:r>
              <a:rPr lang="fr-FR" dirty="0"/>
              <a:t>• suppression des valeurs négatives dans la composition des  nutriments</a:t>
            </a:r>
          </a:p>
          <a:p>
            <a:endParaRPr lang="fr-FR" dirty="0"/>
          </a:p>
          <a:p>
            <a:endParaRPr lang="fr-FR" dirty="0"/>
          </a:p>
          <a:p>
            <a:r>
              <a:rPr lang="fr-FR" b="1" i="0" dirty="0">
                <a:effectLst/>
                <a:latin typeface="UICTFontTextStyleBody"/>
              </a:rPr>
              <a:t>-</a:t>
            </a:r>
            <a:r>
              <a:rPr lang="fr-FR" b="1" i="0" dirty="0" err="1">
                <a:effectLst/>
                <a:latin typeface="UICTFontTextStyleBody"/>
              </a:rPr>
              <a:t>Outliers</a:t>
            </a:r>
            <a:r>
              <a:rPr lang="fr-FR" b="1" i="0" dirty="0">
                <a:effectLst/>
                <a:latin typeface="UICTFontTextStyleBody"/>
              </a:rPr>
              <a:t> :</a:t>
            </a:r>
            <a:endParaRPr lang="fr-FR" dirty="0">
              <a:effectLst/>
              <a:latin typeface=".AppleSystemUIFont"/>
            </a:endParaRPr>
          </a:p>
          <a:p>
            <a:pPr algn="l"/>
            <a:r>
              <a:rPr lang="fr-FR" b="0" i="0" u="none" strike="noStrike" dirty="0">
                <a:solidFill>
                  <a:srgbClr val="374151"/>
                </a:solidFill>
                <a:effectLst/>
                <a:latin typeface="Söhne"/>
              </a:rPr>
              <a:t>Les bornes de valeurs acceptables pour l'énergie ont été définies :</a:t>
            </a:r>
          </a:p>
          <a:p>
            <a:pPr marL="742950" lvl="1" indent="-285750" algn="l">
              <a:buFont typeface="+mj-lt"/>
              <a:buAutoNum type="arabicPeriod"/>
            </a:pPr>
            <a:r>
              <a:rPr lang="fr-FR" b="0" i="0" u="none" strike="noStrike" dirty="0">
                <a:solidFill>
                  <a:srgbClr val="374151"/>
                </a:solidFill>
                <a:effectLst/>
                <a:latin typeface="Söhne"/>
              </a:rPr>
              <a:t>Limite supérieure : 3765 kJ</a:t>
            </a:r>
          </a:p>
          <a:p>
            <a:pPr marL="742950" lvl="1" indent="-285750" algn="l">
              <a:buFont typeface="+mj-lt"/>
              <a:buAutoNum type="arabicPeriod"/>
            </a:pPr>
            <a:r>
              <a:rPr lang="fr-FR" b="0" i="0" u="none" strike="noStrike" dirty="0">
                <a:solidFill>
                  <a:srgbClr val="374151"/>
                </a:solidFill>
                <a:effectLst/>
                <a:latin typeface="Söhne"/>
              </a:rPr>
              <a:t>Limite inférieure : équivalent en Joules d'une calorie (1 calorie = 4,184 J)</a:t>
            </a:r>
          </a:p>
          <a:p>
            <a:pPr marL="457200" lvl="1" algn="l"/>
            <a:r>
              <a:rPr lang="fr-FR" b="0" i="0" u="none" strike="noStrike" dirty="0">
                <a:solidFill>
                  <a:srgbClr val="374151"/>
                </a:solidFill>
                <a:effectLst/>
                <a:latin typeface="Söhne"/>
              </a:rPr>
              <a:t>Suppression </a:t>
            </a:r>
            <a:r>
              <a:rPr lang="fr-FR" dirty="0">
                <a:solidFill>
                  <a:srgbClr val="374151"/>
                </a:solidFill>
                <a:latin typeface="Söhne"/>
              </a:rPr>
              <a:t>d</a:t>
            </a:r>
            <a:r>
              <a:rPr lang="fr-FR" b="0" i="0" u="none" strike="noStrike" dirty="0">
                <a:solidFill>
                  <a:srgbClr val="374151"/>
                </a:solidFill>
                <a:effectLst/>
                <a:latin typeface="Söhne"/>
              </a:rPr>
              <a:t>es observations contenant des </a:t>
            </a:r>
            <a:r>
              <a:rPr lang="fr-FR" b="0" i="0" u="none" strike="noStrike" dirty="0" err="1">
                <a:solidFill>
                  <a:srgbClr val="374151"/>
                </a:solidFill>
                <a:effectLst/>
                <a:latin typeface="Söhne"/>
              </a:rPr>
              <a:t>outliers</a:t>
            </a:r>
            <a:endParaRPr lang="fr-FR" b="0" i="0" u="none" strike="noStrike" dirty="0">
              <a:solidFill>
                <a:srgbClr val="374151"/>
              </a:solidFill>
              <a:effectLst/>
              <a:latin typeface="Söhne"/>
            </a:endParaRPr>
          </a:p>
          <a:p>
            <a:endParaRPr lang="fr-FR" dirty="0">
              <a:latin typeface="UICTFontTextStyleBody"/>
            </a:endParaRPr>
          </a:p>
          <a:p>
            <a:endParaRPr lang="fr-FR" dirty="0">
              <a:latin typeface="UICTFontTextStyleBody"/>
            </a:endParaRPr>
          </a:p>
          <a:p>
            <a:endParaRPr lang="fr-FR" dirty="0">
              <a:latin typeface="UICTFontTextStyleBody"/>
            </a:endParaRPr>
          </a:p>
          <a:p>
            <a:r>
              <a:rPr lang="fr-FR" b="1" dirty="0">
                <a:effectLst/>
                <a:latin typeface="UICTFontTextStyleBody"/>
              </a:rPr>
              <a:t>Suppression de la catégorie « </a:t>
            </a:r>
            <a:r>
              <a:rPr lang="fr-FR" b="1" dirty="0" err="1">
                <a:effectLst/>
                <a:latin typeface="UICTFontTextStyleBody"/>
              </a:rPr>
              <a:t>unknown</a:t>
            </a:r>
            <a:r>
              <a:rPr lang="fr-FR" b="1" dirty="0">
                <a:effectLst/>
                <a:latin typeface="UICTFontTextStyleBody"/>
              </a:rPr>
              <a:t> »</a:t>
            </a:r>
            <a:endParaRPr lang="fr-FR" b="1" dirty="0">
              <a:effectLst/>
              <a:latin typeface=".AppleSystemUIFont"/>
            </a:endParaRPr>
          </a:p>
          <a:p>
            <a:endParaRPr lang="fr-FR" dirty="0"/>
          </a:p>
          <a:p>
            <a:endParaRPr lang="fr-FR" dirty="0"/>
          </a:p>
        </p:txBody>
      </p:sp>
    </p:spTree>
    <p:extLst>
      <p:ext uri="{BB962C8B-B14F-4D97-AF65-F5344CB8AC3E}">
        <p14:creationId xmlns:p14="http://schemas.microsoft.com/office/powerpoint/2010/main" val="260789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3;p43">
            <a:extLst>
              <a:ext uri="{FF2B5EF4-FFF2-40B4-BE49-F238E27FC236}">
                <a16:creationId xmlns:a16="http://schemas.microsoft.com/office/drawing/2014/main" id="{BBD14D34-6EA5-EFA6-F9CE-196FDD33363A}"/>
              </a:ext>
            </a:extLst>
          </p:cNvPr>
          <p:cNvSpPr txBox="1"/>
          <p:nvPr/>
        </p:nvSpPr>
        <p:spPr>
          <a:xfrm flipH="1">
            <a:off x="315817" y="227207"/>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3</a:t>
            </a:r>
            <a:endParaRPr sz="3500" dirty="0">
              <a:solidFill>
                <a:schemeClr val="dk2"/>
              </a:solidFill>
              <a:latin typeface="Quicksand SemiBold"/>
              <a:ea typeface="Quicksand SemiBold"/>
              <a:cs typeface="Quicksand SemiBold"/>
              <a:sym typeface="Quicksand SemiBold"/>
            </a:endParaRPr>
          </a:p>
        </p:txBody>
      </p:sp>
      <p:sp>
        <p:nvSpPr>
          <p:cNvPr id="5" name="Google Shape;404;p43">
            <a:extLst>
              <a:ext uri="{FF2B5EF4-FFF2-40B4-BE49-F238E27FC236}">
                <a16:creationId xmlns:a16="http://schemas.microsoft.com/office/drawing/2014/main" id="{790F865B-9989-A9B3-D1EE-177DDDF30EAB}"/>
              </a:ext>
            </a:extLst>
          </p:cNvPr>
          <p:cNvSpPr txBox="1"/>
          <p:nvPr/>
        </p:nvSpPr>
        <p:spPr>
          <a:xfrm flipH="1">
            <a:off x="315859" y="727555"/>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sym typeface="Quicksand Medium"/>
              </a:rPr>
              <a:t>Imputation des données manquantes</a:t>
            </a:r>
            <a:endParaRPr sz="1200" dirty="0">
              <a:solidFill>
                <a:schemeClr val="dk1"/>
              </a:solidFill>
              <a:latin typeface="Quicksand Medium"/>
              <a:sym typeface="Quicksand Medium"/>
            </a:endParaRPr>
          </a:p>
        </p:txBody>
      </p:sp>
      <p:sp>
        <p:nvSpPr>
          <p:cNvPr id="6" name="ZoneTexte 5">
            <a:extLst>
              <a:ext uri="{FF2B5EF4-FFF2-40B4-BE49-F238E27FC236}">
                <a16:creationId xmlns:a16="http://schemas.microsoft.com/office/drawing/2014/main" id="{9875429C-EDCF-A404-0EB8-98C4D8BBD97C}"/>
              </a:ext>
            </a:extLst>
          </p:cNvPr>
          <p:cNvSpPr txBox="1"/>
          <p:nvPr/>
        </p:nvSpPr>
        <p:spPr>
          <a:xfrm>
            <a:off x="2051538" y="2884968"/>
            <a:ext cx="5650523" cy="2031325"/>
          </a:xfrm>
          <a:prstGeom prst="rect">
            <a:avLst/>
          </a:prstGeom>
          <a:noFill/>
        </p:spPr>
        <p:txBody>
          <a:bodyPr wrap="square" rtlCol="0">
            <a:spAutoFit/>
          </a:bodyPr>
          <a:lstStyle/>
          <a:p>
            <a:endParaRPr lang="fr-FR" dirty="0"/>
          </a:p>
          <a:p>
            <a:r>
              <a:rPr lang="fr-FR" b="1" dirty="0"/>
              <a:t>.KNN imputer</a:t>
            </a:r>
          </a:p>
          <a:p>
            <a:br>
              <a:rPr lang="fr-FR" dirty="0"/>
            </a:br>
            <a:r>
              <a:rPr lang="fr-FR" b="0" i="0" u="none" strike="noStrike" dirty="0">
                <a:solidFill>
                  <a:srgbClr val="374151"/>
                </a:solidFill>
                <a:effectLst/>
                <a:latin typeface="Söhne"/>
              </a:rPr>
              <a:t>Le KNN Imputer estime les valeurs manquantes en utilisant les k plus proches voisins dans l'ensemble de données, en tenant compte de la similarité des caractéristiques. </a:t>
            </a:r>
            <a:r>
              <a:rPr lang="fr-FR" b="1" i="0" u="none" strike="noStrike" dirty="0" err="1">
                <a:solidFill>
                  <a:srgbClr val="374151"/>
                </a:solidFill>
                <a:effectLst/>
                <a:latin typeface="Söhne"/>
              </a:rPr>
              <a:t>One-hot</a:t>
            </a:r>
            <a:r>
              <a:rPr lang="fr-FR" b="1" i="0" u="none" strike="noStrike" dirty="0">
                <a:solidFill>
                  <a:srgbClr val="374151"/>
                </a:solidFill>
                <a:effectLst/>
                <a:latin typeface="Söhne"/>
              </a:rPr>
              <a:t> </a:t>
            </a:r>
            <a:r>
              <a:rPr lang="fr-FR" b="1" i="0" u="none" strike="noStrike" dirty="0" err="1">
                <a:solidFill>
                  <a:srgbClr val="374151"/>
                </a:solidFill>
                <a:effectLst/>
                <a:latin typeface="Söhne"/>
              </a:rPr>
              <a:t>encoding</a:t>
            </a:r>
            <a:r>
              <a:rPr lang="fr-FR" b="1" i="0" u="none" strike="noStrike" dirty="0">
                <a:solidFill>
                  <a:srgbClr val="374151"/>
                </a:solidFill>
                <a:effectLst/>
                <a:latin typeface="Söhne"/>
              </a:rPr>
              <a:t> </a:t>
            </a:r>
            <a:r>
              <a:rPr lang="fr-FR" b="0" i="0" u="none" strike="noStrike" dirty="0">
                <a:solidFill>
                  <a:srgbClr val="374151"/>
                </a:solidFill>
                <a:effectLst/>
                <a:latin typeface="Söhne"/>
              </a:rPr>
              <a:t>transforme les variables catégorielles en variables binaires pour chaque catégorie, permettant aux algorithmes d'apprentissage automatique de traiter efficacement les données catégorielles.</a:t>
            </a:r>
            <a:endParaRPr lang="fr-FR" dirty="0"/>
          </a:p>
        </p:txBody>
      </p:sp>
      <p:sp>
        <p:nvSpPr>
          <p:cNvPr id="7" name="ZoneTexte 6">
            <a:extLst>
              <a:ext uri="{FF2B5EF4-FFF2-40B4-BE49-F238E27FC236}">
                <a16:creationId xmlns:a16="http://schemas.microsoft.com/office/drawing/2014/main" id="{F8D39345-C2BF-EE5D-505B-D8FE317AE5B7}"/>
              </a:ext>
            </a:extLst>
          </p:cNvPr>
          <p:cNvSpPr txBox="1"/>
          <p:nvPr/>
        </p:nvSpPr>
        <p:spPr>
          <a:xfrm>
            <a:off x="2051538" y="227207"/>
            <a:ext cx="6776603" cy="2462213"/>
          </a:xfrm>
          <a:prstGeom prst="rect">
            <a:avLst/>
          </a:prstGeom>
          <a:noFill/>
        </p:spPr>
        <p:txBody>
          <a:bodyPr wrap="square" rtlCol="0">
            <a:spAutoFit/>
          </a:bodyPr>
          <a:lstStyle/>
          <a:p>
            <a:r>
              <a:rPr lang="fr-FR" b="1" i="0" u="none" strike="noStrike" dirty="0" err="1">
                <a:solidFill>
                  <a:srgbClr val="374151"/>
                </a:solidFill>
                <a:effectLst/>
                <a:latin typeface="Söhne"/>
              </a:rPr>
              <a:t>kNN</a:t>
            </a:r>
            <a:r>
              <a:rPr lang="fr-FR" b="1" i="0" u="none" strike="noStrike" dirty="0">
                <a:solidFill>
                  <a:srgbClr val="374151"/>
                </a:solidFill>
                <a:effectLst/>
                <a:latin typeface="Söhne"/>
              </a:rPr>
              <a:t> Classifier</a:t>
            </a:r>
            <a:r>
              <a:rPr lang="fr-FR" b="0" i="0" u="none" strike="noStrike" dirty="0">
                <a:solidFill>
                  <a:srgbClr val="374151"/>
                </a:solidFill>
                <a:effectLst/>
                <a:latin typeface="Söhne"/>
              </a:rPr>
              <a:t>: Cet algorithme est utilisé pour résoudre les problèmes de classification, où l'objectif est de prédire une étiquette de classe. Pour une nouvelle observation, le </a:t>
            </a:r>
            <a:r>
              <a:rPr lang="fr-FR" b="0" i="0" u="none" strike="noStrike" dirty="0" err="1">
                <a:solidFill>
                  <a:srgbClr val="374151"/>
                </a:solidFill>
                <a:effectLst/>
                <a:latin typeface="Söhne"/>
              </a:rPr>
              <a:t>kNN</a:t>
            </a:r>
            <a:r>
              <a:rPr lang="fr-FR" b="0" i="0" u="none" strike="noStrike" dirty="0">
                <a:solidFill>
                  <a:srgbClr val="374151"/>
                </a:solidFill>
                <a:effectLst/>
                <a:latin typeface="Söhne"/>
              </a:rPr>
              <a:t> Classifier identifie les k voisins les plus proches dans l'espace des caractéristiques et attribue à l'observation la classe majoritaire parmi ces voisins.</a:t>
            </a:r>
          </a:p>
          <a:p>
            <a:endParaRPr lang="fr-FR" dirty="0"/>
          </a:p>
          <a:p>
            <a:endParaRPr lang="fr-FR" dirty="0"/>
          </a:p>
          <a:p>
            <a:pPr algn="l">
              <a:buFont typeface="Arial" panose="020B0604020202020204" pitchFamily="34" charset="0"/>
              <a:buChar char="•"/>
            </a:pPr>
            <a:r>
              <a:rPr lang="fr-FR" b="1" i="0" u="none" strike="noStrike" dirty="0" err="1">
                <a:solidFill>
                  <a:srgbClr val="374151"/>
                </a:solidFill>
                <a:effectLst/>
                <a:latin typeface="Söhne"/>
              </a:rPr>
              <a:t>kNN</a:t>
            </a:r>
            <a:r>
              <a:rPr lang="fr-FR" b="1" i="0" u="none" strike="noStrike" dirty="0">
                <a:solidFill>
                  <a:srgbClr val="374151"/>
                </a:solidFill>
                <a:effectLst/>
                <a:latin typeface="Söhne"/>
              </a:rPr>
              <a:t> </a:t>
            </a:r>
            <a:r>
              <a:rPr lang="fr-FR" b="1" i="0" u="none" strike="noStrike" dirty="0" err="1">
                <a:solidFill>
                  <a:srgbClr val="374151"/>
                </a:solidFill>
                <a:effectLst/>
                <a:latin typeface="Söhne"/>
              </a:rPr>
              <a:t>Regressor</a:t>
            </a:r>
            <a:r>
              <a:rPr lang="fr-FR" b="0" i="0" u="none" strike="noStrike" dirty="0">
                <a:solidFill>
                  <a:srgbClr val="374151"/>
                </a:solidFill>
                <a:effectLst/>
                <a:latin typeface="Söhne"/>
              </a:rPr>
              <a:t>: Cet algorithme est utilisé pour résoudre les problèmes de régression, où l'objectif est de prédire une valeur continue. Pour une nouvelle observation, le </a:t>
            </a:r>
            <a:r>
              <a:rPr lang="fr-FR" b="0" i="0" u="none" strike="noStrike" dirty="0" err="1">
                <a:solidFill>
                  <a:srgbClr val="374151"/>
                </a:solidFill>
                <a:effectLst/>
                <a:latin typeface="Söhne"/>
              </a:rPr>
              <a:t>kNN</a:t>
            </a:r>
            <a:r>
              <a:rPr lang="fr-FR" b="0" i="0" u="none" strike="noStrike" dirty="0">
                <a:solidFill>
                  <a:srgbClr val="374151"/>
                </a:solidFill>
                <a:effectLst/>
                <a:latin typeface="Söhne"/>
              </a:rPr>
              <a:t> </a:t>
            </a:r>
            <a:r>
              <a:rPr lang="fr-FR" b="0" i="0" u="none" strike="noStrike" dirty="0" err="1">
                <a:solidFill>
                  <a:srgbClr val="374151"/>
                </a:solidFill>
                <a:effectLst/>
                <a:latin typeface="Söhne"/>
              </a:rPr>
              <a:t>Regressor</a:t>
            </a:r>
            <a:r>
              <a:rPr lang="fr-FR" b="0" i="0" u="none" strike="noStrike" dirty="0">
                <a:solidFill>
                  <a:srgbClr val="374151"/>
                </a:solidFill>
                <a:effectLst/>
                <a:latin typeface="Söhne"/>
              </a:rPr>
              <a:t> identifie les k voisins les plus proches dans l'espace des caractéristiques et calcule la moyenne de leurs valeurs cibles pour estimer la valeur cible de l'observation.</a:t>
            </a:r>
          </a:p>
          <a:p>
            <a:endParaRPr lang="fr-FR" dirty="0"/>
          </a:p>
        </p:txBody>
      </p:sp>
    </p:spTree>
    <p:extLst>
      <p:ext uri="{BB962C8B-B14F-4D97-AF65-F5344CB8AC3E}">
        <p14:creationId xmlns:p14="http://schemas.microsoft.com/office/powerpoint/2010/main" val="22204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5FC3AF91-82E7-8A46-E8D8-E7E646F4C7F0}"/>
              </a:ext>
            </a:extLst>
          </p:cNvPr>
          <p:cNvPicPr>
            <a:picLocks noChangeAspect="1"/>
          </p:cNvPicPr>
          <p:nvPr/>
        </p:nvPicPr>
        <p:blipFill>
          <a:blip r:embed="rId2"/>
          <a:stretch>
            <a:fillRect/>
          </a:stretch>
        </p:blipFill>
        <p:spPr>
          <a:xfrm>
            <a:off x="1606550" y="692150"/>
            <a:ext cx="5930900" cy="3759200"/>
          </a:xfrm>
          <a:prstGeom prst="rect">
            <a:avLst/>
          </a:prstGeom>
        </p:spPr>
      </p:pic>
      <p:sp>
        <p:nvSpPr>
          <p:cNvPr id="8" name="ZoneTexte 7">
            <a:extLst>
              <a:ext uri="{FF2B5EF4-FFF2-40B4-BE49-F238E27FC236}">
                <a16:creationId xmlns:a16="http://schemas.microsoft.com/office/drawing/2014/main" id="{838C8394-41C3-1667-F90F-52EE69A73BBF}"/>
              </a:ext>
            </a:extLst>
          </p:cNvPr>
          <p:cNvSpPr txBox="1"/>
          <p:nvPr/>
        </p:nvSpPr>
        <p:spPr>
          <a:xfrm>
            <a:off x="1872343" y="4550229"/>
            <a:ext cx="5540828" cy="523220"/>
          </a:xfrm>
          <a:prstGeom prst="rect">
            <a:avLst/>
          </a:prstGeom>
          <a:noFill/>
        </p:spPr>
        <p:txBody>
          <a:bodyPr wrap="square" rtlCol="0">
            <a:spAutoFit/>
          </a:bodyPr>
          <a:lstStyle/>
          <a:p>
            <a:r>
              <a:rPr lang="fr-FR" b="0" i="0" u="none" strike="noStrike" dirty="0">
                <a:solidFill>
                  <a:srgbClr val="374151"/>
                </a:solidFill>
                <a:effectLst/>
                <a:latin typeface="Söhne"/>
              </a:rPr>
              <a:t>Cela indique une performance modérée du modèle pour cette tâche de classification spécifique.</a:t>
            </a:r>
            <a:endParaRPr lang="fr-FR" dirty="0"/>
          </a:p>
        </p:txBody>
      </p:sp>
      <p:sp>
        <p:nvSpPr>
          <p:cNvPr id="10" name="ZoneTexte 9">
            <a:extLst>
              <a:ext uri="{FF2B5EF4-FFF2-40B4-BE49-F238E27FC236}">
                <a16:creationId xmlns:a16="http://schemas.microsoft.com/office/drawing/2014/main" id="{4F344F62-C575-ED67-1C1B-4840EB4F1023}"/>
              </a:ext>
            </a:extLst>
          </p:cNvPr>
          <p:cNvSpPr txBox="1"/>
          <p:nvPr/>
        </p:nvSpPr>
        <p:spPr>
          <a:xfrm>
            <a:off x="1606550" y="285494"/>
            <a:ext cx="4572000" cy="307777"/>
          </a:xfrm>
          <a:prstGeom prst="rect">
            <a:avLst/>
          </a:prstGeom>
          <a:noFill/>
        </p:spPr>
        <p:txBody>
          <a:bodyPr wrap="square">
            <a:spAutoFit/>
          </a:bodyPr>
          <a:lstStyle/>
          <a:p>
            <a:r>
              <a:rPr lang="fr-FR" b="1" i="0" u="none" strike="noStrike" dirty="0" err="1">
                <a:solidFill>
                  <a:srgbClr val="374151"/>
                </a:solidFill>
                <a:effectLst/>
                <a:latin typeface="Söhne"/>
              </a:rPr>
              <a:t>kNN</a:t>
            </a:r>
            <a:r>
              <a:rPr lang="fr-FR" b="1" i="0" u="none" strike="noStrike" dirty="0">
                <a:solidFill>
                  <a:srgbClr val="374151"/>
                </a:solidFill>
                <a:effectLst/>
                <a:latin typeface="Söhne"/>
              </a:rPr>
              <a:t> Classifier</a:t>
            </a:r>
            <a:endParaRPr lang="fr-FR" dirty="0"/>
          </a:p>
        </p:txBody>
      </p:sp>
    </p:spTree>
    <p:extLst>
      <p:ext uri="{BB962C8B-B14F-4D97-AF65-F5344CB8AC3E}">
        <p14:creationId xmlns:p14="http://schemas.microsoft.com/office/powerpoint/2010/main" val="1289864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A8DBC3EB-04AB-D4F9-2DFB-B8E26842207B}"/>
              </a:ext>
            </a:extLst>
          </p:cNvPr>
          <p:cNvPicPr>
            <a:picLocks noChangeAspect="1"/>
          </p:cNvPicPr>
          <p:nvPr/>
        </p:nvPicPr>
        <p:blipFill>
          <a:blip r:embed="rId2"/>
          <a:stretch>
            <a:fillRect/>
          </a:stretch>
        </p:blipFill>
        <p:spPr>
          <a:xfrm>
            <a:off x="246742" y="558800"/>
            <a:ext cx="5689600" cy="2654300"/>
          </a:xfrm>
          <a:prstGeom prst="rect">
            <a:avLst/>
          </a:prstGeom>
        </p:spPr>
      </p:pic>
      <p:sp>
        <p:nvSpPr>
          <p:cNvPr id="5" name="ZoneTexte 4">
            <a:extLst>
              <a:ext uri="{FF2B5EF4-FFF2-40B4-BE49-F238E27FC236}">
                <a16:creationId xmlns:a16="http://schemas.microsoft.com/office/drawing/2014/main" id="{52BF4964-B51D-C41E-F446-388278F30005}"/>
              </a:ext>
            </a:extLst>
          </p:cNvPr>
          <p:cNvSpPr txBox="1"/>
          <p:nvPr/>
        </p:nvSpPr>
        <p:spPr>
          <a:xfrm>
            <a:off x="243114" y="3199146"/>
            <a:ext cx="5689600" cy="523220"/>
          </a:xfrm>
          <a:prstGeom prst="rect">
            <a:avLst/>
          </a:prstGeom>
          <a:noFill/>
        </p:spPr>
        <p:txBody>
          <a:bodyPr wrap="square">
            <a:spAutoFit/>
          </a:bodyPr>
          <a:lstStyle/>
          <a:p>
            <a:r>
              <a:rPr lang="fr-FR" b="0" i="0" u="none" strike="noStrike">
                <a:solidFill>
                  <a:srgbClr val="374151"/>
                </a:solidFill>
                <a:effectLst/>
                <a:latin typeface="Söhne"/>
              </a:rPr>
              <a:t>Un coefficient de détermination de 92% indique une très bonne performance du modèle pour cette tâche de régression spécifique</a:t>
            </a:r>
            <a:endParaRPr lang="fr-FR" dirty="0"/>
          </a:p>
        </p:txBody>
      </p:sp>
      <p:sp>
        <p:nvSpPr>
          <p:cNvPr id="6" name="ZoneTexte 5">
            <a:extLst>
              <a:ext uri="{FF2B5EF4-FFF2-40B4-BE49-F238E27FC236}">
                <a16:creationId xmlns:a16="http://schemas.microsoft.com/office/drawing/2014/main" id="{60D98B90-B9B5-8214-25F6-C22336CD16E4}"/>
              </a:ext>
            </a:extLst>
          </p:cNvPr>
          <p:cNvSpPr txBox="1"/>
          <p:nvPr/>
        </p:nvSpPr>
        <p:spPr>
          <a:xfrm>
            <a:off x="332921" y="285494"/>
            <a:ext cx="4572000" cy="307777"/>
          </a:xfrm>
          <a:prstGeom prst="rect">
            <a:avLst/>
          </a:prstGeom>
          <a:noFill/>
        </p:spPr>
        <p:txBody>
          <a:bodyPr wrap="square">
            <a:spAutoFit/>
          </a:bodyPr>
          <a:lstStyle/>
          <a:p>
            <a:r>
              <a:rPr lang="fr-FR" b="1" i="0" u="none" strike="noStrike" dirty="0" err="1">
                <a:solidFill>
                  <a:srgbClr val="374151"/>
                </a:solidFill>
                <a:effectLst/>
                <a:latin typeface="Söhne"/>
              </a:rPr>
              <a:t>kNN</a:t>
            </a:r>
            <a:r>
              <a:rPr lang="fr-FR" b="1" i="0" u="none" strike="noStrike" dirty="0">
                <a:solidFill>
                  <a:srgbClr val="374151"/>
                </a:solidFill>
                <a:effectLst/>
                <a:latin typeface="Söhne"/>
              </a:rPr>
              <a:t> </a:t>
            </a:r>
            <a:r>
              <a:rPr lang="fr-FR" b="1" i="0" u="none" strike="noStrike" dirty="0" err="1">
                <a:solidFill>
                  <a:srgbClr val="374151"/>
                </a:solidFill>
                <a:effectLst/>
                <a:latin typeface="Söhne"/>
              </a:rPr>
              <a:t>Regressor</a:t>
            </a:r>
            <a:endParaRPr lang="fr-FR" dirty="0"/>
          </a:p>
        </p:txBody>
      </p:sp>
      <p:sp>
        <p:nvSpPr>
          <p:cNvPr id="8" name="ZoneTexte 7">
            <a:extLst>
              <a:ext uri="{FF2B5EF4-FFF2-40B4-BE49-F238E27FC236}">
                <a16:creationId xmlns:a16="http://schemas.microsoft.com/office/drawing/2014/main" id="{2DD3ABEE-3193-6896-144E-7D39209436C3}"/>
              </a:ext>
            </a:extLst>
          </p:cNvPr>
          <p:cNvSpPr txBox="1"/>
          <p:nvPr/>
        </p:nvSpPr>
        <p:spPr>
          <a:xfrm>
            <a:off x="243114" y="3886081"/>
            <a:ext cx="6879772" cy="1169551"/>
          </a:xfrm>
          <a:prstGeom prst="rect">
            <a:avLst/>
          </a:prstGeom>
          <a:noFill/>
        </p:spPr>
        <p:txBody>
          <a:bodyPr wrap="square">
            <a:spAutoFit/>
          </a:bodyPr>
          <a:lstStyle/>
          <a:p>
            <a:r>
              <a:rPr lang="fr-FR" b="0" i="0" u="none" strike="noStrike" dirty="0" err="1">
                <a:solidFill>
                  <a:srgbClr val="374151"/>
                </a:solidFill>
                <a:effectLst/>
                <a:latin typeface="Söhne"/>
              </a:rPr>
              <a:t>One-hot</a:t>
            </a:r>
            <a:r>
              <a:rPr lang="fr-FR" b="0" i="0" u="none" strike="noStrike" dirty="0">
                <a:solidFill>
                  <a:srgbClr val="374151"/>
                </a:solidFill>
                <a:effectLst/>
                <a:latin typeface="Söhne"/>
              </a:rPr>
              <a:t> </a:t>
            </a:r>
            <a:r>
              <a:rPr lang="fr-FR" b="0" i="0" u="none" strike="noStrike" dirty="0" err="1">
                <a:solidFill>
                  <a:srgbClr val="374151"/>
                </a:solidFill>
                <a:effectLst/>
                <a:latin typeface="Söhne"/>
              </a:rPr>
              <a:t>encoding</a:t>
            </a:r>
            <a:r>
              <a:rPr lang="fr-FR" b="0" i="0" u="none" strike="noStrike" dirty="0">
                <a:solidFill>
                  <a:srgbClr val="374151"/>
                </a:solidFill>
                <a:effectLst/>
                <a:latin typeface="Söhne"/>
              </a:rPr>
              <a:t> transforme les variables catégorielles en variables binaires pour chaque catégorie, permettant aux algorithmes d'apprentissage automatique de traiter efficacement les données catégorielles.</a:t>
            </a:r>
          </a:p>
          <a:p>
            <a:r>
              <a:rPr lang="fr-FR" b="0" i="0" u="none" strike="noStrike" dirty="0">
                <a:solidFill>
                  <a:srgbClr val="374151"/>
                </a:solidFill>
                <a:effectLst/>
                <a:latin typeface="Söhne"/>
              </a:rPr>
              <a:t>Le KNN Imputer estime les valeurs manquantes en utilisant les k plus proches voisins dans l'ensemble de données, en tenant compte de la similarité des caractéristiques. </a:t>
            </a:r>
            <a:endParaRPr lang="fr-FR" dirty="0"/>
          </a:p>
        </p:txBody>
      </p:sp>
      <p:sp>
        <p:nvSpPr>
          <p:cNvPr id="10" name="ZoneTexte 9">
            <a:extLst>
              <a:ext uri="{FF2B5EF4-FFF2-40B4-BE49-F238E27FC236}">
                <a16:creationId xmlns:a16="http://schemas.microsoft.com/office/drawing/2014/main" id="{09DF53B8-C961-6608-4994-51444AD784D8}"/>
              </a:ext>
            </a:extLst>
          </p:cNvPr>
          <p:cNvSpPr txBox="1"/>
          <p:nvPr/>
        </p:nvSpPr>
        <p:spPr>
          <a:xfrm>
            <a:off x="435429" y="3722366"/>
            <a:ext cx="4572000" cy="307777"/>
          </a:xfrm>
          <a:prstGeom prst="rect">
            <a:avLst/>
          </a:prstGeom>
          <a:noFill/>
        </p:spPr>
        <p:txBody>
          <a:bodyPr wrap="square">
            <a:spAutoFit/>
          </a:bodyPr>
          <a:lstStyle/>
          <a:p>
            <a:r>
              <a:rPr lang="fr-FR" b="1" dirty="0"/>
              <a:t>KNN imputer</a:t>
            </a:r>
            <a:endParaRPr lang="fr-FR" dirty="0"/>
          </a:p>
        </p:txBody>
      </p:sp>
    </p:spTree>
    <p:extLst>
      <p:ext uri="{BB962C8B-B14F-4D97-AF65-F5344CB8AC3E}">
        <p14:creationId xmlns:p14="http://schemas.microsoft.com/office/powerpoint/2010/main" val="3670690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80102B3A-A3DD-1F8F-EE27-DDB3810E365C}"/>
              </a:ext>
            </a:extLst>
          </p:cNvPr>
          <p:cNvPicPr>
            <a:picLocks noChangeAspect="1"/>
          </p:cNvPicPr>
          <p:nvPr/>
        </p:nvPicPr>
        <p:blipFill>
          <a:blip r:embed="rId2"/>
          <a:stretch>
            <a:fillRect/>
          </a:stretch>
        </p:blipFill>
        <p:spPr>
          <a:xfrm>
            <a:off x="570191" y="723238"/>
            <a:ext cx="8003618" cy="4372708"/>
          </a:xfrm>
          <a:prstGeom prst="rect">
            <a:avLst/>
          </a:prstGeom>
        </p:spPr>
      </p:pic>
      <p:sp>
        <p:nvSpPr>
          <p:cNvPr id="6" name="ZoneTexte 5">
            <a:extLst>
              <a:ext uri="{FF2B5EF4-FFF2-40B4-BE49-F238E27FC236}">
                <a16:creationId xmlns:a16="http://schemas.microsoft.com/office/drawing/2014/main" id="{EA3A6762-8DD2-9577-BC12-C341DBD32464}"/>
              </a:ext>
            </a:extLst>
          </p:cNvPr>
          <p:cNvSpPr txBox="1"/>
          <p:nvPr/>
        </p:nvSpPr>
        <p:spPr>
          <a:xfrm>
            <a:off x="1424353" y="47554"/>
            <a:ext cx="5650523" cy="738664"/>
          </a:xfrm>
          <a:prstGeom prst="rect">
            <a:avLst/>
          </a:prstGeom>
          <a:noFill/>
        </p:spPr>
        <p:txBody>
          <a:bodyPr wrap="square" rtlCol="0">
            <a:spAutoFit/>
          </a:bodyPr>
          <a:lstStyle/>
          <a:p>
            <a:endParaRPr lang="fr-FR" dirty="0"/>
          </a:p>
          <a:p>
            <a:r>
              <a:rPr lang="fr-FR" b="1" dirty="0"/>
              <a:t>.échantillon du </a:t>
            </a:r>
            <a:r>
              <a:rPr lang="fr-FR" b="1" dirty="0" err="1"/>
              <a:t>Dataset</a:t>
            </a:r>
            <a:r>
              <a:rPr lang="fr-FR" b="1" dirty="0"/>
              <a:t> après application du KNN imputer, élimination des NaN (valeurs manquantes)</a:t>
            </a:r>
          </a:p>
        </p:txBody>
      </p:sp>
    </p:spTree>
    <p:extLst>
      <p:ext uri="{BB962C8B-B14F-4D97-AF65-F5344CB8AC3E}">
        <p14:creationId xmlns:p14="http://schemas.microsoft.com/office/powerpoint/2010/main" val="2567743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1F7CFEA-B19B-72CD-BE6F-61C139E1E16D}"/>
              </a:ext>
            </a:extLst>
          </p:cNvPr>
          <p:cNvSpPr txBox="1"/>
          <p:nvPr/>
        </p:nvSpPr>
        <p:spPr>
          <a:xfrm>
            <a:off x="246185" y="131113"/>
            <a:ext cx="4572000" cy="307777"/>
          </a:xfrm>
          <a:prstGeom prst="rect">
            <a:avLst/>
          </a:prstGeom>
          <a:noFill/>
        </p:spPr>
        <p:txBody>
          <a:bodyPr wrap="square">
            <a:spAutoFit/>
          </a:bodyPr>
          <a:lstStyle/>
          <a:p>
            <a:pPr algn="l">
              <a:buFont typeface="Arial" panose="020B0604020202020204" pitchFamily="34" charset="0"/>
              <a:buChar char="•"/>
            </a:pPr>
            <a:r>
              <a:rPr lang="fr-FR" b="0" i="0" u="none" strike="noStrike" dirty="0">
                <a:solidFill>
                  <a:srgbClr val="271A38"/>
                </a:solidFill>
                <a:effectLst/>
                <a:latin typeface="Inter"/>
              </a:rPr>
              <a:t>L’analyse univariée</a:t>
            </a:r>
          </a:p>
        </p:txBody>
      </p:sp>
      <p:pic>
        <p:nvPicPr>
          <p:cNvPr id="6" name="Image 5">
            <a:extLst>
              <a:ext uri="{FF2B5EF4-FFF2-40B4-BE49-F238E27FC236}">
                <a16:creationId xmlns:a16="http://schemas.microsoft.com/office/drawing/2014/main" id="{0219767F-D73D-F29D-63E0-EEA020ACEF8B}"/>
              </a:ext>
            </a:extLst>
          </p:cNvPr>
          <p:cNvPicPr>
            <a:picLocks noChangeAspect="1"/>
          </p:cNvPicPr>
          <p:nvPr/>
        </p:nvPicPr>
        <p:blipFill>
          <a:blip r:embed="rId2"/>
          <a:stretch>
            <a:fillRect/>
          </a:stretch>
        </p:blipFill>
        <p:spPr>
          <a:xfrm>
            <a:off x="66645" y="888510"/>
            <a:ext cx="4243540" cy="2839427"/>
          </a:xfrm>
          <a:prstGeom prst="rect">
            <a:avLst/>
          </a:prstGeom>
        </p:spPr>
      </p:pic>
      <p:pic>
        <p:nvPicPr>
          <p:cNvPr id="8" name="Image 7" descr="Une image contenant texte, mots croisés&#10;&#10;Description générée automatiquement">
            <a:extLst>
              <a:ext uri="{FF2B5EF4-FFF2-40B4-BE49-F238E27FC236}">
                <a16:creationId xmlns:a16="http://schemas.microsoft.com/office/drawing/2014/main" id="{A8708A00-1DCA-3F9C-24C6-094EB9594D80}"/>
              </a:ext>
            </a:extLst>
          </p:cNvPr>
          <p:cNvPicPr>
            <a:picLocks noChangeAspect="1"/>
          </p:cNvPicPr>
          <p:nvPr/>
        </p:nvPicPr>
        <p:blipFill>
          <a:blip r:embed="rId3"/>
          <a:stretch>
            <a:fillRect/>
          </a:stretch>
        </p:blipFill>
        <p:spPr>
          <a:xfrm>
            <a:off x="4451282" y="584200"/>
            <a:ext cx="4274595" cy="4181088"/>
          </a:xfrm>
          <a:prstGeom prst="rect">
            <a:avLst/>
          </a:prstGeom>
        </p:spPr>
      </p:pic>
    </p:spTree>
    <p:extLst>
      <p:ext uri="{BB962C8B-B14F-4D97-AF65-F5344CB8AC3E}">
        <p14:creationId xmlns:p14="http://schemas.microsoft.com/office/powerpoint/2010/main" val="1987805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8730AE1-BB2D-5AC3-4AC2-E11AFA358535}"/>
              </a:ext>
            </a:extLst>
          </p:cNvPr>
          <p:cNvPicPr>
            <a:picLocks noChangeAspect="1"/>
          </p:cNvPicPr>
          <p:nvPr/>
        </p:nvPicPr>
        <p:blipFill>
          <a:blip r:embed="rId2"/>
          <a:stretch>
            <a:fillRect/>
          </a:stretch>
        </p:blipFill>
        <p:spPr>
          <a:xfrm>
            <a:off x="954644" y="422032"/>
            <a:ext cx="7544585" cy="4504310"/>
          </a:xfrm>
          <a:prstGeom prst="rect">
            <a:avLst/>
          </a:prstGeom>
        </p:spPr>
      </p:pic>
      <p:sp>
        <p:nvSpPr>
          <p:cNvPr id="5" name="Google Shape;411;p43">
            <a:extLst>
              <a:ext uri="{FF2B5EF4-FFF2-40B4-BE49-F238E27FC236}">
                <a16:creationId xmlns:a16="http://schemas.microsoft.com/office/drawing/2014/main" id="{A30E1758-EE08-12CC-19EA-30AC45CEDA8B}"/>
              </a:ext>
            </a:extLst>
          </p:cNvPr>
          <p:cNvSpPr txBox="1"/>
          <p:nvPr/>
        </p:nvSpPr>
        <p:spPr>
          <a:xfrm flipH="1">
            <a:off x="0" y="135682"/>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6" name="Google Shape;412;p43">
            <a:extLst>
              <a:ext uri="{FF2B5EF4-FFF2-40B4-BE49-F238E27FC236}">
                <a16:creationId xmlns:a16="http://schemas.microsoft.com/office/drawing/2014/main" id="{BC3CEC7A-E4DC-4A5D-E8E3-98270871645F}"/>
              </a:ext>
            </a:extLst>
          </p:cNvPr>
          <p:cNvSpPr txBox="1"/>
          <p:nvPr/>
        </p:nvSpPr>
        <p:spPr>
          <a:xfrm flipH="1">
            <a:off x="0" y="529110"/>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analyse </a:t>
            </a:r>
            <a:r>
              <a:rPr lang="fr-FR" sz="1200" dirty="0" err="1">
                <a:solidFill>
                  <a:schemeClr val="dk1"/>
                </a:solidFill>
                <a:latin typeface="Quicksand Medium"/>
              </a:rPr>
              <a:t>unvariée</a:t>
            </a:r>
            <a:r>
              <a:rPr lang="fr-FR" sz="1200" dirty="0">
                <a:solidFill>
                  <a:schemeClr val="dk1"/>
                </a:solidFill>
                <a:latin typeface="Quicksand Medium"/>
              </a:rPr>
              <a:t>, multivariée</a:t>
            </a:r>
          </a:p>
          <a:p>
            <a:pPr algn="ctr"/>
            <a:r>
              <a:rPr lang="en" sz="2000" dirty="0">
                <a:solidFill>
                  <a:schemeClr val="tx2">
                    <a:lumMod val="10000"/>
                  </a:schemeClr>
                </a:solidFill>
                <a:latin typeface="Quicksand SemiBold"/>
                <a:ea typeface="Quicksand SemiBold"/>
                <a:cs typeface="Quicksand SemiBold"/>
                <a:sym typeface="Quicksand SemiBold"/>
              </a:rPr>
              <a:t>Exploration</a:t>
            </a:r>
            <a:endParaRPr lang="fr-FR" sz="2000" dirty="0">
              <a:solidFill>
                <a:schemeClr val="dk1"/>
              </a:solidFill>
              <a:latin typeface="Quicksand Medium"/>
              <a:sym typeface="Quicksand Medium"/>
            </a:endParaRP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Tree>
    <p:extLst>
      <p:ext uri="{BB962C8B-B14F-4D97-AF65-F5344CB8AC3E}">
        <p14:creationId xmlns:p14="http://schemas.microsoft.com/office/powerpoint/2010/main" val="927776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graphique&#10;&#10;Description générée automatiquement">
            <a:extLst>
              <a:ext uri="{FF2B5EF4-FFF2-40B4-BE49-F238E27FC236}">
                <a16:creationId xmlns:a16="http://schemas.microsoft.com/office/drawing/2014/main" id="{3F5BB993-8D40-7153-77F4-707F87DD5375}"/>
              </a:ext>
            </a:extLst>
          </p:cNvPr>
          <p:cNvPicPr>
            <a:picLocks noChangeAspect="1"/>
          </p:cNvPicPr>
          <p:nvPr/>
        </p:nvPicPr>
        <p:blipFill>
          <a:blip r:embed="rId2"/>
          <a:stretch>
            <a:fillRect/>
          </a:stretch>
        </p:blipFill>
        <p:spPr>
          <a:xfrm>
            <a:off x="1800580" y="0"/>
            <a:ext cx="5542840" cy="5143500"/>
          </a:xfrm>
          <a:prstGeom prst="rect">
            <a:avLst/>
          </a:prstGeom>
        </p:spPr>
      </p:pic>
    </p:spTree>
    <p:extLst>
      <p:ext uri="{BB962C8B-B14F-4D97-AF65-F5344CB8AC3E}">
        <p14:creationId xmlns:p14="http://schemas.microsoft.com/office/powerpoint/2010/main" val="3212961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6425FFD8-908B-B28D-EF97-76803992216A}"/>
              </a:ext>
            </a:extLst>
          </p:cNvPr>
          <p:cNvSpPr txBox="1"/>
          <p:nvPr/>
        </p:nvSpPr>
        <p:spPr>
          <a:xfrm>
            <a:off x="597877" y="105966"/>
            <a:ext cx="4572000" cy="1077218"/>
          </a:xfrm>
          <a:prstGeom prst="rect">
            <a:avLst/>
          </a:prstGeom>
          <a:noFill/>
        </p:spPr>
        <p:txBody>
          <a:bodyPr wrap="square">
            <a:spAutoFit/>
          </a:bodyPr>
          <a:lstStyle/>
          <a:p>
            <a:pPr algn="l"/>
            <a:r>
              <a:rPr lang="fr-FR" sz="3200" dirty="0">
                <a:solidFill>
                  <a:schemeClr val="dk1"/>
                </a:solidFill>
                <a:latin typeface="Poppins Medium"/>
                <a:cs typeface="Poppins Medium"/>
                <a:sym typeface="Poppins Medium"/>
              </a:rPr>
              <a:t>Réduction de dimension </a:t>
            </a:r>
            <a:r>
              <a:rPr lang="fr-FR" sz="3200" dirty="0">
                <a:solidFill>
                  <a:schemeClr val="dk1"/>
                </a:solidFill>
                <a:latin typeface="Poppins Medium"/>
                <a:cs typeface="Poppins Medium"/>
              </a:rPr>
              <a:t>par ACP</a:t>
            </a:r>
            <a:endParaRPr lang="fr-FR" b="1" i="0" dirty="0">
              <a:effectLst/>
              <a:latin typeface="-apple-system"/>
            </a:endParaRPr>
          </a:p>
        </p:txBody>
      </p:sp>
      <p:sp>
        <p:nvSpPr>
          <p:cNvPr id="6" name="ZoneTexte 5">
            <a:extLst>
              <a:ext uri="{FF2B5EF4-FFF2-40B4-BE49-F238E27FC236}">
                <a16:creationId xmlns:a16="http://schemas.microsoft.com/office/drawing/2014/main" id="{D91CC6C7-4814-0458-03D8-08E8CDFB54E8}"/>
              </a:ext>
            </a:extLst>
          </p:cNvPr>
          <p:cNvSpPr txBox="1"/>
          <p:nvPr/>
        </p:nvSpPr>
        <p:spPr>
          <a:xfrm>
            <a:off x="597877" y="1046902"/>
            <a:ext cx="7303477" cy="523220"/>
          </a:xfrm>
          <a:prstGeom prst="rect">
            <a:avLst/>
          </a:prstGeom>
          <a:noFill/>
        </p:spPr>
        <p:txBody>
          <a:bodyPr wrap="square" rtlCol="0">
            <a:spAutoFit/>
          </a:bodyPr>
          <a:lstStyle/>
          <a:p>
            <a:r>
              <a:rPr lang="fr-FR" b="0" i="0" dirty="0">
                <a:effectLst/>
                <a:latin typeface="Arial" panose="020B0604020202020204" pitchFamily="34" charset="0"/>
              </a:rPr>
              <a:t>&gt; réduire les variables explicatives à un nombre plus petit et plus gérable de variables explicatives</a:t>
            </a:r>
            <a:endParaRPr lang="fr-FR" dirty="0"/>
          </a:p>
        </p:txBody>
      </p:sp>
      <p:pic>
        <p:nvPicPr>
          <p:cNvPr id="8" name="Image 7">
            <a:extLst>
              <a:ext uri="{FF2B5EF4-FFF2-40B4-BE49-F238E27FC236}">
                <a16:creationId xmlns:a16="http://schemas.microsoft.com/office/drawing/2014/main" id="{7EA8578C-6F57-6420-78EF-7F74817AC7B7}"/>
              </a:ext>
            </a:extLst>
          </p:cNvPr>
          <p:cNvPicPr>
            <a:picLocks noChangeAspect="1"/>
          </p:cNvPicPr>
          <p:nvPr/>
        </p:nvPicPr>
        <p:blipFill>
          <a:blip r:embed="rId2"/>
          <a:stretch>
            <a:fillRect/>
          </a:stretch>
        </p:blipFill>
        <p:spPr>
          <a:xfrm>
            <a:off x="2452685" y="1308512"/>
            <a:ext cx="6093438" cy="3729022"/>
          </a:xfrm>
          <a:prstGeom prst="rect">
            <a:avLst/>
          </a:prstGeom>
        </p:spPr>
      </p:pic>
      <p:sp>
        <p:nvSpPr>
          <p:cNvPr id="9" name="Google Shape;405;p43">
            <a:extLst>
              <a:ext uri="{FF2B5EF4-FFF2-40B4-BE49-F238E27FC236}">
                <a16:creationId xmlns:a16="http://schemas.microsoft.com/office/drawing/2014/main" id="{809215A8-8E0E-E574-A2F0-FC3527A69669}"/>
              </a:ext>
            </a:extLst>
          </p:cNvPr>
          <p:cNvSpPr txBox="1"/>
          <p:nvPr/>
        </p:nvSpPr>
        <p:spPr>
          <a:xfrm flipH="1">
            <a:off x="7411808" y="2675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10" name="Google Shape;406;p43">
            <a:extLst>
              <a:ext uri="{FF2B5EF4-FFF2-40B4-BE49-F238E27FC236}">
                <a16:creationId xmlns:a16="http://schemas.microsoft.com/office/drawing/2014/main" id="{20267CA6-D82D-5B2E-268C-3E78D02D55F2}"/>
              </a:ext>
            </a:extLst>
          </p:cNvPr>
          <p:cNvSpPr txBox="1"/>
          <p:nvPr/>
        </p:nvSpPr>
        <p:spPr>
          <a:xfrm flipH="1">
            <a:off x="7411051" y="419118"/>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ea typeface="Quicksand Medium"/>
                <a:cs typeface="Quicksand Medium"/>
                <a:sym typeface="Quicksand Medium"/>
              </a:rPr>
              <a:t>ACP, ANOVA, </a:t>
            </a:r>
            <a:r>
              <a:rPr lang="fr-FR" sz="1200" dirty="0" err="1">
                <a:solidFill>
                  <a:schemeClr val="dk1"/>
                </a:solidFill>
                <a:latin typeface="Quicksand Medium"/>
                <a:ea typeface="Quicksand Medium"/>
                <a:cs typeface="Quicksand Medium"/>
                <a:sym typeface="Quicksand Medium"/>
              </a:rPr>
              <a:t>Kruskal</a:t>
            </a:r>
            <a:r>
              <a:rPr lang="fr-FR" sz="1200" dirty="0">
                <a:solidFill>
                  <a:schemeClr val="dk1"/>
                </a:solidFill>
                <a:latin typeface="Quicksand Medium"/>
                <a:ea typeface="Quicksand Medium"/>
                <a:cs typeface="Quicksand Medium"/>
                <a:sym typeface="Quicksand Medium"/>
              </a:rPr>
              <a:t>-Wallis et régression linéaire</a:t>
            </a: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Tree>
    <p:extLst>
      <p:ext uri="{BB962C8B-B14F-4D97-AF65-F5344CB8AC3E}">
        <p14:creationId xmlns:p14="http://schemas.microsoft.com/office/powerpoint/2010/main" val="3475734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F672E9-6B7B-8434-966D-284A2AC46B1F}"/>
              </a:ext>
            </a:extLst>
          </p:cNvPr>
          <p:cNvSpPr>
            <a:spLocks noGrp="1"/>
          </p:cNvSpPr>
          <p:nvPr>
            <p:ph type="title"/>
          </p:nvPr>
        </p:nvSpPr>
        <p:spPr>
          <a:xfrm>
            <a:off x="1348612" y="937901"/>
            <a:ext cx="4294800" cy="572700"/>
          </a:xfrm>
        </p:spPr>
        <p:txBody>
          <a:bodyPr/>
          <a:lstStyle/>
          <a:p>
            <a:r>
              <a:rPr lang="fr-FR" dirty="0"/>
              <a:t>Cercle de corrélations</a:t>
            </a:r>
          </a:p>
        </p:txBody>
      </p:sp>
      <p:pic>
        <p:nvPicPr>
          <p:cNvPr id="6" name="Image 5">
            <a:extLst>
              <a:ext uri="{FF2B5EF4-FFF2-40B4-BE49-F238E27FC236}">
                <a16:creationId xmlns:a16="http://schemas.microsoft.com/office/drawing/2014/main" id="{010E71F4-8CE2-9D0F-EE2F-46766EA4481D}"/>
              </a:ext>
            </a:extLst>
          </p:cNvPr>
          <p:cNvPicPr>
            <a:picLocks noChangeAspect="1"/>
          </p:cNvPicPr>
          <p:nvPr/>
        </p:nvPicPr>
        <p:blipFill>
          <a:blip r:embed="rId2"/>
          <a:stretch>
            <a:fillRect/>
          </a:stretch>
        </p:blipFill>
        <p:spPr>
          <a:xfrm>
            <a:off x="3932367" y="78144"/>
            <a:ext cx="5576057" cy="5143500"/>
          </a:xfrm>
          <a:prstGeom prst="rect">
            <a:avLst/>
          </a:prstGeom>
        </p:spPr>
      </p:pic>
      <p:sp>
        <p:nvSpPr>
          <p:cNvPr id="7" name="ZoneTexte 6">
            <a:extLst>
              <a:ext uri="{FF2B5EF4-FFF2-40B4-BE49-F238E27FC236}">
                <a16:creationId xmlns:a16="http://schemas.microsoft.com/office/drawing/2014/main" id="{98C5E049-A80D-6EA6-AB77-75E213708704}"/>
              </a:ext>
            </a:extLst>
          </p:cNvPr>
          <p:cNvSpPr txBox="1"/>
          <p:nvPr/>
        </p:nvSpPr>
        <p:spPr>
          <a:xfrm>
            <a:off x="210417" y="2330885"/>
            <a:ext cx="3932367" cy="2031325"/>
          </a:xfrm>
          <a:prstGeom prst="rect">
            <a:avLst/>
          </a:prstGeom>
          <a:noFill/>
        </p:spPr>
        <p:txBody>
          <a:bodyPr wrap="square" rtlCol="0">
            <a:spAutoFit/>
          </a:bodyPr>
          <a:lstStyle/>
          <a:p>
            <a:r>
              <a:rPr lang="fr-FR" dirty="0"/>
              <a:t>Interprétation graphique :</a:t>
            </a:r>
          </a:p>
          <a:p>
            <a:endParaRPr lang="fr-FR" dirty="0"/>
          </a:p>
          <a:p>
            <a:r>
              <a:rPr lang="fr-FR" b="0" i="0" dirty="0">
                <a:effectLst/>
                <a:latin typeface="Arial" panose="020B0604020202020204" pitchFamily="34" charset="0"/>
              </a:rPr>
              <a:t>• Les variables les plus fortement corrélées avec le premier axe principal d'inertie F1 sont</a:t>
            </a:r>
            <a:br>
              <a:rPr lang="fr-FR" dirty="0"/>
            </a:br>
            <a:r>
              <a:rPr lang="fr-FR" b="0" i="0" dirty="0" err="1">
                <a:effectLst/>
                <a:latin typeface="Arial" panose="020B0604020202020204" pitchFamily="34" charset="0"/>
              </a:rPr>
              <a:t>energy</a:t>
            </a:r>
            <a:r>
              <a:rPr lang="fr-FR" b="0" i="0" dirty="0">
                <a:effectLst/>
                <a:latin typeface="Arial" panose="020B0604020202020204" pitchFamily="34" charset="0"/>
              </a:rPr>
              <a:t>, fat, </a:t>
            </a:r>
            <a:r>
              <a:rPr lang="fr-FR" b="0" i="0" dirty="0" err="1">
                <a:effectLst/>
                <a:latin typeface="Arial" panose="020B0604020202020204" pitchFamily="34" charset="0"/>
              </a:rPr>
              <a:t>nutriscore</a:t>
            </a:r>
            <a:endParaRPr lang="fr-FR" b="0" i="0" dirty="0">
              <a:effectLst/>
              <a:latin typeface="Arial" panose="020B0604020202020204" pitchFamily="34" charset="0"/>
            </a:endParaRPr>
          </a:p>
          <a:p>
            <a:br>
              <a:rPr lang="fr-FR" dirty="0"/>
            </a:br>
            <a:r>
              <a:rPr lang="fr-FR" dirty="0"/>
              <a:t>• </a:t>
            </a:r>
            <a:r>
              <a:rPr lang="fr-FR" b="0" i="0" dirty="0">
                <a:effectLst/>
                <a:latin typeface="Arial" panose="020B0604020202020204" pitchFamily="34" charset="0"/>
              </a:rPr>
              <a:t>Les variables les plus fortement corrélées avec le premier axe principal d'inertie F2 sont sodium</a:t>
            </a:r>
            <a:endParaRPr lang="fr-FR"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9" name="Encre 8">
                <a:extLst>
                  <a:ext uri="{FF2B5EF4-FFF2-40B4-BE49-F238E27FC236}">
                    <a16:creationId xmlns:a16="http://schemas.microsoft.com/office/drawing/2014/main" id="{C3E498DE-1F00-FD05-3223-64CF6561257F}"/>
                  </a:ext>
                </a:extLst>
              </p14:cNvPr>
              <p14:cNvContentPartPr/>
              <p14:nvPr/>
            </p14:nvContentPartPr>
            <p14:xfrm>
              <a:off x="6797436" y="2149120"/>
              <a:ext cx="1776600" cy="520560"/>
            </p14:xfrm>
          </p:contentPart>
        </mc:Choice>
        <mc:Fallback xmlns="">
          <p:pic>
            <p:nvPicPr>
              <p:cNvPr id="9" name="Encre 8">
                <a:extLst>
                  <a:ext uri="{FF2B5EF4-FFF2-40B4-BE49-F238E27FC236}">
                    <a16:creationId xmlns:a16="http://schemas.microsoft.com/office/drawing/2014/main" id="{C3E498DE-1F00-FD05-3223-64CF6561257F}"/>
                  </a:ext>
                </a:extLst>
              </p:cNvPr>
              <p:cNvPicPr/>
              <p:nvPr/>
            </p:nvPicPr>
            <p:blipFill>
              <a:blip r:embed="rId4"/>
              <a:stretch>
                <a:fillRect/>
              </a:stretch>
            </p:blipFill>
            <p:spPr>
              <a:xfrm>
                <a:off x="6788796" y="2140480"/>
                <a:ext cx="179424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0" name="Encre 9">
                <a:extLst>
                  <a:ext uri="{FF2B5EF4-FFF2-40B4-BE49-F238E27FC236}">
                    <a16:creationId xmlns:a16="http://schemas.microsoft.com/office/drawing/2014/main" id="{832F0B97-BA78-8AC6-7910-1F2B7CB0610C}"/>
                  </a:ext>
                </a:extLst>
              </p14:cNvPr>
              <p14:cNvContentPartPr/>
              <p14:nvPr/>
            </p14:nvContentPartPr>
            <p14:xfrm>
              <a:off x="7549116" y="1949680"/>
              <a:ext cx="578160" cy="210240"/>
            </p14:xfrm>
          </p:contentPart>
        </mc:Choice>
        <mc:Fallback xmlns="">
          <p:pic>
            <p:nvPicPr>
              <p:cNvPr id="10" name="Encre 9">
                <a:extLst>
                  <a:ext uri="{FF2B5EF4-FFF2-40B4-BE49-F238E27FC236}">
                    <a16:creationId xmlns:a16="http://schemas.microsoft.com/office/drawing/2014/main" id="{832F0B97-BA78-8AC6-7910-1F2B7CB0610C}"/>
                  </a:ext>
                </a:extLst>
              </p:cNvPr>
              <p:cNvPicPr/>
              <p:nvPr/>
            </p:nvPicPr>
            <p:blipFill>
              <a:blip r:embed="rId6"/>
              <a:stretch>
                <a:fillRect/>
              </a:stretch>
            </p:blipFill>
            <p:spPr>
              <a:xfrm>
                <a:off x="7540116" y="1941040"/>
                <a:ext cx="595800" cy="22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1" name="Encre 10">
                <a:extLst>
                  <a:ext uri="{FF2B5EF4-FFF2-40B4-BE49-F238E27FC236}">
                    <a16:creationId xmlns:a16="http://schemas.microsoft.com/office/drawing/2014/main" id="{02B110E7-058C-C434-38C0-1B83A59AD406}"/>
                  </a:ext>
                </a:extLst>
              </p14:cNvPr>
              <p14:cNvContentPartPr/>
              <p14:nvPr/>
            </p14:nvContentPartPr>
            <p14:xfrm>
              <a:off x="7713276" y="2389240"/>
              <a:ext cx="700920" cy="223920"/>
            </p14:xfrm>
          </p:contentPart>
        </mc:Choice>
        <mc:Fallback xmlns="">
          <p:pic>
            <p:nvPicPr>
              <p:cNvPr id="11" name="Encre 10">
                <a:extLst>
                  <a:ext uri="{FF2B5EF4-FFF2-40B4-BE49-F238E27FC236}">
                    <a16:creationId xmlns:a16="http://schemas.microsoft.com/office/drawing/2014/main" id="{02B110E7-058C-C434-38C0-1B83A59AD406}"/>
                  </a:ext>
                </a:extLst>
              </p:cNvPr>
              <p:cNvPicPr/>
              <p:nvPr/>
            </p:nvPicPr>
            <p:blipFill>
              <a:blip r:embed="rId8"/>
              <a:stretch>
                <a:fillRect/>
              </a:stretch>
            </p:blipFill>
            <p:spPr>
              <a:xfrm>
                <a:off x="7704636" y="2380240"/>
                <a:ext cx="718560" cy="24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2" name="Encre 11">
                <a:extLst>
                  <a:ext uri="{FF2B5EF4-FFF2-40B4-BE49-F238E27FC236}">
                    <a16:creationId xmlns:a16="http://schemas.microsoft.com/office/drawing/2014/main" id="{78D2F4CC-2063-11D6-1AA2-1EA6BAF6145C}"/>
                  </a:ext>
                </a:extLst>
              </p14:cNvPr>
              <p14:cNvContentPartPr/>
              <p14:nvPr/>
            </p14:nvContentPartPr>
            <p14:xfrm>
              <a:off x="7245996" y="3024280"/>
              <a:ext cx="671040" cy="199440"/>
            </p14:xfrm>
          </p:contentPart>
        </mc:Choice>
        <mc:Fallback xmlns="">
          <p:pic>
            <p:nvPicPr>
              <p:cNvPr id="12" name="Encre 11">
                <a:extLst>
                  <a:ext uri="{FF2B5EF4-FFF2-40B4-BE49-F238E27FC236}">
                    <a16:creationId xmlns:a16="http://schemas.microsoft.com/office/drawing/2014/main" id="{78D2F4CC-2063-11D6-1AA2-1EA6BAF6145C}"/>
                  </a:ext>
                </a:extLst>
              </p:cNvPr>
              <p:cNvPicPr/>
              <p:nvPr/>
            </p:nvPicPr>
            <p:blipFill>
              <a:blip r:embed="rId10"/>
              <a:stretch>
                <a:fillRect/>
              </a:stretch>
            </p:blipFill>
            <p:spPr>
              <a:xfrm>
                <a:off x="7236996" y="3015640"/>
                <a:ext cx="688680" cy="217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3" name="Encre 12">
                <a:extLst>
                  <a:ext uri="{FF2B5EF4-FFF2-40B4-BE49-F238E27FC236}">
                    <a16:creationId xmlns:a16="http://schemas.microsoft.com/office/drawing/2014/main" id="{CFE1E933-A8E1-A4E7-18C3-03316E1A1EDB}"/>
                  </a:ext>
                </a:extLst>
              </p14:cNvPr>
              <p14:cNvContentPartPr/>
              <p14:nvPr/>
            </p14:nvContentPartPr>
            <p14:xfrm>
              <a:off x="6675036" y="1813600"/>
              <a:ext cx="666360" cy="242640"/>
            </p14:xfrm>
          </p:contentPart>
        </mc:Choice>
        <mc:Fallback xmlns="">
          <p:pic>
            <p:nvPicPr>
              <p:cNvPr id="13" name="Encre 12">
                <a:extLst>
                  <a:ext uri="{FF2B5EF4-FFF2-40B4-BE49-F238E27FC236}">
                    <a16:creationId xmlns:a16="http://schemas.microsoft.com/office/drawing/2014/main" id="{CFE1E933-A8E1-A4E7-18C3-03316E1A1EDB}"/>
                  </a:ext>
                </a:extLst>
              </p:cNvPr>
              <p:cNvPicPr/>
              <p:nvPr/>
            </p:nvPicPr>
            <p:blipFill>
              <a:blip r:embed="rId12"/>
              <a:stretch>
                <a:fillRect/>
              </a:stretch>
            </p:blipFill>
            <p:spPr>
              <a:xfrm>
                <a:off x="6666396" y="1804960"/>
                <a:ext cx="684000" cy="260280"/>
              </a:xfrm>
              <a:prstGeom prst="rect">
                <a:avLst/>
              </a:prstGeom>
            </p:spPr>
          </p:pic>
        </mc:Fallback>
      </mc:AlternateContent>
    </p:spTree>
    <p:extLst>
      <p:ext uri="{BB962C8B-B14F-4D97-AF65-F5344CB8AC3E}">
        <p14:creationId xmlns:p14="http://schemas.microsoft.com/office/powerpoint/2010/main" val="3557430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370DFDA-8E8F-88D3-E2B3-648566404EE7}"/>
              </a:ext>
            </a:extLst>
          </p:cNvPr>
          <p:cNvSpPr txBox="1"/>
          <p:nvPr/>
        </p:nvSpPr>
        <p:spPr>
          <a:xfrm>
            <a:off x="141464" y="300273"/>
            <a:ext cx="4572000" cy="584775"/>
          </a:xfrm>
          <a:prstGeom prst="rect">
            <a:avLst/>
          </a:prstGeom>
          <a:noFill/>
        </p:spPr>
        <p:txBody>
          <a:bodyPr wrap="square">
            <a:spAutoFit/>
          </a:bodyPr>
          <a:lstStyle/>
          <a:p>
            <a:r>
              <a:rPr lang="fr-FR" sz="3200" dirty="0">
                <a:solidFill>
                  <a:schemeClr val="dk1"/>
                </a:solidFill>
                <a:latin typeface="Poppins Medium"/>
                <a:cs typeface="Poppins Medium"/>
                <a:sym typeface="Poppins Medium"/>
              </a:rPr>
              <a:t>ANOVA</a:t>
            </a:r>
          </a:p>
        </p:txBody>
      </p:sp>
      <p:pic>
        <p:nvPicPr>
          <p:cNvPr id="5" name="Image 4" descr="Une image contenant table&#10;&#10;Description générée automatiquement">
            <a:extLst>
              <a:ext uri="{FF2B5EF4-FFF2-40B4-BE49-F238E27FC236}">
                <a16:creationId xmlns:a16="http://schemas.microsoft.com/office/drawing/2014/main" id="{24DB03C2-7D41-7CBF-FEFE-E3E76BFBEB78}"/>
              </a:ext>
            </a:extLst>
          </p:cNvPr>
          <p:cNvPicPr>
            <a:picLocks noChangeAspect="1"/>
          </p:cNvPicPr>
          <p:nvPr/>
        </p:nvPicPr>
        <p:blipFill>
          <a:blip r:embed="rId2"/>
          <a:stretch>
            <a:fillRect/>
          </a:stretch>
        </p:blipFill>
        <p:spPr>
          <a:xfrm>
            <a:off x="0" y="1540114"/>
            <a:ext cx="5672396" cy="2934677"/>
          </a:xfrm>
          <a:prstGeom prst="rect">
            <a:avLst/>
          </a:prstGeom>
        </p:spPr>
      </p:pic>
      <p:pic>
        <p:nvPicPr>
          <p:cNvPr id="7" name="Image 6">
            <a:extLst>
              <a:ext uri="{FF2B5EF4-FFF2-40B4-BE49-F238E27FC236}">
                <a16:creationId xmlns:a16="http://schemas.microsoft.com/office/drawing/2014/main" id="{68F94546-8768-CEC3-307D-C2A460E15FBD}"/>
              </a:ext>
            </a:extLst>
          </p:cNvPr>
          <p:cNvPicPr>
            <a:picLocks noChangeAspect="1"/>
          </p:cNvPicPr>
          <p:nvPr/>
        </p:nvPicPr>
        <p:blipFill>
          <a:blip r:embed="rId3"/>
          <a:stretch>
            <a:fillRect/>
          </a:stretch>
        </p:blipFill>
        <p:spPr>
          <a:xfrm>
            <a:off x="5091039" y="742950"/>
            <a:ext cx="4133069" cy="3839754"/>
          </a:xfrm>
          <a:prstGeom prst="rect">
            <a:avLst/>
          </a:prstGeom>
        </p:spPr>
      </p:pic>
      <p:pic>
        <p:nvPicPr>
          <p:cNvPr id="9" name="Image 8">
            <a:extLst>
              <a:ext uri="{FF2B5EF4-FFF2-40B4-BE49-F238E27FC236}">
                <a16:creationId xmlns:a16="http://schemas.microsoft.com/office/drawing/2014/main" id="{A42C119E-5153-67EA-1DF8-FFD6A87B4E34}"/>
              </a:ext>
            </a:extLst>
          </p:cNvPr>
          <p:cNvPicPr>
            <a:picLocks noChangeAspect="1"/>
          </p:cNvPicPr>
          <p:nvPr/>
        </p:nvPicPr>
        <p:blipFill>
          <a:blip r:embed="rId4"/>
          <a:stretch>
            <a:fillRect/>
          </a:stretch>
        </p:blipFill>
        <p:spPr>
          <a:xfrm>
            <a:off x="46360" y="959039"/>
            <a:ext cx="4855891" cy="364986"/>
          </a:xfrm>
          <a:prstGeom prst="rect">
            <a:avLst/>
          </a:prstGeom>
        </p:spPr>
      </p:pic>
    </p:spTree>
    <p:extLst>
      <p:ext uri="{BB962C8B-B14F-4D97-AF65-F5344CB8AC3E}">
        <p14:creationId xmlns:p14="http://schemas.microsoft.com/office/powerpoint/2010/main" val="2104160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C96C532-F63A-0D2F-DFD2-400FA7C08828}"/>
              </a:ext>
            </a:extLst>
          </p:cNvPr>
          <p:cNvPicPr>
            <a:picLocks noChangeAspect="1"/>
          </p:cNvPicPr>
          <p:nvPr/>
        </p:nvPicPr>
        <p:blipFill>
          <a:blip r:embed="rId2"/>
          <a:stretch>
            <a:fillRect/>
          </a:stretch>
        </p:blipFill>
        <p:spPr>
          <a:xfrm>
            <a:off x="316523" y="1024525"/>
            <a:ext cx="8487508" cy="1973307"/>
          </a:xfrm>
          <a:prstGeom prst="rect">
            <a:avLst/>
          </a:prstGeom>
        </p:spPr>
      </p:pic>
      <p:sp>
        <p:nvSpPr>
          <p:cNvPr id="5" name="ZoneTexte 4">
            <a:extLst>
              <a:ext uri="{FF2B5EF4-FFF2-40B4-BE49-F238E27FC236}">
                <a16:creationId xmlns:a16="http://schemas.microsoft.com/office/drawing/2014/main" id="{F2BC0C49-2F0E-A5AC-5475-F177EA831E95}"/>
              </a:ext>
            </a:extLst>
          </p:cNvPr>
          <p:cNvSpPr txBox="1"/>
          <p:nvPr/>
        </p:nvSpPr>
        <p:spPr>
          <a:xfrm>
            <a:off x="316523" y="3165231"/>
            <a:ext cx="8006862" cy="1384995"/>
          </a:xfrm>
          <a:prstGeom prst="rect">
            <a:avLst/>
          </a:prstGeom>
          <a:noFill/>
        </p:spPr>
        <p:txBody>
          <a:bodyPr wrap="square" rtlCol="0">
            <a:spAutoFit/>
          </a:bodyPr>
          <a:lstStyle/>
          <a:p>
            <a:r>
              <a:rPr lang="fr-FR" b="0" i="0" dirty="0">
                <a:effectLst/>
                <a:latin typeface="-apple-system"/>
              </a:rPr>
              <a:t>Pour que l'ANOVA fonctionne, il faut que les données respectent certaines conditions.</a:t>
            </a:r>
            <a:br>
              <a:rPr lang="fr-FR" dirty="0"/>
            </a:br>
            <a:r>
              <a:rPr lang="fr-FR" b="0" i="0" dirty="0">
                <a:effectLst/>
                <a:latin typeface="-apple-system"/>
              </a:rPr>
              <a:t>Ces conditions comprennent un échantillonnage aléatoire, une normalité des données, une homoscédasticité et une absence de </a:t>
            </a:r>
            <a:r>
              <a:rPr lang="fr-FR" b="0" i="0" dirty="0" err="1">
                <a:effectLst/>
                <a:latin typeface="-apple-system"/>
              </a:rPr>
              <a:t>multicolinéarité</a:t>
            </a:r>
            <a:r>
              <a:rPr lang="fr-FR" b="0" i="0" dirty="0">
                <a:effectLst/>
                <a:latin typeface="-apple-system"/>
              </a:rPr>
              <a:t>. </a:t>
            </a:r>
          </a:p>
          <a:p>
            <a:endParaRPr lang="fr-FR" b="0" i="0" dirty="0">
              <a:effectLst/>
              <a:latin typeface="-apple-system"/>
            </a:endParaRPr>
          </a:p>
          <a:p>
            <a:r>
              <a:rPr lang="fr-FR" b="0" i="0" dirty="0">
                <a:effectLst/>
                <a:latin typeface="-apple-system"/>
              </a:rPr>
              <a:t>Ces conditions ne sont pas respectées.</a:t>
            </a:r>
            <a:br>
              <a:rPr lang="fr-FR" dirty="0"/>
            </a:br>
            <a:r>
              <a:rPr lang="fr-FR" b="0" i="0" dirty="0">
                <a:effectLst/>
                <a:latin typeface="-apple-system"/>
              </a:rPr>
              <a:t>Par conséquent, l'ANOVA n'est pas l'outil les plus adaptés pour ce projet.</a:t>
            </a:r>
            <a:endParaRPr lang="fr-FR" dirty="0"/>
          </a:p>
        </p:txBody>
      </p:sp>
      <p:sp>
        <p:nvSpPr>
          <p:cNvPr id="6" name="ZoneTexte 5">
            <a:extLst>
              <a:ext uri="{FF2B5EF4-FFF2-40B4-BE49-F238E27FC236}">
                <a16:creationId xmlns:a16="http://schemas.microsoft.com/office/drawing/2014/main" id="{19D474D3-EE35-373F-E5C0-1B32CF8DE4E1}"/>
              </a:ext>
            </a:extLst>
          </p:cNvPr>
          <p:cNvSpPr txBox="1"/>
          <p:nvPr/>
        </p:nvSpPr>
        <p:spPr>
          <a:xfrm>
            <a:off x="316523" y="272351"/>
            <a:ext cx="4572000" cy="584775"/>
          </a:xfrm>
          <a:prstGeom prst="rect">
            <a:avLst/>
          </a:prstGeom>
          <a:noFill/>
        </p:spPr>
        <p:txBody>
          <a:bodyPr wrap="square">
            <a:spAutoFit/>
          </a:bodyPr>
          <a:lstStyle/>
          <a:p>
            <a:r>
              <a:rPr lang="fr-FR" sz="3200" dirty="0">
                <a:solidFill>
                  <a:schemeClr val="dk1"/>
                </a:solidFill>
                <a:latin typeface="Poppins Medium"/>
                <a:cs typeface="Poppins Medium"/>
                <a:sym typeface="Poppins Medium"/>
              </a:rPr>
              <a:t>ANOVA</a:t>
            </a:r>
          </a:p>
        </p:txBody>
      </p:sp>
    </p:spTree>
    <p:extLst>
      <p:ext uri="{BB962C8B-B14F-4D97-AF65-F5344CB8AC3E}">
        <p14:creationId xmlns:p14="http://schemas.microsoft.com/office/powerpoint/2010/main" val="3059477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0C463040-495E-3FC9-745B-62745144E9F6}"/>
              </a:ext>
            </a:extLst>
          </p:cNvPr>
          <p:cNvPicPr>
            <a:picLocks noChangeAspect="1"/>
          </p:cNvPicPr>
          <p:nvPr/>
        </p:nvPicPr>
        <p:blipFill>
          <a:blip r:embed="rId2"/>
          <a:stretch>
            <a:fillRect/>
          </a:stretch>
        </p:blipFill>
        <p:spPr>
          <a:xfrm>
            <a:off x="0" y="90198"/>
            <a:ext cx="2885697" cy="2054071"/>
          </a:xfrm>
          <a:prstGeom prst="rect">
            <a:avLst/>
          </a:prstGeom>
        </p:spPr>
      </p:pic>
      <p:pic>
        <p:nvPicPr>
          <p:cNvPr id="10" name="Image 9">
            <a:extLst>
              <a:ext uri="{FF2B5EF4-FFF2-40B4-BE49-F238E27FC236}">
                <a16:creationId xmlns:a16="http://schemas.microsoft.com/office/drawing/2014/main" id="{1FF78477-D844-76EA-A721-3FF9C61B9DEA}"/>
              </a:ext>
            </a:extLst>
          </p:cNvPr>
          <p:cNvPicPr>
            <a:picLocks noChangeAspect="1"/>
          </p:cNvPicPr>
          <p:nvPr/>
        </p:nvPicPr>
        <p:blipFill>
          <a:blip r:embed="rId3"/>
          <a:stretch>
            <a:fillRect/>
          </a:stretch>
        </p:blipFill>
        <p:spPr>
          <a:xfrm>
            <a:off x="5734208" y="1993973"/>
            <a:ext cx="3045041" cy="2068150"/>
          </a:xfrm>
          <a:prstGeom prst="rect">
            <a:avLst/>
          </a:prstGeom>
        </p:spPr>
      </p:pic>
      <p:pic>
        <p:nvPicPr>
          <p:cNvPr id="12" name="Image 11">
            <a:extLst>
              <a:ext uri="{FF2B5EF4-FFF2-40B4-BE49-F238E27FC236}">
                <a16:creationId xmlns:a16="http://schemas.microsoft.com/office/drawing/2014/main" id="{4EC5EDCC-8B5B-A7EA-21E9-899193BCE97E}"/>
              </a:ext>
            </a:extLst>
          </p:cNvPr>
          <p:cNvPicPr>
            <a:picLocks noChangeAspect="1"/>
          </p:cNvPicPr>
          <p:nvPr/>
        </p:nvPicPr>
        <p:blipFill>
          <a:blip r:embed="rId4"/>
          <a:stretch>
            <a:fillRect/>
          </a:stretch>
        </p:blipFill>
        <p:spPr>
          <a:xfrm>
            <a:off x="1837602" y="2110284"/>
            <a:ext cx="2618298" cy="1975586"/>
          </a:xfrm>
          <a:prstGeom prst="rect">
            <a:avLst/>
          </a:prstGeom>
        </p:spPr>
      </p:pic>
      <p:pic>
        <p:nvPicPr>
          <p:cNvPr id="14" name="Image 13" descr="Une image contenant texte&#10;&#10;Description générée automatiquement">
            <a:extLst>
              <a:ext uri="{FF2B5EF4-FFF2-40B4-BE49-F238E27FC236}">
                <a16:creationId xmlns:a16="http://schemas.microsoft.com/office/drawing/2014/main" id="{F1309575-B225-B51C-B823-AEEB89E4ED5B}"/>
              </a:ext>
            </a:extLst>
          </p:cNvPr>
          <p:cNvPicPr>
            <a:picLocks noChangeAspect="1"/>
          </p:cNvPicPr>
          <p:nvPr/>
        </p:nvPicPr>
        <p:blipFill>
          <a:blip r:embed="rId5"/>
          <a:stretch>
            <a:fillRect/>
          </a:stretch>
        </p:blipFill>
        <p:spPr>
          <a:xfrm>
            <a:off x="559293" y="4062123"/>
            <a:ext cx="7772400" cy="1081377"/>
          </a:xfrm>
          <a:prstGeom prst="rect">
            <a:avLst/>
          </a:prstGeom>
        </p:spPr>
      </p:pic>
      <p:pic>
        <p:nvPicPr>
          <p:cNvPr id="16" name="Image 15">
            <a:extLst>
              <a:ext uri="{FF2B5EF4-FFF2-40B4-BE49-F238E27FC236}">
                <a16:creationId xmlns:a16="http://schemas.microsoft.com/office/drawing/2014/main" id="{AFE9FE12-3C94-06B7-59ED-2A5788A8CBCE}"/>
              </a:ext>
            </a:extLst>
          </p:cNvPr>
          <p:cNvPicPr>
            <a:picLocks noChangeAspect="1"/>
          </p:cNvPicPr>
          <p:nvPr/>
        </p:nvPicPr>
        <p:blipFill>
          <a:blip r:embed="rId6"/>
          <a:stretch>
            <a:fillRect/>
          </a:stretch>
        </p:blipFill>
        <p:spPr>
          <a:xfrm>
            <a:off x="3146751" y="79959"/>
            <a:ext cx="3157489" cy="2200527"/>
          </a:xfrm>
          <a:prstGeom prst="rect">
            <a:avLst/>
          </a:prstGeom>
        </p:spPr>
      </p:pic>
      <p:sp>
        <p:nvSpPr>
          <p:cNvPr id="2" name="Titre 1">
            <a:extLst>
              <a:ext uri="{FF2B5EF4-FFF2-40B4-BE49-F238E27FC236}">
                <a16:creationId xmlns:a16="http://schemas.microsoft.com/office/drawing/2014/main" id="{4D555AEC-1FC6-1E88-D740-C81DDEE7FEBF}"/>
              </a:ext>
            </a:extLst>
          </p:cNvPr>
          <p:cNvSpPr>
            <a:spLocks noGrp="1"/>
          </p:cNvSpPr>
          <p:nvPr>
            <p:ph type="title"/>
          </p:nvPr>
        </p:nvSpPr>
        <p:spPr>
          <a:xfrm>
            <a:off x="6196930" y="607522"/>
            <a:ext cx="3045042" cy="572700"/>
          </a:xfrm>
        </p:spPr>
        <p:txBody>
          <a:bodyPr/>
          <a:lstStyle/>
          <a:p>
            <a:r>
              <a:rPr lang="fr-FR" sz="2400" b="1" i="0" dirty="0">
                <a:effectLst/>
                <a:latin typeface="-apple-system"/>
              </a:rPr>
              <a:t>Test de</a:t>
            </a:r>
            <a:br>
              <a:rPr lang="fr-FR" sz="2400" b="1" i="0" dirty="0">
                <a:effectLst/>
                <a:latin typeface="-apple-system"/>
              </a:rPr>
            </a:br>
            <a:r>
              <a:rPr lang="fr-FR" sz="2400" dirty="0" err="1"/>
              <a:t>Kruskal</a:t>
            </a:r>
            <a:r>
              <a:rPr lang="fr-FR" sz="2400" dirty="0"/>
              <a:t>-Wallis</a:t>
            </a:r>
          </a:p>
        </p:txBody>
      </p:sp>
    </p:spTree>
    <p:extLst>
      <p:ext uri="{BB962C8B-B14F-4D97-AF65-F5344CB8AC3E}">
        <p14:creationId xmlns:p14="http://schemas.microsoft.com/office/powerpoint/2010/main" val="1840452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6425FFD8-908B-B28D-EF97-76803992216A}"/>
              </a:ext>
            </a:extLst>
          </p:cNvPr>
          <p:cNvSpPr txBox="1"/>
          <p:nvPr/>
        </p:nvSpPr>
        <p:spPr>
          <a:xfrm>
            <a:off x="633047" y="2560517"/>
            <a:ext cx="9675724" cy="1169551"/>
          </a:xfrm>
          <a:prstGeom prst="rect">
            <a:avLst/>
          </a:prstGeom>
          <a:noFill/>
        </p:spPr>
        <p:txBody>
          <a:bodyPr wrap="square">
            <a:spAutoFit/>
          </a:bodyPr>
          <a:lstStyle/>
          <a:p>
            <a:endParaRPr lang="fr-FR" dirty="0"/>
          </a:p>
          <a:p>
            <a:r>
              <a:rPr lang="fr-FR" dirty="0"/>
              <a:t>• </a:t>
            </a:r>
            <a:r>
              <a:rPr lang="fr-FR" dirty="0" err="1"/>
              <a:t>Kruskal</a:t>
            </a:r>
            <a:r>
              <a:rPr lang="fr-FR" dirty="0"/>
              <a:t>-Wallis test p-value for fiber_100g: 2.297 e-135</a:t>
            </a:r>
          </a:p>
          <a:p>
            <a:r>
              <a:rPr lang="fr-FR" dirty="0"/>
              <a:t>• </a:t>
            </a:r>
            <a:r>
              <a:rPr lang="fr-FR" dirty="0" err="1"/>
              <a:t>Kruskal</a:t>
            </a:r>
            <a:r>
              <a:rPr lang="fr-FR" dirty="0"/>
              <a:t>-Wallis test p-value for sugars_100g: 0.0</a:t>
            </a:r>
          </a:p>
          <a:p>
            <a:r>
              <a:rPr lang="fr-FR" dirty="0"/>
              <a:t>• </a:t>
            </a:r>
            <a:r>
              <a:rPr lang="fr-FR" dirty="0" err="1"/>
              <a:t>Kruskal</a:t>
            </a:r>
            <a:r>
              <a:rPr lang="fr-FR" dirty="0"/>
              <a:t>-Wallis test p-value for fat_100g: 0.0</a:t>
            </a:r>
          </a:p>
          <a:p>
            <a:r>
              <a:rPr lang="fr-FR" dirty="0"/>
              <a:t>• </a:t>
            </a:r>
            <a:r>
              <a:rPr lang="fr-FR" dirty="0" err="1"/>
              <a:t>Kruskal</a:t>
            </a:r>
            <a:r>
              <a:rPr lang="fr-FR" dirty="0"/>
              <a:t>-Wallis test p-value for proteins_100g: 6.048e-33</a:t>
            </a:r>
            <a:endParaRPr lang="fr-FR" dirty="0">
              <a:effectLst/>
              <a:latin typeface=".AppleSystemUIFont"/>
            </a:endParaRPr>
          </a:p>
        </p:txBody>
      </p:sp>
      <p:pic>
        <p:nvPicPr>
          <p:cNvPr id="3" name="Image 2" descr="Une image contenant texte&#10;&#10;Description générée automatiquement">
            <a:extLst>
              <a:ext uri="{FF2B5EF4-FFF2-40B4-BE49-F238E27FC236}">
                <a16:creationId xmlns:a16="http://schemas.microsoft.com/office/drawing/2014/main" id="{5B1C90BE-1C00-B4B1-219F-69C6F2B947E8}"/>
              </a:ext>
            </a:extLst>
          </p:cNvPr>
          <p:cNvPicPr>
            <a:picLocks noChangeAspect="1"/>
          </p:cNvPicPr>
          <p:nvPr/>
        </p:nvPicPr>
        <p:blipFill>
          <a:blip r:embed="rId2"/>
          <a:stretch>
            <a:fillRect/>
          </a:stretch>
        </p:blipFill>
        <p:spPr>
          <a:xfrm>
            <a:off x="730250" y="1239717"/>
            <a:ext cx="5549900" cy="1320800"/>
          </a:xfrm>
          <a:prstGeom prst="rect">
            <a:avLst/>
          </a:prstGeom>
        </p:spPr>
      </p:pic>
      <p:sp>
        <p:nvSpPr>
          <p:cNvPr id="5" name="ZoneTexte 4">
            <a:extLst>
              <a:ext uri="{FF2B5EF4-FFF2-40B4-BE49-F238E27FC236}">
                <a16:creationId xmlns:a16="http://schemas.microsoft.com/office/drawing/2014/main" id="{3EF27675-0852-ADEA-7FB9-1FA6B48BBD38}"/>
              </a:ext>
            </a:extLst>
          </p:cNvPr>
          <p:cNvSpPr txBox="1"/>
          <p:nvPr/>
        </p:nvSpPr>
        <p:spPr>
          <a:xfrm>
            <a:off x="445477" y="4160513"/>
            <a:ext cx="8698523" cy="523220"/>
          </a:xfrm>
          <a:prstGeom prst="rect">
            <a:avLst/>
          </a:prstGeom>
          <a:noFill/>
        </p:spPr>
        <p:txBody>
          <a:bodyPr wrap="square" rtlCol="0">
            <a:spAutoFit/>
          </a:bodyPr>
          <a:lstStyle/>
          <a:p>
            <a:r>
              <a:rPr lang="fr-FR" dirty="0"/>
              <a:t>Si la valeur p est inférieure à 0,05, cela signifie que les différences entre les nutriments et le </a:t>
            </a:r>
            <a:r>
              <a:rPr lang="fr-FR" dirty="0" err="1"/>
              <a:t>nutriscore</a:t>
            </a:r>
            <a:r>
              <a:rPr lang="fr-FR" dirty="0"/>
              <a:t> sont statistiquement significatives.</a:t>
            </a:r>
          </a:p>
        </p:txBody>
      </p:sp>
      <p:sp>
        <p:nvSpPr>
          <p:cNvPr id="7" name="ZoneTexte 6">
            <a:extLst>
              <a:ext uri="{FF2B5EF4-FFF2-40B4-BE49-F238E27FC236}">
                <a16:creationId xmlns:a16="http://schemas.microsoft.com/office/drawing/2014/main" id="{2D7DD808-636F-BC5B-6D81-2F10B600B4DF}"/>
              </a:ext>
            </a:extLst>
          </p:cNvPr>
          <p:cNvSpPr txBox="1"/>
          <p:nvPr/>
        </p:nvSpPr>
        <p:spPr>
          <a:xfrm>
            <a:off x="730250" y="151548"/>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alternative non paramétrique à l'</a:t>
            </a:r>
            <a:r>
              <a:rPr lang="fr-FR" sz="2400" b="1" dirty="0" err="1">
                <a:solidFill>
                  <a:schemeClr val="dk1"/>
                </a:solidFill>
                <a:latin typeface="-apple-system"/>
                <a:cs typeface="Poppins Medium"/>
                <a:sym typeface="Poppins Medium"/>
              </a:rPr>
              <a:t>Anova</a:t>
            </a:r>
            <a:r>
              <a:rPr lang="fr-FR" sz="2400" b="1" dirty="0">
                <a:solidFill>
                  <a:schemeClr val="dk1"/>
                </a:solidFill>
                <a:latin typeface="-apple-system"/>
                <a:cs typeface="Poppins Medium"/>
                <a:sym typeface="Poppins Medium"/>
              </a:rPr>
              <a:t> : test </a:t>
            </a:r>
            <a:r>
              <a:rPr lang="fr-FR" sz="2400" b="1" dirty="0" err="1">
                <a:solidFill>
                  <a:schemeClr val="dk1"/>
                </a:solidFill>
                <a:latin typeface="-apple-system"/>
                <a:cs typeface="Poppins Medium"/>
                <a:sym typeface="Poppins Medium"/>
              </a:rPr>
              <a:t>Kruskal</a:t>
            </a:r>
            <a:r>
              <a:rPr lang="fr-FR" sz="2400" b="1" dirty="0">
                <a:solidFill>
                  <a:schemeClr val="dk1"/>
                </a:solidFill>
                <a:latin typeface="-apple-system"/>
                <a:cs typeface="Poppins Medium"/>
                <a:sym typeface="Poppins Medium"/>
              </a:rPr>
              <a:t> Wallis </a:t>
            </a:r>
          </a:p>
        </p:txBody>
      </p:sp>
    </p:spTree>
    <p:extLst>
      <p:ext uri="{BB962C8B-B14F-4D97-AF65-F5344CB8AC3E}">
        <p14:creationId xmlns:p14="http://schemas.microsoft.com/office/powerpoint/2010/main" val="545591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2"/>
          <p:cNvSpPr/>
          <p:nvPr/>
        </p:nvSpPr>
        <p:spPr>
          <a:xfrm>
            <a:off x="4255969" y="1454138"/>
            <a:ext cx="507600" cy="507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2"/>
          <p:cNvSpPr/>
          <p:nvPr/>
        </p:nvSpPr>
        <p:spPr>
          <a:xfrm>
            <a:off x="4255969" y="2259525"/>
            <a:ext cx="507600" cy="507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2"/>
          <p:cNvSpPr/>
          <p:nvPr/>
        </p:nvSpPr>
        <p:spPr>
          <a:xfrm>
            <a:off x="4255969" y="3054950"/>
            <a:ext cx="507600" cy="507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2"/>
          <p:cNvSpPr/>
          <p:nvPr/>
        </p:nvSpPr>
        <p:spPr>
          <a:xfrm>
            <a:off x="4255969" y="3850375"/>
            <a:ext cx="507600" cy="507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2"/>
          <p:cNvSpPr txBox="1">
            <a:spLocks noGrp="1"/>
          </p:cNvSpPr>
          <p:nvPr>
            <p:ph type="title"/>
          </p:nvPr>
        </p:nvSpPr>
        <p:spPr>
          <a:xfrm>
            <a:off x="720000" y="21316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err="1"/>
              <a:t>Présentation</a:t>
            </a:r>
            <a:r>
              <a:rPr lang="en" dirty="0"/>
              <a:t> application</a:t>
            </a:r>
            <a:endParaRPr dirty="0"/>
          </a:p>
        </p:txBody>
      </p:sp>
      <p:sp>
        <p:nvSpPr>
          <p:cNvPr id="364" name="Google Shape;364;p42"/>
          <p:cNvSpPr txBox="1"/>
          <p:nvPr/>
        </p:nvSpPr>
        <p:spPr>
          <a:xfrm>
            <a:off x="70607" y="3787162"/>
            <a:ext cx="2965868" cy="30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dirty="0" err="1">
                <a:solidFill>
                  <a:schemeClr val="dk1"/>
                </a:solidFill>
                <a:latin typeface="Quicksand Medium"/>
                <a:ea typeface="Quicksand Medium"/>
                <a:cs typeface="Quicksand Medium"/>
                <a:sym typeface="Quicksand Medium"/>
              </a:rPr>
              <a:t>Recommandation</a:t>
            </a:r>
            <a:r>
              <a:rPr lang="en" sz="1200" dirty="0">
                <a:solidFill>
                  <a:schemeClr val="dk1"/>
                </a:solidFill>
                <a:latin typeface="Quicksand Medium"/>
                <a:ea typeface="Quicksand Medium"/>
                <a:cs typeface="Quicksand Medium"/>
                <a:sym typeface="Quicksand Medium"/>
              </a:rPr>
              <a:t> qui affiche pour </a:t>
            </a:r>
            <a:r>
              <a:rPr lang="en" sz="1200" dirty="0" err="1">
                <a:solidFill>
                  <a:schemeClr val="dk1"/>
                </a:solidFill>
                <a:latin typeface="Quicksand Medium"/>
                <a:ea typeface="Quicksand Medium"/>
                <a:cs typeface="Quicksand Medium"/>
                <a:sym typeface="Quicksand Medium"/>
              </a:rPr>
              <a:t>chaque</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produit</a:t>
            </a:r>
            <a:r>
              <a:rPr lang="en" sz="1200" dirty="0">
                <a:solidFill>
                  <a:schemeClr val="dk1"/>
                </a:solidFill>
                <a:latin typeface="Quicksand Medium"/>
                <a:ea typeface="Quicksand Medium"/>
                <a:cs typeface="Quicksand Medium"/>
                <a:sym typeface="Quicksand Medium"/>
              </a:rPr>
              <a:t> les pr</a:t>
            </a:r>
            <a:r>
              <a:rPr lang="fr-FR" sz="1200" dirty="0" err="1">
                <a:solidFill>
                  <a:schemeClr val="dk1"/>
                </a:solidFill>
                <a:latin typeface="Quicksand Medium"/>
                <a:ea typeface="Quicksand Medium"/>
                <a:cs typeface="Quicksand Medium"/>
                <a:sym typeface="Quicksand Medium"/>
              </a:rPr>
              <a:t>é</a:t>
            </a:r>
            <a:r>
              <a:rPr lang="en" sz="1200" dirty="0">
                <a:solidFill>
                  <a:schemeClr val="dk1"/>
                </a:solidFill>
                <a:latin typeface="Quicksand Medium"/>
                <a:ea typeface="Quicksand Medium"/>
                <a:cs typeface="Quicksand Medium"/>
                <a:sym typeface="Quicksand Medium"/>
              </a:rPr>
              <a:t>dictions du </a:t>
            </a:r>
            <a:r>
              <a:rPr lang="en" sz="1200" dirty="0" err="1">
                <a:solidFill>
                  <a:schemeClr val="dk1"/>
                </a:solidFill>
                <a:latin typeface="Quicksand Medium"/>
                <a:ea typeface="Quicksand Medium"/>
                <a:cs typeface="Quicksand Medium"/>
                <a:sym typeface="Quicksand Medium"/>
              </a:rPr>
              <a:t>nutriscore</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en</a:t>
            </a:r>
            <a:r>
              <a:rPr lang="en" sz="1200" dirty="0">
                <a:solidFill>
                  <a:schemeClr val="dk1"/>
                </a:solidFill>
                <a:latin typeface="Quicksand Medium"/>
                <a:ea typeface="Quicksand Medium"/>
                <a:cs typeface="Quicksand Medium"/>
                <a:sym typeface="Quicksand Medium"/>
              </a:rPr>
              <a:t> f</a:t>
            </a:r>
            <a:r>
              <a:rPr lang="fr-FR" sz="1200" dirty="0">
                <a:solidFill>
                  <a:schemeClr val="dk1"/>
                </a:solidFill>
                <a:latin typeface="Quicksand Medium"/>
                <a:ea typeface="Quicksand Medium"/>
                <a:cs typeface="Quicksand Medium"/>
                <a:sym typeface="Quicksand Medium"/>
              </a:rPr>
              <a:t>u</a:t>
            </a:r>
            <a:r>
              <a:rPr lang="en" sz="1200" dirty="0" err="1">
                <a:solidFill>
                  <a:schemeClr val="dk1"/>
                </a:solidFill>
                <a:latin typeface="Quicksand Medium"/>
                <a:ea typeface="Quicksand Medium"/>
                <a:cs typeface="Quicksand Medium"/>
                <a:sym typeface="Quicksand Medium"/>
              </a:rPr>
              <a:t>nction</a:t>
            </a:r>
            <a:r>
              <a:rPr lang="en" sz="1200" dirty="0">
                <a:solidFill>
                  <a:schemeClr val="dk1"/>
                </a:solidFill>
                <a:latin typeface="Quicksand Medium"/>
                <a:ea typeface="Quicksand Medium"/>
                <a:cs typeface="Quicksand Medium"/>
                <a:sym typeface="Quicksand Medium"/>
              </a:rPr>
              <a:t> des nutriments </a:t>
            </a:r>
            <a:endParaRPr sz="1200" dirty="0">
              <a:solidFill>
                <a:schemeClr val="dk1"/>
              </a:solidFill>
              <a:latin typeface="Quicksand Medium"/>
              <a:ea typeface="Quicksand Medium"/>
              <a:cs typeface="Quicksand Medium"/>
              <a:sym typeface="Quicksand Medium"/>
            </a:endParaRPr>
          </a:p>
        </p:txBody>
      </p:sp>
      <p:sp>
        <p:nvSpPr>
          <p:cNvPr id="365" name="Google Shape;365;p42"/>
          <p:cNvSpPr txBox="1"/>
          <p:nvPr/>
        </p:nvSpPr>
        <p:spPr>
          <a:xfrm>
            <a:off x="380874" y="1483825"/>
            <a:ext cx="2557301" cy="30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200" dirty="0">
                <a:solidFill>
                  <a:schemeClr val="dk1"/>
                </a:solidFill>
                <a:latin typeface="Quicksand Medium"/>
                <a:ea typeface="Quicksand Medium"/>
                <a:cs typeface="Quicksand Medium"/>
                <a:sym typeface="Quicksand Medium"/>
              </a:rPr>
              <a:t>E</a:t>
            </a:r>
            <a:r>
              <a:rPr lang="en" sz="1200" dirty="0" err="1">
                <a:solidFill>
                  <a:schemeClr val="dk1"/>
                </a:solidFill>
                <a:latin typeface="Quicksand Medium"/>
                <a:ea typeface="Quicksand Medium"/>
                <a:cs typeface="Quicksand Medium"/>
                <a:sym typeface="Quicksand Medium"/>
              </a:rPr>
              <a:t>ntrer</a:t>
            </a:r>
            <a:r>
              <a:rPr lang="en" sz="1200" dirty="0">
                <a:solidFill>
                  <a:schemeClr val="dk1"/>
                </a:solidFill>
                <a:latin typeface="Quicksand Medium"/>
                <a:ea typeface="Quicksand Medium"/>
                <a:cs typeface="Quicksand Medium"/>
                <a:sym typeface="Quicksand Medium"/>
              </a:rPr>
              <a:t> son </a:t>
            </a:r>
            <a:r>
              <a:rPr lang="en" sz="1200" dirty="0" err="1">
                <a:solidFill>
                  <a:schemeClr val="dk1"/>
                </a:solidFill>
                <a:latin typeface="Quicksand Medium"/>
                <a:ea typeface="Quicksand Medium"/>
                <a:cs typeface="Quicksand Medium"/>
                <a:sym typeface="Quicksand Medium"/>
              </a:rPr>
              <a:t>choix</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d’aliment</a:t>
            </a:r>
            <a:endParaRPr sz="1200" dirty="0">
              <a:solidFill>
                <a:schemeClr val="dk1"/>
              </a:solidFill>
              <a:latin typeface="Quicksand Medium"/>
              <a:ea typeface="Quicksand Medium"/>
              <a:cs typeface="Quicksand Medium"/>
              <a:sym typeface="Quicksand Medium"/>
            </a:endParaRPr>
          </a:p>
        </p:txBody>
      </p:sp>
      <p:sp>
        <p:nvSpPr>
          <p:cNvPr id="366" name="Google Shape;366;p42"/>
          <p:cNvSpPr txBox="1"/>
          <p:nvPr/>
        </p:nvSpPr>
        <p:spPr>
          <a:xfrm>
            <a:off x="-506896" y="2285438"/>
            <a:ext cx="3283875" cy="30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200" dirty="0">
                <a:solidFill>
                  <a:schemeClr val="dk1"/>
                </a:solidFill>
                <a:latin typeface="Quicksand Medium"/>
                <a:ea typeface="Quicksand Medium"/>
                <a:cs typeface="Quicksand Medium"/>
                <a:sym typeface="Quicksand Medium"/>
              </a:rPr>
              <a:t>Trouver </a:t>
            </a:r>
            <a:r>
              <a:rPr lang="en" sz="1200" dirty="0">
                <a:solidFill>
                  <a:schemeClr val="dk1"/>
                </a:solidFill>
                <a:latin typeface="Quicksand Medium"/>
                <a:ea typeface="Quicksand Medium"/>
                <a:cs typeface="Quicksand Medium"/>
                <a:sym typeface="Quicksand Medium"/>
              </a:rPr>
              <a:t>les </a:t>
            </a:r>
            <a:r>
              <a:rPr lang="en" sz="1200" dirty="0" err="1">
                <a:solidFill>
                  <a:schemeClr val="dk1"/>
                </a:solidFill>
                <a:latin typeface="Quicksand Medium"/>
                <a:ea typeface="Quicksand Medium"/>
                <a:cs typeface="Quicksand Medium"/>
                <a:sym typeface="Quicksand Medium"/>
              </a:rPr>
              <a:t>informations</a:t>
            </a:r>
            <a:r>
              <a:rPr lang="en" sz="1200" dirty="0">
                <a:solidFill>
                  <a:schemeClr val="dk1"/>
                </a:solidFill>
                <a:latin typeface="Quicksand Medium"/>
                <a:ea typeface="Quicksand Medium"/>
                <a:cs typeface="Quicksand Medium"/>
                <a:sym typeface="Quicksand Medium"/>
              </a:rPr>
              <a:t> sur </a:t>
            </a:r>
            <a:r>
              <a:rPr lang="en" sz="1200" dirty="0" err="1">
                <a:solidFill>
                  <a:schemeClr val="dk1"/>
                </a:solidFill>
                <a:latin typeface="Quicksand Medium"/>
                <a:ea typeface="Quicksand Medium"/>
                <a:cs typeface="Quicksand Medium"/>
                <a:sym typeface="Quicksand Medium"/>
              </a:rPr>
              <a:t>sa</a:t>
            </a:r>
            <a:r>
              <a:rPr lang="en" sz="1200" dirty="0">
                <a:solidFill>
                  <a:schemeClr val="dk1"/>
                </a:solidFill>
                <a:latin typeface="Quicksand Medium"/>
                <a:ea typeface="Quicksand Medium"/>
                <a:cs typeface="Quicksand Medium"/>
                <a:sym typeface="Quicksand Medium"/>
              </a:rPr>
              <a:t> composition et son </a:t>
            </a:r>
            <a:r>
              <a:rPr lang="en" sz="1200" dirty="0" err="1">
                <a:solidFill>
                  <a:schemeClr val="dk1"/>
                </a:solidFill>
                <a:latin typeface="Quicksand Medium"/>
                <a:ea typeface="Quicksand Medium"/>
                <a:cs typeface="Quicksand Medium"/>
                <a:sym typeface="Quicksand Medium"/>
              </a:rPr>
              <a:t>nutriscore</a:t>
            </a:r>
            <a:endParaRPr sz="1200" dirty="0">
              <a:solidFill>
                <a:schemeClr val="dk1"/>
              </a:solidFill>
              <a:latin typeface="Quicksand Medium"/>
              <a:ea typeface="Quicksand Medium"/>
              <a:cs typeface="Quicksand Medium"/>
              <a:sym typeface="Quicksand Medium"/>
            </a:endParaRPr>
          </a:p>
        </p:txBody>
      </p:sp>
      <p:sp>
        <p:nvSpPr>
          <p:cNvPr id="367" name="Google Shape;367;p42"/>
          <p:cNvSpPr txBox="1"/>
          <p:nvPr/>
        </p:nvSpPr>
        <p:spPr>
          <a:xfrm>
            <a:off x="-66630" y="3031126"/>
            <a:ext cx="3558209" cy="309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dirty="0" err="1">
                <a:solidFill>
                  <a:schemeClr val="dk1"/>
                </a:solidFill>
                <a:latin typeface="Quicksand Medium"/>
                <a:ea typeface="Quicksand Medium"/>
                <a:cs typeface="Quicksand Medium"/>
                <a:sym typeface="Quicksand Medium"/>
              </a:rPr>
              <a:t>Obtenir</a:t>
            </a:r>
            <a:r>
              <a:rPr lang="en" sz="1200" dirty="0">
                <a:solidFill>
                  <a:schemeClr val="dk1"/>
                </a:solidFill>
                <a:latin typeface="Quicksand Medium"/>
                <a:ea typeface="Quicksand Medium"/>
                <a:cs typeface="Quicksand Medium"/>
                <a:sym typeface="Quicksand Medium"/>
              </a:rPr>
              <a:t> 5 </a:t>
            </a:r>
            <a:r>
              <a:rPr lang="en" sz="1200" dirty="0" err="1">
                <a:solidFill>
                  <a:schemeClr val="dk1"/>
                </a:solidFill>
                <a:latin typeface="Quicksand Medium"/>
                <a:ea typeface="Quicksand Medium"/>
                <a:cs typeface="Quicksand Medium"/>
                <a:sym typeface="Quicksand Medium"/>
              </a:rPr>
              <a:t>autres</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produits</a:t>
            </a:r>
            <a:r>
              <a:rPr lang="en" sz="1200" dirty="0">
                <a:solidFill>
                  <a:schemeClr val="dk1"/>
                </a:solidFill>
                <a:latin typeface="Quicksand Medium"/>
                <a:ea typeface="Quicksand Medium"/>
                <a:cs typeface="Quicksand Medium"/>
                <a:sym typeface="Quicksand Medium"/>
              </a:rPr>
              <a:t> </a:t>
            </a:r>
            <a:r>
              <a:rPr lang="en" sz="1200" dirty="0" err="1">
                <a:solidFill>
                  <a:schemeClr val="dk1"/>
                </a:solidFill>
                <a:latin typeface="Quicksand Medium"/>
                <a:ea typeface="Quicksand Medium"/>
                <a:cs typeface="Quicksand Medium"/>
                <a:sym typeface="Quicksand Medium"/>
              </a:rPr>
              <a:t>recommandés</a:t>
            </a:r>
            <a:endParaRPr sz="1200" dirty="0">
              <a:solidFill>
                <a:schemeClr val="dk1"/>
              </a:solidFill>
              <a:latin typeface="Quicksand Medium"/>
              <a:ea typeface="Quicksand Medium"/>
              <a:cs typeface="Quicksand Medium"/>
              <a:sym typeface="Quicksand Medium"/>
            </a:endParaRPr>
          </a:p>
        </p:txBody>
      </p:sp>
      <p:grpSp>
        <p:nvGrpSpPr>
          <p:cNvPr id="368" name="Google Shape;368;p42"/>
          <p:cNvGrpSpPr/>
          <p:nvPr/>
        </p:nvGrpSpPr>
        <p:grpSpPr>
          <a:xfrm>
            <a:off x="4331873" y="2343263"/>
            <a:ext cx="355641" cy="340151"/>
            <a:chOff x="5049750" y="832600"/>
            <a:chExt cx="505100" cy="483100"/>
          </a:xfrm>
        </p:grpSpPr>
        <p:sp>
          <p:nvSpPr>
            <p:cNvPr id="369" name="Google Shape;369;p42"/>
            <p:cNvSpPr/>
            <p:nvPr/>
          </p:nvSpPr>
          <p:spPr>
            <a:xfrm>
              <a:off x="5049750" y="832600"/>
              <a:ext cx="505100" cy="483100"/>
            </a:xfrm>
            <a:custGeom>
              <a:avLst/>
              <a:gdLst/>
              <a:ahLst/>
              <a:cxnLst/>
              <a:rect l="l" t="t" r="r" b="b"/>
              <a:pathLst>
                <a:path w="20204" h="19324" extrusionOk="0">
                  <a:moveTo>
                    <a:pt x="12136" y="1129"/>
                  </a:moveTo>
                  <a:cubicBezTo>
                    <a:pt x="13730" y="1129"/>
                    <a:pt x="15325" y="1737"/>
                    <a:pt x="16538" y="2952"/>
                  </a:cubicBezTo>
                  <a:cubicBezTo>
                    <a:pt x="18969" y="5383"/>
                    <a:pt x="18969" y="9323"/>
                    <a:pt x="16538" y="11757"/>
                  </a:cubicBezTo>
                  <a:cubicBezTo>
                    <a:pt x="15341" y="12950"/>
                    <a:pt x="13747" y="13579"/>
                    <a:pt x="12129" y="13579"/>
                  </a:cubicBezTo>
                  <a:cubicBezTo>
                    <a:pt x="11233" y="13579"/>
                    <a:pt x="10329" y="13386"/>
                    <a:pt x="9482" y="12989"/>
                  </a:cubicBezTo>
                  <a:cubicBezTo>
                    <a:pt x="9461" y="12980"/>
                    <a:pt x="9440" y="12968"/>
                    <a:pt x="9419" y="12959"/>
                  </a:cubicBezTo>
                  <a:cubicBezTo>
                    <a:pt x="8794" y="12657"/>
                    <a:pt x="8223" y="12249"/>
                    <a:pt x="7734" y="11757"/>
                  </a:cubicBezTo>
                  <a:cubicBezTo>
                    <a:pt x="5306" y="9329"/>
                    <a:pt x="5306" y="5380"/>
                    <a:pt x="7734" y="2952"/>
                  </a:cubicBezTo>
                  <a:cubicBezTo>
                    <a:pt x="8948" y="1737"/>
                    <a:pt x="10542" y="1129"/>
                    <a:pt x="12136" y="1129"/>
                  </a:cubicBezTo>
                  <a:close/>
                  <a:moveTo>
                    <a:pt x="5871" y="11216"/>
                  </a:moveTo>
                  <a:cubicBezTo>
                    <a:pt x="6475" y="12195"/>
                    <a:pt x="7296" y="13016"/>
                    <a:pt x="8271" y="13620"/>
                  </a:cubicBezTo>
                  <a:lnTo>
                    <a:pt x="7734" y="14160"/>
                  </a:lnTo>
                  <a:cubicBezTo>
                    <a:pt x="7622" y="14271"/>
                    <a:pt x="7477" y="14326"/>
                    <a:pt x="7332" y="14326"/>
                  </a:cubicBezTo>
                  <a:cubicBezTo>
                    <a:pt x="7188" y="14326"/>
                    <a:pt x="7044" y="14271"/>
                    <a:pt x="6934" y="14160"/>
                  </a:cubicBezTo>
                  <a:lnTo>
                    <a:pt x="5330" y="12557"/>
                  </a:lnTo>
                  <a:cubicBezTo>
                    <a:pt x="5110" y="12337"/>
                    <a:pt x="5110" y="11977"/>
                    <a:pt x="5330" y="11757"/>
                  </a:cubicBezTo>
                  <a:lnTo>
                    <a:pt x="5871" y="11216"/>
                  </a:lnTo>
                  <a:close/>
                  <a:moveTo>
                    <a:pt x="4932" y="13762"/>
                  </a:moveTo>
                  <a:lnTo>
                    <a:pt x="5732" y="14562"/>
                  </a:lnTo>
                  <a:lnTo>
                    <a:pt x="4932" y="15362"/>
                  </a:lnTo>
                  <a:lnTo>
                    <a:pt x="4131" y="14562"/>
                  </a:lnTo>
                  <a:lnTo>
                    <a:pt x="4932" y="13762"/>
                  </a:lnTo>
                  <a:close/>
                  <a:moveTo>
                    <a:pt x="3328" y="15362"/>
                  </a:moveTo>
                  <a:lnTo>
                    <a:pt x="4128" y="16162"/>
                  </a:lnTo>
                  <a:lnTo>
                    <a:pt x="2268" y="18025"/>
                  </a:lnTo>
                  <a:cubicBezTo>
                    <a:pt x="2157" y="18135"/>
                    <a:pt x="2013" y="18190"/>
                    <a:pt x="1868" y="18190"/>
                  </a:cubicBezTo>
                  <a:cubicBezTo>
                    <a:pt x="1723" y="18190"/>
                    <a:pt x="1577" y="18134"/>
                    <a:pt x="1465" y="18022"/>
                  </a:cubicBezTo>
                  <a:cubicBezTo>
                    <a:pt x="1245" y="17802"/>
                    <a:pt x="1245" y="17443"/>
                    <a:pt x="1465" y="17222"/>
                  </a:cubicBezTo>
                  <a:lnTo>
                    <a:pt x="3328" y="15362"/>
                  </a:lnTo>
                  <a:close/>
                  <a:moveTo>
                    <a:pt x="12135" y="1"/>
                  </a:moveTo>
                  <a:cubicBezTo>
                    <a:pt x="10250" y="1"/>
                    <a:pt x="8365" y="718"/>
                    <a:pt x="6931" y="2152"/>
                  </a:cubicBezTo>
                  <a:cubicBezTo>
                    <a:pt x="4769" y="4311"/>
                    <a:pt x="4237" y="7493"/>
                    <a:pt x="5330" y="10157"/>
                  </a:cubicBezTo>
                  <a:lnTo>
                    <a:pt x="4527" y="10957"/>
                  </a:lnTo>
                  <a:cubicBezTo>
                    <a:pt x="4020" y="11467"/>
                    <a:pt x="3887" y="12240"/>
                    <a:pt x="4198" y="12892"/>
                  </a:cubicBezTo>
                  <a:lnTo>
                    <a:pt x="665" y="16422"/>
                  </a:lnTo>
                  <a:cubicBezTo>
                    <a:pt x="1" y="17086"/>
                    <a:pt x="1" y="18161"/>
                    <a:pt x="665" y="18825"/>
                  </a:cubicBezTo>
                  <a:cubicBezTo>
                    <a:pt x="996" y="19158"/>
                    <a:pt x="1431" y="19324"/>
                    <a:pt x="1865" y="19324"/>
                  </a:cubicBezTo>
                  <a:cubicBezTo>
                    <a:pt x="2300" y="19324"/>
                    <a:pt x="2735" y="19158"/>
                    <a:pt x="3066" y="18825"/>
                  </a:cubicBezTo>
                  <a:lnTo>
                    <a:pt x="6598" y="15293"/>
                  </a:lnTo>
                  <a:cubicBezTo>
                    <a:pt x="6831" y="15403"/>
                    <a:pt x="7081" y="15457"/>
                    <a:pt x="7328" y="15457"/>
                  </a:cubicBezTo>
                  <a:cubicBezTo>
                    <a:pt x="7770" y="15457"/>
                    <a:pt x="8206" y="15286"/>
                    <a:pt x="8531" y="14961"/>
                  </a:cubicBezTo>
                  <a:lnTo>
                    <a:pt x="9331" y="14163"/>
                  </a:lnTo>
                  <a:cubicBezTo>
                    <a:pt x="10241" y="14538"/>
                    <a:pt x="11190" y="14717"/>
                    <a:pt x="12127" y="14717"/>
                  </a:cubicBezTo>
                  <a:cubicBezTo>
                    <a:pt x="14530" y="14717"/>
                    <a:pt x="16858" y="13537"/>
                    <a:pt x="18256" y="11437"/>
                  </a:cubicBezTo>
                  <a:cubicBezTo>
                    <a:pt x="20204" y="8520"/>
                    <a:pt x="19821" y="4631"/>
                    <a:pt x="17342" y="2152"/>
                  </a:cubicBezTo>
                  <a:cubicBezTo>
                    <a:pt x="15906" y="718"/>
                    <a:pt x="14020" y="1"/>
                    <a:pt x="121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0" name="Google Shape;370;p42"/>
            <p:cNvSpPr/>
            <p:nvPr/>
          </p:nvSpPr>
          <p:spPr>
            <a:xfrm>
              <a:off x="5216725" y="889175"/>
              <a:ext cx="276000" cy="254400"/>
            </a:xfrm>
            <a:custGeom>
              <a:avLst/>
              <a:gdLst/>
              <a:ahLst/>
              <a:cxnLst/>
              <a:rect l="l" t="t" r="r" b="b"/>
              <a:pathLst>
                <a:path w="11040" h="10176" extrusionOk="0">
                  <a:moveTo>
                    <a:pt x="5456" y="1133"/>
                  </a:moveTo>
                  <a:cubicBezTo>
                    <a:pt x="6487" y="1133"/>
                    <a:pt x="7500" y="1535"/>
                    <a:pt x="8259" y="2293"/>
                  </a:cubicBezTo>
                  <a:cubicBezTo>
                    <a:pt x="9802" y="3839"/>
                    <a:pt x="9802" y="6348"/>
                    <a:pt x="8259" y="7897"/>
                  </a:cubicBezTo>
                  <a:cubicBezTo>
                    <a:pt x="7501" y="8653"/>
                    <a:pt x="6489" y="9055"/>
                    <a:pt x="5460" y="9055"/>
                  </a:cubicBezTo>
                  <a:cubicBezTo>
                    <a:pt x="4948" y="9055"/>
                    <a:pt x="4433" y="8956"/>
                    <a:pt x="3941" y="8751"/>
                  </a:cubicBezTo>
                  <a:cubicBezTo>
                    <a:pt x="2462" y="8138"/>
                    <a:pt x="1499" y="6695"/>
                    <a:pt x="1499" y="5095"/>
                  </a:cubicBezTo>
                  <a:cubicBezTo>
                    <a:pt x="1499" y="3491"/>
                    <a:pt x="2462" y="2048"/>
                    <a:pt x="3941" y="1435"/>
                  </a:cubicBezTo>
                  <a:cubicBezTo>
                    <a:pt x="4431" y="1232"/>
                    <a:pt x="4946" y="1133"/>
                    <a:pt x="5456" y="1133"/>
                  </a:cubicBezTo>
                  <a:close/>
                  <a:moveTo>
                    <a:pt x="5468" y="1"/>
                  </a:moveTo>
                  <a:cubicBezTo>
                    <a:pt x="5465" y="1"/>
                    <a:pt x="5461" y="1"/>
                    <a:pt x="5457" y="1"/>
                  </a:cubicBezTo>
                  <a:cubicBezTo>
                    <a:pt x="3029" y="4"/>
                    <a:pt x="943" y="1719"/>
                    <a:pt x="472" y="4098"/>
                  </a:cubicBezTo>
                  <a:cubicBezTo>
                    <a:pt x="1" y="6481"/>
                    <a:pt x="1275" y="8860"/>
                    <a:pt x="3519" y="9787"/>
                  </a:cubicBezTo>
                  <a:cubicBezTo>
                    <a:pt x="4151" y="10049"/>
                    <a:pt x="4811" y="10175"/>
                    <a:pt x="5463" y="10175"/>
                  </a:cubicBezTo>
                  <a:cubicBezTo>
                    <a:pt x="7120" y="10175"/>
                    <a:pt x="8725" y="9362"/>
                    <a:pt x="9693" y="7912"/>
                  </a:cubicBezTo>
                  <a:cubicBezTo>
                    <a:pt x="11040" y="5895"/>
                    <a:pt x="10774" y="3207"/>
                    <a:pt x="9059" y="1492"/>
                  </a:cubicBezTo>
                  <a:cubicBezTo>
                    <a:pt x="8108" y="535"/>
                    <a:pt x="6814" y="1"/>
                    <a:pt x="54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71" name="Google Shape;371;p42"/>
          <p:cNvGrpSpPr/>
          <p:nvPr/>
        </p:nvGrpSpPr>
        <p:grpSpPr>
          <a:xfrm>
            <a:off x="4338004" y="1537827"/>
            <a:ext cx="343530" cy="340221"/>
            <a:chOff x="3860250" y="1427025"/>
            <a:chExt cx="487900" cy="483200"/>
          </a:xfrm>
        </p:grpSpPr>
        <p:sp>
          <p:nvSpPr>
            <p:cNvPr id="372" name="Google Shape;372;p42"/>
            <p:cNvSpPr/>
            <p:nvPr/>
          </p:nvSpPr>
          <p:spPr>
            <a:xfrm>
              <a:off x="3875800" y="1427025"/>
              <a:ext cx="472350" cy="468650"/>
            </a:xfrm>
            <a:custGeom>
              <a:avLst/>
              <a:gdLst/>
              <a:ahLst/>
              <a:cxnLst/>
              <a:rect l="l" t="t" r="r" b="b"/>
              <a:pathLst>
                <a:path w="18894" h="18746" extrusionOk="0">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3" name="Google Shape;373;p42"/>
            <p:cNvSpPr/>
            <p:nvPr/>
          </p:nvSpPr>
          <p:spPr>
            <a:xfrm>
              <a:off x="3860250" y="1861675"/>
              <a:ext cx="54675" cy="48550"/>
            </a:xfrm>
            <a:custGeom>
              <a:avLst/>
              <a:gdLst/>
              <a:ahLst/>
              <a:cxnLst/>
              <a:rect l="l" t="t" r="r" b="b"/>
              <a:pathLst>
                <a:path w="2187" h="1942" extrusionOk="0">
                  <a:moveTo>
                    <a:pt x="1563" y="1"/>
                  </a:moveTo>
                  <a:cubicBezTo>
                    <a:pt x="1416" y="1"/>
                    <a:pt x="1268" y="58"/>
                    <a:pt x="1157" y="172"/>
                  </a:cubicBezTo>
                  <a:lnTo>
                    <a:pt x="357" y="976"/>
                  </a:lnTo>
                  <a:cubicBezTo>
                    <a:pt x="0" y="1332"/>
                    <a:pt x="254" y="1942"/>
                    <a:pt x="758" y="1942"/>
                  </a:cubicBezTo>
                  <a:cubicBezTo>
                    <a:pt x="906" y="1942"/>
                    <a:pt x="1051" y="1882"/>
                    <a:pt x="1157" y="1776"/>
                  </a:cubicBezTo>
                  <a:lnTo>
                    <a:pt x="1957" y="973"/>
                  </a:lnTo>
                  <a:cubicBezTo>
                    <a:pt x="2184" y="755"/>
                    <a:pt x="2187" y="390"/>
                    <a:pt x="1963" y="166"/>
                  </a:cubicBezTo>
                  <a:cubicBezTo>
                    <a:pt x="1853" y="56"/>
                    <a:pt x="1708" y="1"/>
                    <a:pt x="1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4" name="Google Shape;374;p42"/>
            <p:cNvSpPr/>
            <p:nvPr/>
          </p:nvSpPr>
          <p:spPr>
            <a:xfrm>
              <a:off x="3923425" y="1801775"/>
              <a:ext cx="51350" cy="48550"/>
            </a:xfrm>
            <a:custGeom>
              <a:avLst/>
              <a:gdLst/>
              <a:ahLst/>
              <a:cxnLst/>
              <a:rect l="l" t="t" r="r" b="b"/>
              <a:pathLst>
                <a:path w="2054" h="1942" extrusionOk="0">
                  <a:moveTo>
                    <a:pt x="1430" y="0"/>
                  </a:moveTo>
                  <a:cubicBezTo>
                    <a:pt x="1286" y="0"/>
                    <a:pt x="1141" y="56"/>
                    <a:pt x="1030" y="168"/>
                  </a:cubicBezTo>
                  <a:lnTo>
                    <a:pt x="230" y="968"/>
                  </a:lnTo>
                  <a:cubicBezTo>
                    <a:pt x="4" y="1189"/>
                    <a:pt x="1" y="1551"/>
                    <a:pt x="224" y="1774"/>
                  </a:cubicBezTo>
                  <a:cubicBezTo>
                    <a:pt x="334" y="1886"/>
                    <a:pt x="478" y="1941"/>
                    <a:pt x="623" y="1941"/>
                  </a:cubicBezTo>
                  <a:cubicBezTo>
                    <a:pt x="771" y="1941"/>
                    <a:pt x="919" y="1883"/>
                    <a:pt x="1030" y="1768"/>
                  </a:cubicBezTo>
                  <a:lnTo>
                    <a:pt x="1831" y="968"/>
                  </a:lnTo>
                  <a:cubicBezTo>
                    <a:pt x="2054" y="745"/>
                    <a:pt x="2051" y="388"/>
                    <a:pt x="1831" y="168"/>
                  </a:cubicBezTo>
                  <a:cubicBezTo>
                    <a:pt x="1720" y="56"/>
                    <a:pt x="1575" y="0"/>
                    <a:pt x="14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75" name="Google Shape;375;p42"/>
          <p:cNvGrpSpPr/>
          <p:nvPr/>
        </p:nvGrpSpPr>
        <p:grpSpPr>
          <a:xfrm>
            <a:off x="4347900" y="3148628"/>
            <a:ext cx="323587" cy="320242"/>
            <a:chOff x="3282325" y="2035675"/>
            <a:chExt cx="459575" cy="454825"/>
          </a:xfrm>
        </p:grpSpPr>
        <p:sp>
          <p:nvSpPr>
            <p:cNvPr id="376" name="Google Shape;376;p42"/>
            <p:cNvSpPr/>
            <p:nvPr/>
          </p:nvSpPr>
          <p:spPr>
            <a:xfrm>
              <a:off x="3337050" y="2234125"/>
              <a:ext cx="85925" cy="206325"/>
            </a:xfrm>
            <a:custGeom>
              <a:avLst/>
              <a:gdLst/>
              <a:ahLst/>
              <a:cxnLst/>
              <a:rect l="l" t="t" r="r" b="b"/>
              <a:pathLst>
                <a:path w="3437" h="8253" extrusionOk="0">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7" name="Google Shape;377;p42"/>
            <p:cNvSpPr/>
            <p:nvPr/>
          </p:nvSpPr>
          <p:spPr>
            <a:xfrm>
              <a:off x="3451275" y="2175475"/>
              <a:ext cx="84925" cy="264975"/>
            </a:xfrm>
            <a:custGeom>
              <a:avLst/>
              <a:gdLst/>
              <a:ahLst/>
              <a:cxnLst/>
              <a:rect l="l" t="t" r="r" b="b"/>
              <a:pathLst>
                <a:path w="3397" h="10599" extrusionOk="0">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8" name="Google Shape;378;p42"/>
            <p:cNvSpPr/>
            <p:nvPr/>
          </p:nvSpPr>
          <p:spPr>
            <a:xfrm>
              <a:off x="3564500" y="2116825"/>
              <a:ext cx="84950" cy="323625"/>
            </a:xfrm>
            <a:custGeom>
              <a:avLst/>
              <a:gdLst/>
              <a:ahLst/>
              <a:cxnLst/>
              <a:rect l="l" t="t" r="r" b="b"/>
              <a:pathLst>
                <a:path w="3398" h="12945" extrusionOk="0">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9" name="Google Shape;379;p42"/>
            <p:cNvSpPr/>
            <p:nvPr/>
          </p:nvSpPr>
          <p:spPr>
            <a:xfrm>
              <a:off x="3282325" y="2035675"/>
              <a:ext cx="459575" cy="454825"/>
            </a:xfrm>
            <a:custGeom>
              <a:avLst/>
              <a:gdLst/>
              <a:ahLst/>
              <a:cxnLst/>
              <a:rect l="l" t="t" r="r" b="b"/>
              <a:pathLst>
                <a:path w="18383" h="18193" extrusionOk="0">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80" name="Google Shape;380;p42"/>
          <p:cNvGrpSpPr/>
          <p:nvPr/>
        </p:nvGrpSpPr>
        <p:grpSpPr>
          <a:xfrm>
            <a:off x="4339126" y="3934085"/>
            <a:ext cx="341136" cy="340204"/>
            <a:chOff x="3269875" y="3210400"/>
            <a:chExt cx="484500" cy="483175"/>
          </a:xfrm>
        </p:grpSpPr>
        <p:sp>
          <p:nvSpPr>
            <p:cNvPr id="381" name="Google Shape;381;p42"/>
            <p:cNvSpPr/>
            <p:nvPr/>
          </p:nvSpPr>
          <p:spPr>
            <a:xfrm>
              <a:off x="3364000" y="3303850"/>
              <a:ext cx="296300" cy="296300"/>
            </a:xfrm>
            <a:custGeom>
              <a:avLst/>
              <a:gdLst/>
              <a:ahLst/>
              <a:cxnLst/>
              <a:rect l="l" t="t" r="r" b="b"/>
              <a:pathLst>
                <a:path w="11852" h="11852" extrusionOk="0">
                  <a:moveTo>
                    <a:pt x="5925" y="1132"/>
                  </a:moveTo>
                  <a:cubicBezTo>
                    <a:pt x="7863" y="1132"/>
                    <a:pt x="9612" y="2298"/>
                    <a:pt x="10354" y="4088"/>
                  </a:cubicBezTo>
                  <a:cubicBezTo>
                    <a:pt x="11094" y="5882"/>
                    <a:pt x="10683" y="7941"/>
                    <a:pt x="9313" y="9312"/>
                  </a:cubicBezTo>
                  <a:cubicBezTo>
                    <a:pt x="8395" y="10230"/>
                    <a:pt x="7169" y="10717"/>
                    <a:pt x="5920" y="10717"/>
                  </a:cubicBezTo>
                  <a:cubicBezTo>
                    <a:pt x="5304" y="10717"/>
                    <a:pt x="4682" y="10598"/>
                    <a:pt x="4089" y="10354"/>
                  </a:cubicBezTo>
                  <a:cubicBezTo>
                    <a:pt x="2298" y="9611"/>
                    <a:pt x="1133" y="7863"/>
                    <a:pt x="1133" y="5924"/>
                  </a:cubicBezTo>
                  <a:cubicBezTo>
                    <a:pt x="1133" y="3279"/>
                    <a:pt x="3280" y="1132"/>
                    <a:pt x="5925" y="1132"/>
                  </a:cubicBezTo>
                  <a:close/>
                  <a:moveTo>
                    <a:pt x="5925" y="0"/>
                  </a:moveTo>
                  <a:cubicBezTo>
                    <a:pt x="2658" y="0"/>
                    <a:pt x="1" y="2657"/>
                    <a:pt x="1" y="5924"/>
                  </a:cubicBezTo>
                  <a:cubicBezTo>
                    <a:pt x="1" y="9191"/>
                    <a:pt x="2658" y="11851"/>
                    <a:pt x="5925" y="11851"/>
                  </a:cubicBezTo>
                  <a:cubicBezTo>
                    <a:pt x="9192" y="11851"/>
                    <a:pt x="11852" y="9191"/>
                    <a:pt x="11852" y="5924"/>
                  </a:cubicBezTo>
                  <a:cubicBezTo>
                    <a:pt x="11852" y="2657"/>
                    <a:pt x="9192" y="0"/>
                    <a:pt x="5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2" name="Google Shape;382;p42"/>
            <p:cNvSpPr/>
            <p:nvPr/>
          </p:nvSpPr>
          <p:spPr>
            <a:xfrm>
              <a:off x="3269875" y="3210400"/>
              <a:ext cx="484500" cy="483175"/>
            </a:xfrm>
            <a:custGeom>
              <a:avLst/>
              <a:gdLst/>
              <a:ahLst/>
              <a:cxnLst/>
              <a:rect l="l" t="t" r="r" b="b"/>
              <a:pathLst>
                <a:path w="19380" h="19327" extrusionOk="0">
                  <a:moveTo>
                    <a:pt x="9690" y="1208"/>
                  </a:moveTo>
                  <a:lnTo>
                    <a:pt x="11426" y="2126"/>
                  </a:lnTo>
                  <a:cubicBezTo>
                    <a:pt x="11507" y="2168"/>
                    <a:pt x="11598" y="2192"/>
                    <a:pt x="11692" y="2192"/>
                  </a:cubicBezTo>
                  <a:lnTo>
                    <a:pt x="13651" y="2192"/>
                  </a:lnTo>
                  <a:lnTo>
                    <a:pt x="14765" y="3817"/>
                  </a:lnTo>
                  <a:cubicBezTo>
                    <a:pt x="14817" y="3892"/>
                    <a:pt x="14886" y="3955"/>
                    <a:pt x="14968" y="3998"/>
                  </a:cubicBezTo>
                  <a:lnTo>
                    <a:pt x="16704" y="4916"/>
                  </a:lnTo>
                  <a:lnTo>
                    <a:pt x="16939" y="6878"/>
                  </a:lnTo>
                  <a:cubicBezTo>
                    <a:pt x="16952" y="6969"/>
                    <a:pt x="16985" y="7056"/>
                    <a:pt x="17036" y="7132"/>
                  </a:cubicBezTo>
                  <a:lnTo>
                    <a:pt x="18150" y="8759"/>
                  </a:lnTo>
                  <a:lnTo>
                    <a:pt x="17456" y="10610"/>
                  </a:lnTo>
                  <a:cubicBezTo>
                    <a:pt x="17423" y="10695"/>
                    <a:pt x="17410" y="10785"/>
                    <a:pt x="17423" y="10876"/>
                  </a:cubicBezTo>
                  <a:lnTo>
                    <a:pt x="17658" y="12842"/>
                  </a:lnTo>
                  <a:lnTo>
                    <a:pt x="16188" y="14155"/>
                  </a:lnTo>
                  <a:cubicBezTo>
                    <a:pt x="16121" y="14216"/>
                    <a:pt x="16067" y="14291"/>
                    <a:pt x="16037" y="14379"/>
                  </a:cubicBezTo>
                  <a:lnTo>
                    <a:pt x="15339" y="16226"/>
                  </a:lnTo>
                  <a:lnTo>
                    <a:pt x="13437" y="16701"/>
                  </a:lnTo>
                  <a:cubicBezTo>
                    <a:pt x="13346" y="16722"/>
                    <a:pt x="13265" y="16764"/>
                    <a:pt x="13195" y="16827"/>
                  </a:cubicBezTo>
                  <a:lnTo>
                    <a:pt x="11728" y="18138"/>
                  </a:lnTo>
                  <a:lnTo>
                    <a:pt x="9826" y="17664"/>
                  </a:lnTo>
                  <a:cubicBezTo>
                    <a:pt x="9782" y="17653"/>
                    <a:pt x="9736" y="17648"/>
                    <a:pt x="9690" y="17648"/>
                  </a:cubicBezTo>
                  <a:cubicBezTo>
                    <a:pt x="9644" y="17648"/>
                    <a:pt x="9598" y="17653"/>
                    <a:pt x="9554" y="17664"/>
                  </a:cubicBezTo>
                  <a:lnTo>
                    <a:pt x="7652" y="18138"/>
                  </a:lnTo>
                  <a:lnTo>
                    <a:pt x="6184" y="16827"/>
                  </a:lnTo>
                  <a:cubicBezTo>
                    <a:pt x="6115" y="16767"/>
                    <a:pt x="6033" y="16722"/>
                    <a:pt x="5943" y="16701"/>
                  </a:cubicBezTo>
                  <a:lnTo>
                    <a:pt x="4040" y="16226"/>
                  </a:lnTo>
                  <a:lnTo>
                    <a:pt x="3343" y="14379"/>
                  </a:lnTo>
                  <a:cubicBezTo>
                    <a:pt x="3313" y="14291"/>
                    <a:pt x="3258" y="14216"/>
                    <a:pt x="3192" y="14155"/>
                  </a:cubicBezTo>
                  <a:lnTo>
                    <a:pt x="1721" y="12842"/>
                  </a:lnTo>
                  <a:lnTo>
                    <a:pt x="1960" y="10879"/>
                  </a:lnTo>
                  <a:cubicBezTo>
                    <a:pt x="1969" y="10788"/>
                    <a:pt x="1960" y="10695"/>
                    <a:pt x="1927" y="10610"/>
                  </a:cubicBezTo>
                  <a:lnTo>
                    <a:pt x="1229" y="8762"/>
                  </a:lnTo>
                  <a:lnTo>
                    <a:pt x="2346" y="7132"/>
                  </a:lnTo>
                  <a:cubicBezTo>
                    <a:pt x="2398" y="7056"/>
                    <a:pt x="2428" y="6969"/>
                    <a:pt x="2440" y="6878"/>
                  </a:cubicBezTo>
                  <a:lnTo>
                    <a:pt x="2679" y="4916"/>
                  </a:lnTo>
                  <a:lnTo>
                    <a:pt x="4415" y="3998"/>
                  </a:lnTo>
                  <a:cubicBezTo>
                    <a:pt x="4493" y="3955"/>
                    <a:pt x="4563" y="3892"/>
                    <a:pt x="4617" y="3817"/>
                  </a:cubicBezTo>
                  <a:lnTo>
                    <a:pt x="5731" y="2192"/>
                  </a:lnTo>
                  <a:lnTo>
                    <a:pt x="7691" y="2192"/>
                  </a:lnTo>
                  <a:cubicBezTo>
                    <a:pt x="7781" y="2192"/>
                    <a:pt x="7872" y="2168"/>
                    <a:pt x="7954" y="2126"/>
                  </a:cubicBezTo>
                  <a:lnTo>
                    <a:pt x="9690" y="1208"/>
                  </a:lnTo>
                  <a:close/>
                  <a:moveTo>
                    <a:pt x="9690" y="1"/>
                  </a:moveTo>
                  <a:cubicBezTo>
                    <a:pt x="9599" y="1"/>
                    <a:pt x="9509" y="23"/>
                    <a:pt x="9427" y="66"/>
                  </a:cubicBezTo>
                  <a:lnTo>
                    <a:pt x="7549" y="1057"/>
                  </a:lnTo>
                  <a:lnTo>
                    <a:pt x="5432" y="1057"/>
                  </a:lnTo>
                  <a:cubicBezTo>
                    <a:pt x="5245" y="1057"/>
                    <a:pt x="5070" y="1150"/>
                    <a:pt x="4964" y="1304"/>
                  </a:cubicBezTo>
                  <a:lnTo>
                    <a:pt x="3760" y="3062"/>
                  </a:lnTo>
                  <a:lnTo>
                    <a:pt x="1885" y="4052"/>
                  </a:lnTo>
                  <a:cubicBezTo>
                    <a:pt x="1721" y="4140"/>
                    <a:pt x="1610" y="4300"/>
                    <a:pt x="1586" y="4484"/>
                  </a:cubicBezTo>
                  <a:lnTo>
                    <a:pt x="1332" y="6607"/>
                  </a:lnTo>
                  <a:lnTo>
                    <a:pt x="127" y="8364"/>
                  </a:lnTo>
                  <a:cubicBezTo>
                    <a:pt x="22" y="8515"/>
                    <a:pt x="0" y="8711"/>
                    <a:pt x="67" y="8883"/>
                  </a:cubicBezTo>
                  <a:lnTo>
                    <a:pt x="819" y="10882"/>
                  </a:lnTo>
                  <a:lnTo>
                    <a:pt x="562" y="13002"/>
                  </a:lnTo>
                  <a:cubicBezTo>
                    <a:pt x="538" y="13186"/>
                    <a:pt x="607" y="13370"/>
                    <a:pt x="746" y="13494"/>
                  </a:cubicBezTo>
                  <a:lnTo>
                    <a:pt x="2331" y="14910"/>
                  </a:lnTo>
                  <a:lnTo>
                    <a:pt x="3083" y="16906"/>
                  </a:lnTo>
                  <a:cubicBezTo>
                    <a:pt x="3150" y="17081"/>
                    <a:pt x="3298" y="17211"/>
                    <a:pt x="3476" y="17256"/>
                  </a:cubicBezTo>
                  <a:lnTo>
                    <a:pt x="5535" y="17766"/>
                  </a:lnTo>
                  <a:lnTo>
                    <a:pt x="7120" y="19183"/>
                  </a:lnTo>
                  <a:cubicBezTo>
                    <a:pt x="7225" y="19276"/>
                    <a:pt x="7360" y="19326"/>
                    <a:pt x="7498" y="19326"/>
                  </a:cubicBezTo>
                  <a:cubicBezTo>
                    <a:pt x="7543" y="19326"/>
                    <a:pt x="7589" y="19321"/>
                    <a:pt x="7634" y="19309"/>
                  </a:cubicBezTo>
                  <a:lnTo>
                    <a:pt x="9690" y="18796"/>
                  </a:lnTo>
                  <a:lnTo>
                    <a:pt x="11746" y="19306"/>
                  </a:lnTo>
                  <a:cubicBezTo>
                    <a:pt x="11791" y="19318"/>
                    <a:pt x="11837" y="19324"/>
                    <a:pt x="11882" y="19324"/>
                  </a:cubicBezTo>
                  <a:cubicBezTo>
                    <a:pt x="12021" y="19324"/>
                    <a:pt x="12157" y="19273"/>
                    <a:pt x="12259" y="19180"/>
                  </a:cubicBezTo>
                  <a:lnTo>
                    <a:pt x="13845" y="17763"/>
                  </a:lnTo>
                  <a:lnTo>
                    <a:pt x="15901" y="17253"/>
                  </a:lnTo>
                  <a:cubicBezTo>
                    <a:pt x="16082" y="17208"/>
                    <a:pt x="16230" y="17078"/>
                    <a:pt x="16296" y="16903"/>
                  </a:cubicBezTo>
                  <a:lnTo>
                    <a:pt x="17048" y="14907"/>
                  </a:lnTo>
                  <a:lnTo>
                    <a:pt x="18633" y="13491"/>
                  </a:lnTo>
                  <a:cubicBezTo>
                    <a:pt x="18769" y="13367"/>
                    <a:pt x="18839" y="13183"/>
                    <a:pt x="18818" y="12999"/>
                  </a:cubicBezTo>
                  <a:lnTo>
                    <a:pt x="18561" y="10879"/>
                  </a:lnTo>
                  <a:lnTo>
                    <a:pt x="19313" y="8880"/>
                  </a:lnTo>
                  <a:cubicBezTo>
                    <a:pt x="19379" y="8708"/>
                    <a:pt x="19355" y="8515"/>
                    <a:pt x="19249" y="8361"/>
                  </a:cubicBezTo>
                  <a:lnTo>
                    <a:pt x="18048" y="6607"/>
                  </a:lnTo>
                  <a:lnTo>
                    <a:pt x="17794" y="4484"/>
                  </a:lnTo>
                  <a:cubicBezTo>
                    <a:pt x="17770" y="4300"/>
                    <a:pt x="17658" y="4140"/>
                    <a:pt x="17495" y="4052"/>
                  </a:cubicBezTo>
                  <a:lnTo>
                    <a:pt x="15620" y="3059"/>
                  </a:lnTo>
                  <a:lnTo>
                    <a:pt x="14415" y="1301"/>
                  </a:lnTo>
                  <a:cubicBezTo>
                    <a:pt x="14310" y="1147"/>
                    <a:pt x="14134" y="1057"/>
                    <a:pt x="13947" y="1057"/>
                  </a:cubicBezTo>
                  <a:lnTo>
                    <a:pt x="11831" y="1057"/>
                  </a:lnTo>
                  <a:lnTo>
                    <a:pt x="9955" y="66"/>
                  </a:lnTo>
                  <a:cubicBezTo>
                    <a:pt x="9872" y="23"/>
                    <a:pt x="9781" y="1"/>
                    <a:pt x="9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383" name="Google Shape;383;p42"/>
          <p:cNvCxnSpPr>
            <a:cxnSpLocks/>
            <a:endCxn id="358" idx="1"/>
          </p:cNvCxnSpPr>
          <p:nvPr/>
        </p:nvCxnSpPr>
        <p:spPr>
          <a:xfrm rot="10800000" flipH="1">
            <a:off x="2954866" y="4104112"/>
            <a:ext cx="1301100" cy="6300"/>
          </a:xfrm>
          <a:prstGeom prst="straightConnector1">
            <a:avLst/>
          </a:prstGeom>
          <a:noFill/>
          <a:ln w="19050" cap="flat" cmpd="sng">
            <a:solidFill>
              <a:schemeClr val="lt2"/>
            </a:solidFill>
            <a:prstDash val="solid"/>
            <a:round/>
            <a:headEnd type="none" w="med" len="med"/>
            <a:tailEnd type="none" w="med" len="med"/>
          </a:ln>
        </p:spPr>
      </p:cxnSp>
      <p:grpSp>
        <p:nvGrpSpPr>
          <p:cNvPr id="385" name="Google Shape;385;p42"/>
          <p:cNvGrpSpPr/>
          <p:nvPr/>
        </p:nvGrpSpPr>
        <p:grpSpPr>
          <a:xfrm>
            <a:off x="6064654" y="1454098"/>
            <a:ext cx="1407505" cy="2856991"/>
            <a:chOff x="5186401" y="494525"/>
            <a:chExt cx="1834973" cy="3724678"/>
          </a:xfrm>
        </p:grpSpPr>
        <p:sp>
          <p:nvSpPr>
            <p:cNvPr id="386" name="Google Shape;386;p42"/>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2"/>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88" name="Google Shape;388;p42"/>
          <p:cNvPicPr preferRelativeResize="0"/>
          <p:nvPr/>
        </p:nvPicPr>
        <p:blipFill rotWithShape="1">
          <a:blip r:embed="rId3">
            <a:alphaModFix/>
          </a:blip>
          <a:srcRect l="70520"/>
          <a:stretch/>
        </p:blipFill>
        <p:spPr>
          <a:xfrm>
            <a:off x="6130076" y="1594126"/>
            <a:ext cx="1276845" cy="2436391"/>
          </a:xfrm>
          <a:prstGeom prst="rect">
            <a:avLst/>
          </a:prstGeom>
          <a:noFill/>
          <a:ln w="19050" cap="flat" cmpd="sng">
            <a:solidFill>
              <a:schemeClr val="dk1"/>
            </a:solidFill>
            <a:prstDash val="solid"/>
            <a:round/>
            <a:headEnd type="none" w="sm" len="sm"/>
            <a:tailEnd type="none" w="sm" len="sm"/>
          </a:ln>
        </p:spPr>
      </p:pic>
      <p:cxnSp>
        <p:nvCxnSpPr>
          <p:cNvPr id="389" name="Google Shape;389;p42"/>
          <p:cNvCxnSpPr>
            <a:cxnSpLocks/>
            <a:endCxn id="357" idx="1"/>
          </p:cNvCxnSpPr>
          <p:nvPr/>
        </p:nvCxnSpPr>
        <p:spPr>
          <a:xfrm rot="10800000" flipH="1">
            <a:off x="2954866" y="3308662"/>
            <a:ext cx="1301100" cy="3000"/>
          </a:xfrm>
          <a:prstGeom prst="straightConnector1">
            <a:avLst/>
          </a:prstGeom>
          <a:noFill/>
          <a:ln w="19050" cap="flat" cmpd="sng">
            <a:solidFill>
              <a:schemeClr val="lt2"/>
            </a:solidFill>
            <a:prstDash val="solid"/>
            <a:round/>
            <a:headEnd type="none" w="med" len="med"/>
            <a:tailEnd type="none" w="med" len="med"/>
          </a:ln>
        </p:spPr>
      </p:cxnSp>
      <p:cxnSp>
        <p:nvCxnSpPr>
          <p:cNvPr id="390" name="Google Shape;390;p42"/>
          <p:cNvCxnSpPr>
            <a:cxnSpLocks/>
            <a:endCxn id="356" idx="1"/>
          </p:cNvCxnSpPr>
          <p:nvPr/>
        </p:nvCxnSpPr>
        <p:spPr>
          <a:xfrm>
            <a:off x="2954866" y="2512912"/>
            <a:ext cx="1301100" cy="300"/>
          </a:xfrm>
          <a:prstGeom prst="straightConnector1">
            <a:avLst/>
          </a:prstGeom>
          <a:noFill/>
          <a:ln w="19050" cap="flat" cmpd="sng">
            <a:solidFill>
              <a:schemeClr val="lt2"/>
            </a:solidFill>
            <a:prstDash val="solid"/>
            <a:round/>
            <a:headEnd type="none" w="med" len="med"/>
            <a:tailEnd type="none" w="med" len="med"/>
          </a:ln>
        </p:spPr>
      </p:cxnSp>
      <p:cxnSp>
        <p:nvCxnSpPr>
          <p:cNvPr id="391" name="Google Shape;391;p42"/>
          <p:cNvCxnSpPr>
            <a:cxnSpLocks/>
            <a:endCxn id="355" idx="1"/>
          </p:cNvCxnSpPr>
          <p:nvPr/>
        </p:nvCxnSpPr>
        <p:spPr>
          <a:xfrm rot="10800000" flipH="1">
            <a:off x="2954866" y="1707862"/>
            <a:ext cx="1301100" cy="6300"/>
          </a:xfrm>
          <a:prstGeom prst="straightConnector1">
            <a:avLst/>
          </a:prstGeom>
          <a:noFill/>
          <a:ln w="19050" cap="flat" cmpd="sng">
            <a:solidFill>
              <a:schemeClr val="lt2"/>
            </a:solidFill>
            <a:prstDash val="solid"/>
            <a:round/>
            <a:headEnd type="none" w="med" len="med"/>
            <a:tailEnd type="none" w="med" len="med"/>
          </a:ln>
        </p:spPr>
      </p:cxnSp>
      <p:cxnSp>
        <p:nvCxnSpPr>
          <p:cNvPr id="395" name="Google Shape;395;p42"/>
          <p:cNvCxnSpPr>
            <a:cxnSpLocks/>
            <a:stCxn id="358" idx="3"/>
          </p:cNvCxnSpPr>
          <p:nvPr/>
        </p:nvCxnSpPr>
        <p:spPr>
          <a:xfrm flipV="1">
            <a:off x="4763569" y="4030517"/>
            <a:ext cx="3660431" cy="73658"/>
          </a:xfrm>
          <a:prstGeom prst="straightConnector1">
            <a:avLst/>
          </a:prstGeom>
          <a:noFill/>
          <a:ln w="19050" cap="flat" cmpd="sng">
            <a:solidFill>
              <a:schemeClr val="lt2"/>
            </a:solidFill>
            <a:prstDash val="solid"/>
            <a:round/>
            <a:headEnd type="none" w="med" len="med"/>
            <a:tailEnd type="oval" w="med" len="med"/>
          </a:ln>
        </p:spPr>
      </p:cxnSp>
      <p:pic>
        <p:nvPicPr>
          <p:cNvPr id="2" name="Google Shape;344;p40">
            <a:hlinkClick r:id="rId4"/>
            <a:extLst>
              <a:ext uri="{FF2B5EF4-FFF2-40B4-BE49-F238E27FC236}">
                <a16:creationId xmlns:a16="http://schemas.microsoft.com/office/drawing/2014/main" id="{07E1F87E-E3FB-E6D6-69F4-4FB44BB95715}"/>
              </a:ext>
            </a:extLst>
          </p:cNvPr>
          <p:cNvPicPr preferRelativeResize="0"/>
          <p:nvPr/>
        </p:nvPicPr>
        <p:blipFill>
          <a:blip r:embed="rId5">
            <a:alphaModFix/>
          </a:blip>
          <a:stretch>
            <a:fillRect/>
          </a:stretch>
        </p:blipFill>
        <p:spPr>
          <a:xfrm>
            <a:off x="6140484" y="2796264"/>
            <a:ext cx="1092780" cy="1081111"/>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5" name="Image 4">
            <a:extLst>
              <a:ext uri="{FF2B5EF4-FFF2-40B4-BE49-F238E27FC236}">
                <a16:creationId xmlns:a16="http://schemas.microsoft.com/office/drawing/2014/main" id="{844866B9-86A7-DCFB-4A06-4542A0844866}"/>
              </a:ext>
            </a:extLst>
          </p:cNvPr>
          <p:cNvPicPr>
            <a:picLocks noChangeAspect="1"/>
          </p:cNvPicPr>
          <p:nvPr/>
        </p:nvPicPr>
        <p:blipFill rotWithShape="1">
          <a:blip r:embed="rId6"/>
          <a:srcRect t="2152" b="3137"/>
          <a:stretch/>
        </p:blipFill>
        <p:spPr>
          <a:xfrm>
            <a:off x="6181277" y="1661094"/>
            <a:ext cx="1225030" cy="2126068"/>
          </a:xfrm>
          <a:prstGeom prst="rect">
            <a:avLst/>
          </a:prstGeom>
        </p:spPr>
      </p:pic>
      <p:sp>
        <p:nvSpPr>
          <p:cNvPr id="6" name="Google Shape;236;p32">
            <a:extLst>
              <a:ext uri="{FF2B5EF4-FFF2-40B4-BE49-F238E27FC236}">
                <a16:creationId xmlns:a16="http://schemas.microsoft.com/office/drawing/2014/main" id="{D35CD0E6-B5A7-4782-84C6-AD315812BDFE}"/>
              </a:ext>
            </a:extLst>
          </p:cNvPr>
          <p:cNvSpPr txBox="1">
            <a:spLocks/>
          </p:cNvSpPr>
          <p:nvPr/>
        </p:nvSpPr>
        <p:spPr>
          <a:xfrm>
            <a:off x="3337982" y="845049"/>
            <a:ext cx="42948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Poppins Medium"/>
              <a:buNone/>
              <a:defRPr sz="3200" b="0" i="0" u="none" strike="noStrike" cap="none">
                <a:solidFill>
                  <a:schemeClr val="dk1"/>
                </a:solidFill>
                <a:latin typeface="Poppins Medium"/>
                <a:ea typeface="Poppins Medium"/>
                <a:cs typeface="Poppins Medium"/>
                <a:sym typeface="Poppins Medium"/>
              </a:defRPr>
            </a:lvl1pPr>
            <a:lvl2pPr marR="0" lvl="1"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2pPr>
            <a:lvl3pPr marR="0" lvl="2"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3pPr>
            <a:lvl4pPr marR="0" lvl="3"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4pPr>
            <a:lvl5pPr marR="0" lvl="4"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5pPr>
            <a:lvl6pPr marR="0" lvl="5"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6pPr>
            <a:lvl7pPr marR="0" lvl="6"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7pPr>
            <a:lvl8pPr marR="0" lvl="7"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8pPr>
            <a:lvl9pPr marR="0" lvl="8"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9pPr>
          </a:lstStyle>
          <a:p>
            <a:pPr algn="l"/>
            <a:r>
              <a:rPr lang="fr-FR" dirty="0">
                <a:solidFill>
                  <a:srgbClr val="53CFA2"/>
                </a:solidFill>
              </a:rPr>
              <a:t>Nu</a:t>
            </a:r>
            <a:r>
              <a:rPr lang="fr-FR" dirty="0">
                <a:solidFill>
                  <a:srgbClr val="92D050"/>
                </a:solidFill>
              </a:rPr>
              <a:t>tri</a:t>
            </a:r>
            <a:r>
              <a:rPr lang="fr-FR" dirty="0">
                <a:solidFill>
                  <a:srgbClr val="FFE100"/>
                </a:solidFill>
              </a:rPr>
              <a:t>-a</a:t>
            </a:r>
            <a:r>
              <a:rPr lang="fr-FR" dirty="0">
                <a:solidFill>
                  <a:srgbClr val="FFC000"/>
                </a:solidFill>
              </a:rPr>
              <a:t>p</a:t>
            </a:r>
            <a:r>
              <a:rPr lang="fr-FR" dirty="0">
                <a:solidFill>
                  <a:srgbClr val="FF0000"/>
                </a:solidFill>
              </a:rPr>
              <a:t>p</a:t>
            </a:r>
          </a:p>
        </p:txBody>
      </p:sp>
      <p:grpSp>
        <p:nvGrpSpPr>
          <p:cNvPr id="7" name="Google Shape;385;p42">
            <a:extLst>
              <a:ext uri="{FF2B5EF4-FFF2-40B4-BE49-F238E27FC236}">
                <a16:creationId xmlns:a16="http://schemas.microsoft.com/office/drawing/2014/main" id="{AF401E50-E594-07A1-96EF-874DA8B93380}"/>
              </a:ext>
            </a:extLst>
          </p:cNvPr>
          <p:cNvGrpSpPr/>
          <p:nvPr/>
        </p:nvGrpSpPr>
        <p:grpSpPr>
          <a:xfrm>
            <a:off x="7632782" y="1455879"/>
            <a:ext cx="1407505" cy="2856991"/>
            <a:chOff x="5186401" y="494525"/>
            <a:chExt cx="1834973" cy="3724678"/>
          </a:xfrm>
        </p:grpSpPr>
        <p:sp>
          <p:nvSpPr>
            <p:cNvPr id="8" name="Google Shape;386;p42">
              <a:extLst>
                <a:ext uri="{FF2B5EF4-FFF2-40B4-BE49-F238E27FC236}">
                  <a16:creationId xmlns:a16="http://schemas.microsoft.com/office/drawing/2014/main" id="{8DC76A14-A32D-E4FD-F561-F8B800A00D3A}"/>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87;p42">
              <a:extLst>
                <a:ext uri="{FF2B5EF4-FFF2-40B4-BE49-F238E27FC236}">
                  <a16:creationId xmlns:a16="http://schemas.microsoft.com/office/drawing/2014/main" id="{A71B2D46-E9AB-F639-ACD0-9BF23DC0B4A4}"/>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Google Shape;388;p42">
            <a:extLst>
              <a:ext uri="{FF2B5EF4-FFF2-40B4-BE49-F238E27FC236}">
                <a16:creationId xmlns:a16="http://schemas.microsoft.com/office/drawing/2014/main" id="{E93CC3B2-C462-5C25-0F9F-CB9AABE85898}"/>
              </a:ext>
            </a:extLst>
          </p:cNvPr>
          <p:cNvPicPr preferRelativeResize="0"/>
          <p:nvPr/>
        </p:nvPicPr>
        <p:blipFill rotWithShape="1">
          <a:blip r:embed="rId3">
            <a:alphaModFix/>
          </a:blip>
          <a:srcRect l="70520"/>
          <a:stretch/>
        </p:blipFill>
        <p:spPr>
          <a:xfrm>
            <a:off x="7704470" y="1577404"/>
            <a:ext cx="1276845" cy="2436391"/>
          </a:xfrm>
          <a:prstGeom prst="rect">
            <a:avLst/>
          </a:prstGeom>
          <a:noFill/>
          <a:ln w="19050" cap="flat" cmpd="sng">
            <a:solidFill>
              <a:schemeClr val="dk1"/>
            </a:solidFill>
            <a:prstDash val="solid"/>
            <a:round/>
            <a:headEnd type="none" w="sm" len="sm"/>
            <a:tailEnd type="none" w="sm" len="sm"/>
          </a:ln>
        </p:spPr>
      </p:pic>
      <p:pic>
        <p:nvPicPr>
          <p:cNvPr id="16" name="Image 15">
            <a:extLst>
              <a:ext uri="{FF2B5EF4-FFF2-40B4-BE49-F238E27FC236}">
                <a16:creationId xmlns:a16="http://schemas.microsoft.com/office/drawing/2014/main" id="{76A2468F-55CE-1F90-AFD9-7A5A4ACBC32C}"/>
              </a:ext>
            </a:extLst>
          </p:cNvPr>
          <p:cNvPicPr>
            <a:picLocks noChangeAspect="1"/>
          </p:cNvPicPr>
          <p:nvPr/>
        </p:nvPicPr>
        <p:blipFill rotWithShape="1">
          <a:blip r:embed="rId7"/>
          <a:srcRect l="25753" t="13536" r="16423" b="14890"/>
          <a:stretch/>
        </p:blipFill>
        <p:spPr>
          <a:xfrm rot="154722">
            <a:off x="7783304" y="1594997"/>
            <a:ext cx="1175300" cy="2346742"/>
          </a:xfrm>
          <a:prstGeom prst="rect">
            <a:avLst/>
          </a:prstGeom>
        </p:spPr>
      </p:pic>
      <p:cxnSp>
        <p:nvCxnSpPr>
          <p:cNvPr id="394" name="Google Shape;394;p42"/>
          <p:cNvCxnSpPr>
            <a:cxnSpLocks/>
            <a:stCxn id="357" idx="3"/>
          </p:cNvCxnSpPr>
          <p:nvPr/>
        </p:nvCxnSpPr>
        <p:spPr>
          <a:xfrm>
            <a:off x="4763569" y="3308750"/>
            <a:ext cx="3112740" cy="10948"/>
          </a:xfrm>
          <a:prstGeom prst="straightConnector1">
            <a:avLst/>
          </a:prstGeom>
          <a:noFill/>
          <a:ln w="19050" cap="flat" cmpd="sng">
            <a:solidFill>
              <a:schemeClr val="lt2"/>
            </a:solidFill>
            <a:prstDash val="solid"/>
            <a:round/>
            <a:headEnd type="none" w="med" len="med"/>
            <a:tailEnd type="oval" w="med" len="med"/>
          </a:ln>
        </p:spPr>
      </p:cxnSp>
      <p:cxnSp>
        <p:nvCxnSpPr>
          <p:cNvPr id="393" name="Google Shape;393;p42"/>
          <p:cNvCxnSpPr>
            <a:stCxn id="356" idx="3"/>
          </p:cNvCxnSpPr>
          <p:nvPr/>
        </p:nvCxnSpPr>
        <p:spPr>
          <a:xfrm>
            <a:off x="4763569" y="2513325"/>
            <a:ext cx="2237100" cy="0"/>
          </a:xfrm>
          <a:prstGeom prst="straightConnector1">
            <a:avLst/>
          </a:prstGeom>
          <a:noFill/>
          <a:ln w="19050" cap="flat" cmpd="sng">
            <a:solidFill>
              <a:schemeClr val="lt2"/>
            </a:solidFill>
            <a:prstDash val="solid"/>
            <a:round/>
            <a:headEnd type="none" w="med" len="med"/>
            <a:tailEnd type="oval" w="med" len="med"/>
          </a:ln>
        </p:spPr>
      </p:cxnSp>
      <p:cxnSp>
        <p:nvCxnSpPr>
          <p:cNvPr id="392" name="Google Shape;392;p42"/>
          <p:cNvCxnSpPr>
            <a:cxnSpLocks/>
            <a:stCxn id="355" idx="3"/>
          </p:cNvCxnSpPr>
          <p:nvPr/>
        </p:nvCxnSpPr>
        <p:spPr>
          <a:xfrm>
            <a:off x="4763569" y="1707938"/>
            <a:ext cx="1556370" cy="3074"/>
          </a:xfrm>
          <a:prstGeom prst="straightConnector1">
            <a:avLst/>
          </a:prstGeom>
          <a:noFill/>
          <a:ln w="19050" cap="flat" cmpd="sng">
            <a:solidFill>
              <a:schemeClr val="lt2"/>
            </a:solidFill>
            <a:prstDash val="solid"/>
            <a:round/>
            <a:headEnd type="none" w="med" len="med"/>
            <a:tailEnd type="oval" w="med" len="med"/>
          </a:ln>
        </p:spPr>
      </p:cxnSp>
      <p:pic>
        <p:nvPicPr>
          <p:cNvPr id="30" name="Image 29" descr="Une image contenant assiette, différent, plat, plusieurs&#10;&#10;Description générée automatiquement">
            <a:extLst>
              <a:ext uri="{FF2B5EF4-FFF2-40B4-BE49-F238E27FC236}">
                <a16:creationId xmlns:a16="http://schemas.microsoft.com/office/drawing/2014/main" id="{F7BA831F-0900-09DD-7B6D-21A5D491CB71}"/>
              </a:ext>
            </a:extLst>
          </p:cNvPr>
          <p:cNvPicPr>
            <a:picLocks noChangeAspect="1"/>
          </p:cNvPicPr>
          <p:nvPr/>
        </p:nvPicPr>
        <p:blipFill rotWithShape="1">
          <a:blip r:embed="rId8"/>
          <a:srcRect l="51103" t="51618" r="2923" b="4785"/>
          <a:stretch/>
        </p:blipFill>
        <p:spPr>
          <a:xfrm>
            <a:off x="7581537" y="-80313"/>
            <a:ext cx="1401558" cy="1329090"/>
          </a:xfrm>
          <a:custGeom>
            <a:avLst/>
            <a:gdLst>
              <a:gd name="connsiteX0" fmla="*/ 111843 w 1638984"/>
              <a:gd name="connsiteY0" fmla="*/ 0 h 1554240"/>
              <a:gd name="connsiteX1" fmla="*/ 1527141 w 1638984"/>
              <a:gd name="connsiteY1" fmla="*/ 0 h 1554240"/>
              <a:gd name="connsiteX2" fmla="*/ 1560636 w 1638984"/>
              <a:gd name="connsiteY2" fmla="*/ 27635 h 1554240"/>
              <a:gd name="connsiteX3" fmla="*/ 1638984 w 1638984"/>
              <a:gd name="connsiteY3" fmla="*/ 216785 h 1554240"/>
              <a:gd name="connsiteX4" fmla="*/ 1638984 w 1638984"/>
              <a:gd name="connsiteY4" fmla="*/ 1286742 h 1554240"/>
              <a:gd name="connsiteX5" fmla="*/ 1371486 w 1638984"/>
              <a:gd name="connsiteY5" fmla="*/ 1554240 h 1554240"/>
              <a:gd name="connsiteX6" fmla="*/ 267498 w 1638984"/>
              <a:gd name="connsiteY6" fmla="*/ 1554240 h 1554240"/>
              <a:gd name="connsiteX7" fmla="*/ 0 w 1638984"/>
              <a:gd name="connsiteY7" fmla="*/ 1286742 h 1554240"/>
              <a:gd name="connsiteX8" fmla="*/ 0 w 1638984"/>
              <a:gd name="connsiteY8" fmla="*/ 216785 h 1554240"/>
              <a:gd name="connsiteX9" fmla="*/ 78349 w 1638984"/>
              <a:gd name="connsiteY9" fmla="*/ 27635 h 155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984" h="1554240">
                <a:moveTo>
                  <a:pt x="111843" y="0"/>
                </a:moveTo>
                <a:lnTo>
                  <a:pt x="1527141" y="0"/>
                </a:lnTo>
                <a:lnTo>
                  <a:pt x="1560636" y="27635"/>
                </a:lnTo>
                <a:cubicBezTo>
                  <a:pt x="1609043" y="76043"/>
                  <a:pt x="1638984" y="142918"/>
                  <a:pt x="1638984" y="216785"/>
                </a:cubicBezTo>
                <a:lnTo>
                  <a:pt x="1638984" y="1286742"/>
                </a:lnTo>
                <a:cubicBezTo>
                  <a:pt x="1638984" y="1434477"/>
                  <a:pt x="1519221" y="1554240"/>
                  <a:pt x="1371486" y="1554240"/>
                </a:cubicBezTo>
                <a:lnTo>
                  <a:pt x="267498" y="1554240"/>
                </a:lnTo>
                <a:cubicBezTo>
                  <a:pt x="119763" y="1554240"/>
                  <a:pt x="0" y="1434477"/>
                  <a:pt x="0" y="1286742"/>
                </a:cubicBezTo>
                <a:lnTo>
                  <a:pt x="0" y="216785"/>
                </a:lnTo>
                <a:cubicBezTo>
                  <a:pt x="0" y="142918"/>
                  <a:pt x="29941" y="76043"/>
                  <a:pt x="78349" y="27635"/>
                </a:cubicBezTo>
                <a:close/>
              </a:path>
            </a:pathLst>
          </a:custGeom>
        </p:spPr>
      </p:pic>
      <p:sp>
        <p:nvSpPr>
          <p:cNvPr id="35" name="Google Shape;413;p43">
            <a:extLst>
              <a:ext uri="{FF2B5EF4-FFF2-40B4-BE49-F238E27FC236}">
                <a16:creationId xmlns:a16="http://schemas.microsoft.com/office/drawing/2014/main" id="{C477E589-D104-EE65-B995-958461C525BA}"/>
              </a:ext>
            </a:extLst>
          </p:cNvPr>
          <p:cNvSpPr txBox="1"/>
          <p:nvPr/>
        </p:nvSpPr>
        <p:spPr>
          <a:xfrm flipH="1">
            <a:off x="-66630" y="271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36" name="Google Shape;414;p43">
            <a:extLst>
              <a:ext uri="{FF2B5EF4-FFF2-40B4-BE49-F238E27FC236}">
                <a16:creationId xmlns:a16="http://schemas.microsoft.com/office/drawing/2014/main" id="{4CC3BE87-0E2E-72B6-115E-85AFD6DEF6A0}"/>
              </a:ext>
            </a:extLst>
          </p:cNvPr>
          <p:cNvSpPr txBox="1"/>
          <p:nvPr/>
        </p:nvSpPr>
        <p:spPr>
          <a:xfrm flipH="1">
            <a:off x="-66588" y="503063"/>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ea typeface="Quicksand Medium"/>
                <a:cs typeface="Quicksand Medium"/>
                <a:sym typeface="Quicksand Medium"/>
              </a:rPr>
              <a:t>Présentation prototype de l’application </a:t>
            </a:r>
            <a:r>
              <a:rPr lang="fr-FR" sz="1200" dirty="0">
                <a:solidFill>
                  <a:srgbClr val="53CFA2"/>
                </a:solidFill>
              </a:rPr>
              <a:t>Nu</a:t>
            </a:r>
            <a:r>
              <a:rPr lang="fr-FR" sz="1200" dirty="0">
                <a:solidFill>
                  <a:srgbClr val="92D050"/>
                </a:solidFill>
              </a:rPr>
              <a:t>tri</a:t>
            </a:r>
            <a:r>
              <a:rPr lang="fr-FR" sz="1200" dirty="0">
                <a:solidFill>
                  <a:srgbClr val="FFE100"/>
                </a:solidFill>
              </a:rPr>
              <a:t>-a</a:t>
            </a:r>
            <a:r>
              <a:rPr lang="fr-FR" sz="1200" dirty="0">
                <a:solidFill>
                  <a:srgbClr val="FFC000"/>
                </a:solidFill>
              </a:rPr>
              <a:t>p</a:t>
            </a:r>
            <a:r>
              <a:rPr lang="fr-FR" sz="1200" dirty="0">
                <a:solidFill>
                  <a:srgbClr val="FF0000"/>
                </a:solidFill>
              </a:rPr>
              <a:t>p</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DF03E-F6FD-B384-4A3D-23C0568444DD}"/>
              </a:ext>
            </a:extLst>
          </p:cNvPr>
          <p:cNvSpPr>
            <a:spLocks noGrp="1"/>
          </p:cNvSpPr>
          <p:nvPr>
            <p:ph type="title"/>
          </p:nvPr>
        </p:nvSpPr>
        <p:spPr/>
        <p:txBody>
          <a:bodyPr/>
          <a:lstStyle/>
          <a:p>
            <a:r>
              <a:rPr lang="fr-FR" dirty="0"/>
              <a:t>App aperçu</a:t>
            </a:r>
          </a:p>
        </p:txBody>
      </p:sp>
      <p:pic>
        <p:nvPicPr>
          <p:cNvPr id="5" name="Image 4" descr="Une image contenant texte&#10;&#10;Description générée automatiquement">
            <a:extLst>
              <a:ext uri="{FF2B5EF4-FFF2-40B4-BE49-F238E27FC236}">
                <a16:creationId xmlns:a16="http://schemas.microsoft.com/office/drawing/2014/main" id="{75A9A071-D8AF-84B8-32AF-F4E066708198}"/>
              </a:ext>
            </a:extLst>
          </p:cNvPr>
          <p:cNvPicPr>
            <a:picLocks noChangeAspect="1"/>
          </p:cNvPicPr>
          <p:nvPr/>
        </p:nvPicPr>
        <p:blipFill>
          <a:blip r:embed="rId2"/>
          <a:stretch>
            <a:fillRect/>
          </a:stretch>
        </p:blipFill>
        <p:spPr>
          <a:xfrm>
            <a:off x="153032" y="0"/>
            <a:ext cx="6165073" cy="5143500"/>
          </a:xfrm>
          <a:prstGeom prst="rect">
            <a:avLst/>
          </a:prstGeom>
        </p:spPr>
      </p:pic>
      <p:pic>
        <p:nvPicPr>
          <p:cNvPr id="3" name="Image 2">
            <a:extLst>
              <a:ext uri="{FF2B5EF4-FFF2-40B4-BE49-F238E27FC236}">
                <a16:creationId xmlns:a16="http://schemas.microsoft.com/office/drawing/2014/main" id="{E5FBFADB-0F3D-35B8-5D61-204B676EE54F}"/>
              </a:ext>
            </a:extLst>
          </p:cNvPr>
          <p:cNvPicPr>
            <a:picLocks noChangeAspect="1"/>
          </p:cNvPicPr>
          <p:nvPr/>
        </p:nvPicPr>
        <p:blipFill>
          <a:blip r:embed="rId3"/>
          <a:stretch>
            <a:fillRect/>
          </a:stretch>
        </p:blipFill>
        <p:spPr>
          <a:xfrm>
            <a:off x="0" y="2004647"/>
            <a:ext cx="9144000" cy="3138854"/>
          </a:xfrm>
          <a:prstGeom prst="rect">
            <a:avLst/>
          </a:prstGeom>
        </p:spPr>
      </p:pic>
    </p:spTree>
    <p:extLst>
      <p:ext uri="{BB962C8B-B14F-4D97-AF65-F5344CB8AC3E}">
        <p14:creationId xmlns:p14="http://schemas.microsoft.com/office/powerpoint/2010/main" val="1079375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EA01BD-8C58-8640-50FA-A134EBC71DCC}"/>
              </a:ext>
            </a:extLst>
          </p:cNvPr>
          <p:cNvSpPr>
            <a:spLocks noGrp="1"/>
          </p:cNvSpPr>
          <p:nvPr>
            <p:ph type="title"/>
          </p:nvPr>
        </p:nvSpPr>
        <p:spPr/>
        <p:txBody>
          <a:bodyPr/>
          <a:lstStyle/>
          <a:p>
            <a:r>
              <a:rPr lang="fr-FR" dirty="0"/>
              <a:t>Présentation de l’ application</a:t>
            </a:r>
          </a:p>
        </p:txBody>
      </p:sp>
      <p:sp>
        <p:nvSpPr>
          <p:cNvPr id="3" name="ZoneTexte 2">
            <a:extLst>
              <a:ext uri="{FF2B5EF4-FFF2-40B4-BE49-F238E27FC236}">
                <a16:creationId xmlns:a16="http://schemas.microsoft.com/office/drawing/2014/main" id="{FD1FFB89-4A9E-AD32-EE01-68A33AC75945}"/>
              </a:ext>
            </a:extLst>
          </p:cNvPr>
          <p:cNvSpPr txBox="1"/>
          <p:nvPr/>
        </p:nvSpPr>
        <p:spPr>
          <a:xfrm>
            <a:off x="1065171" y="1466579"/>
            <a:ext cx="6594231" cy="2462213"/>
          </a:xfrm>
          <a:prstGeom prst="rect">
            <a:avLst/>
          </a:prstGeom>
          <a:noFill/>
        </p:spPr>
        <p:txBody>
          <a:bodyPr wrap="square" rtlCol="0">
            <a:spAutoFit/>
          </a:bodyPr>
          <a:lstStyle/>
          <a:p>
            <a:r>
              <a:rPr lang="fr-FR" b="0" i="0" u="none" strike="noStrike" dirty="0">
                <a:solidFill>
                  <a:srgbClr val="353740"/>
                </a:solidFill>
                <a:effectLst/>
                <a:latin typeface="ColfaxAI"/>
              </a:rPr>
              <a:t>• Développer une application pour aider les consommateurs à faire des choix alimentaires plus sains </a:t>
            </a:r>
          </a:p>
          <a:p>
            <a:endParaRPr lang="fr-FR" dirty="0">
              <a:solidFill>
                <a:srgbClr val="353740"/>
              </a:solidFill>
              <a:latin typeface="ColfaxAI"/>
            </a:endParaRPr>
          </a:p>
          <a:p>
            <a:endParaRPr lang="fr-FR" dirty="0">
              <a:solidFill>
                <a:srgbClr val="353740"/>
              </a:solidFill>
              <a:latin typeface="ColfaxAI"/>
            </a:endParaRPr>
          </a:p>
          <a:p>
            <a:r>
              <a:rPr lang="fr-FR" b="0" i="0" u="none" strike="noStrike" dirty="0">
                <a:solidFill>
                  <a:srgbClr val="353740"/>
                </a:solidFill>
                <a:effectLst/>
                <a:latin typeface="ColfaxAI"/>
              </a:rPr>
              <a:t>• Étudier les différents nutriments et identifier ceux qui sont les plus corrélés au </a:t>
            </a:r>
            <a:r>
              <a:rPr lang="fr-FR" dirty="0" err="1">
                <a:solidFill>
                  <a:srgbClr val="353740"/>
                </a:solidFill>
                <a:latin typeface="ColfaxAI"/>
              </a:rPr>
              <a:t>N</a:t>
            </a:r>
            <a:r>
              <a:rPr lang="fr-FR" b="0" i="0" u="none" strike="noStrike" dirty="0" err="1">
                <a:solidFill>
                  <a:srgbClr val="353740"/>
                </a:solidFill>
                <a:effectLst/>
                <a:latin typeface="ColfaxAI"/>
              </a:rPr>
              <a:t>utriscore</a:t>
            </a:r>
            <a:r>
              <a:rPr lang="fr-FR" b="0" i="0" u="none" strike="noStrike" dirty="0">
                <a:solidFill>
                  <a:srgbClr val="353740"/>
                </a:solidFill>
                <a:effectLst/>
                <a:latin typeface="ColfaxAI"/>
              </a:rPr>
              <a:t> </a:t>
            </a:r>
          </a:p>
          <a:p>
            <a:endParaRPr lang="fr-FR" dirty="0">
              <a:solidFill>
                <a:srgbClr val="353740"/>
              </a:solidFill>
              <a:latin typeface="ColfaxAI"/>
            </a:endParaRPr>
          </a:p>
          <a:p>
            <a:r>
              <a:rPr lang="fr-FR" b="0" i="0" u="none" strike="noStrike" dirty="0">
                <a:solidFill>
                  <a:srgbClr val="353740"/>
                </a:solidFill>
                <a:effectLst/>
                <a:latin typeface="ColfaxAI"/>
              </a:rPr>
              <a:t>• Construire un modèle de régression linéaire pour prédire le </a:t>
            </a:r>
            <a:r>
              <a:rPr lang="fr-FR" b="0" i="0" u="none" strike="noStrike" dirty="0" err="1">
                <a:solidFill>
                  <a:srgbClr val="353740"/>
                </a:solidFill>
                <a:effectLst/>
                <a:latin typeface="ColfaxAI"/>
              </a:rPr>
              <a:t>Nutriscore</a:t>
            </a:r>
            <a:r>
              <a:rPr lang="fr-FR" b="0" i="0" u="none" strike="noStrike" dirty="0">
                <a:solidFill>
                  <a:srgbClr val="353740"/>
                </a:solidFill>
                <a:effectLst/>
                <a:latin typeface="ColfaxAI"/>
              </a:rPr>
              <a:t> </a:t>
            </a:r>
          </a:p>
          <a:p>
            <a:endParaRPr lang="fr-FR" dirty="0">
              <a:solidFill>
                <a:srgbClr val="353740"/>
              </a:solidFill>
              <a:latin typeface="ColfaxAI"/>
            </a:endParaRPr>
          </a:p>
          <a:p>
            <a:r>
              <a:rPr lang="fr-FR" b="0" i="0" u="none" strike="noStrike" dirty="0">
                <a:solidFill>
                  <a:srgbClr val="353740"/>
                </a:solidFill>
                <a:effectLst/>
                <a:latin typeface="ColfaxAI"/>
              </a:rPr>
              <a:t>• Intégrer ce modèle dans une application pour fournir facilement des informations nutritionnelles précises</a:t>
            </a:r>
            <a:endParaRPr lang="fr-FR" dirty="0"/>
          </a:p>
        </p:txBody>
      </p:sp>
      <p:sp>
        <p:nvSpPr>
          <p:cNvPr id="4" name="Google Shape;10266;p67">
            <a:extLst>
              <a:ext uri="{FF2B5EF4-FFF2-40B4-BE49-F238E27FC236}">
                <a16:creationId xmlns:a16="http://schemas.microsoft.com/office/drawing/2014/main" id="{07C821E3-6008-AAE7-8EF1-2EF9062087BB}"/>
              </a:ext>
            </a:extLst>
          </p:cNvPr>
          <p:cNvSpPr/>
          <p:nvPr/>
        </p:nvSpPr>
        <p:spPr>
          <a:xfrm>
            <a:off x="7743927" y="637320"/>
            <a:ext cx="680073" cy="760810"/>
          </a:xfrm>
          <a:custGeom>
            <a:avLst/>
            <a:gdLst/>
            <a:ahLst/>
            <a:cxnLst/>
            <a:rect l="l" t="t" r="r" b="b"/>
            <a:pathLst>
              <a:path w="11689" h="11657" extrusionOk="0">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172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00DA7F-6405-100F-750F-E1BD61E338AF}"/>
              </a:ext>
            </a:extLst>
          </p:cNvPr>
          <p:cNvSpPr txBox="1"/>
          <p:nvPr/>
        </p:nvSpPr>
        <p:spPr>
          <a:xfrm>
            <a:off x="597878" y="1684024"/>
            <a:ext cx="7491046" cy="3754874"/>
          </a:xfrm>
          <a:prstGeom prst="rect">
            <a:avLst/>
          </a:prstGeom>
          <a:noFill/>
        </p:spPr>
        <p:txBody>
          <a:bodyPr wrap="square">
            <a:spAutoFit/>
          </a:bodyPr>
          <a:lstStyle/>
          <a:p>
            <a:pPr algn="l">
              <a:buFont typeface="Arial" panose="020B0604020202020204" pitchFamily="34" charset="0"/>
              <a:buChar char="•"/>
            </a:pPr>
            <a:r>
              <a:rPr lang="fr-FR" b="0" i="0" u="none" strike="noStrike" dirty="0">
                <a:solidFill>
                  <a:srgbClr val="374151"/>
                </a:solidFill>
                <a:effectLst/>
                <a:latin typeface="Söhne"/>
              </a:rPr>
              <a:t> ACP : révéler les relations sous-jacentes entre les différents nutriments et le Nutri-Score, permettant d'identifier les combinaisons de nutriments ayant le plus d'impact sur la qualité nutritionnelle des aliments</a:t>
            </a:r>
          </a:p>
          <a:p>
            <a:pPr algn="l">
              <a:buFont typeface="Arial" panose="020B0604020202020204" pitchFamily="34" charset="0"/>
              <a:buChar char="•"/>
            </a:pPr>
            <a:endParaRPr lang="fr-FR" dirty="0">
              <a:solidFill>
                <a:srgbClr val="374151"/>
              </a:solidFill>
              <a:latin typeface="Söhne"/>
            </a:endParaRPr>
          </a:p>
          <a:p>
            <a:pPr algn="l">
              <a:buFont typeface="Arial" panose="020B0604020202020204" pitchFamily="34" charset="0"/>
              <a:buChar char="•"/>
            </a:pPr>
            <a:r>
              <a:rPr lang="fr-FR" b="0" i="0" u="none" strike="noStrike" dirty="0">
                <a:solidFill>
                  <a:srgbClr val="374151"/>
                </a:solidFill>
                <a:effectLst/>
                <a:latin typeface="Söhne"/>
              </a:rPr>
              <a:t> Méthode non paramétrique si conditions ANOVA non remplies</a:t>
            </a:r>
          </a:p>
          <a:p>
            <a:pPr algn="l">
              <a:buFont typeface="Arial" panose="020B0604020202020204" pitchFamily="34" charset="0"/>
              <a:buChar char="•"/>
            </a:pPr>
            <a:endParaRPr lang="fr-FR" b="0" i="0" u="none" strike="noStrike" dirty="0">
              <a:solidFill>
                <a:srgbClr val="374151"/>
              </a:solidFill>
              <a:effectLst/>
              <a:latin typeface="Söhne"/>
            </a:endParaRPr>
          </a:p>
          <a:p>
            <a:pPr algn="l">
              <a:buFont typeface="Arial" panose="020B0604020202020204" pitchFamily="34" charset="0"/>
              <a:buChar char="•"/>
            </a:pPr>
            <a:r>
              <a:rPr lang="fr-FR" b="0" i="0" u="none" strike="noStrike" dirty="0">
                <a:solidFill>
                  <a:srgbClr val="374151"/>
                </a:solidFill>
                <a:effectLst/>
                <a:latin typeface="Söhne"/>
              </a:rPr>
              <a:t> Test de </a:t>
            </a:r>
            <a:r>
              <a:rPr lang="fr-FR" b="0" i="0" u="none" strike="noStrike" dirty="0" err="1">
                <a:solidFill>
                  <a:srgbClr val="374151"/>
                </a:solidFill>
                <a:effectLst/>
                <a:latin typeface="Söhne"/>
              </a:rPr>
              <a:t>Kruskal</a:t>
            </a:r>
            <a:r>
              <a:rPr lang="fr-FR" b="0" i="0" u="none" strike="noStrike" dirty="0">
                <a:solidFill>
                  <a:srgbClr val="374151"/>
                </a:solidFill>
                <a:effectLst/>
                <a:latin typeface="Söhne"/>
              </a:rPr>
              <a:t>-Wallis : différences significatives groupes nutriments</a:t>
            </a:r>
          </a:p>
          <a:p>
            <a:pPr algn="l">
              <a:buFont typeface="Arial" panose="020B0604020202020204" pitchFamily="34" charset="0"/>
              <a:buChar char="•"/>
            </a:pPr>
            <a:endParaRPr lang="fr-FR" b="0" i="0" u="none" strike="noStrike" dirty="0">
              <a:solidFill>
                <a:srgbClr val="374151"/>
              </a:solidFill>
              <a:effectLst/>
              <a:latin typeface="Söhne"/>
            </a:endParaRPr>
          </a:p>
          <a:p>
            <a:pPr algn="l">
              <a:buFont typeface="Arial" panose="020B0604020202020204" pitchFamily="34" charset="0"/>
              <a:buChar char="•"/>
            </a:pPr>
            <a:r>
              <a:rPr lang="fr-FR" b="0" i="0" u="none" strike="noStrike" dirty="0">
                <a:solidFill>
                  <a:srgbClr val="374151"/>
                </a:solidFill>
                <a:effectLst/>
                <a:latin typeface="Söhne"/>
              </a:rPr>
              <a:t> Coefficient de détermination (R2) : 0,842 (régression linéaire)</a:t>
            </a:r>
          </a:p>
          <a:p>
            <a:pPr algn="l">
              <a:buFont typeface="Arial" panose="020B0604020202020204" pitchFamily="34" charset="0"/>
              <a:buChar char="•"/>
            </a:pPr>
            <a:endParaRPr lang="fr-FR" b="0" i="0" u="none" strike="noStrike" dirty="0">
              <a:solidFill>
                <a:srgbClr val="374151"/>
              </a:solidFill>
              <a:effectLst/>
              <a:latin typeface="Söhne"/>
            </a:endParaRPr>
          </a:p>
          <a:p>
            <a:pPr algn="l">
              <a:buFont typeface="Arial" panose="020B0604020202020204" pitchFamily="34" charset="0"/>
              <a:buChar char="•"/>
            </a:pPr>
            <a:r>
              <a:rPr lang="fr-FR" b="0" i="0" u="none" strike="noStrike" dirty="0">
                <a:solidFill>
                  <a:srgbClr val="374151"/>
                </a:solidFill>
                <a:effectLst/>
                <a:latin typeface="Söhne"/>
              </a:rPr>
              <a:t> Implications santé publique :</a:t>
            </a:r>
          </a:p>
          <a:p>
            <a:pPr marL="742950" lvl="1" indent="-285750" algn="l">
              <a:buFont typeface="Arial" panose="020B0604020202020204" pitchFamily="34" charset="0"/>
              <a:buChar char="•"/>
            </a:pPr>
            <a:r>
              <a:rPr lang="fr-FR" b="0" i="0" u="none" strike="noStrike" dirty="0">
                <a:solidFill>
                  <a:srgbClr val="374151"/>
                </a:solidFill>
                <a:effectLst/>
                <a:latin typeface="Söhne"/>
              </a:rPr>
              <a:t>Choix nutritionnels éclairés pour consommateurs</a:t>
            </a:r>
          </a:p>
          <a:p>
            <a:pPr marL="742950" lvl="1" indent="-285750" algn="l">
              <a:buFont typeface="Arial" panose="020B0604020202020204" pitchFamily="34" charset="0"/>
              <a:buChar char="•"/>
            </a:pPr>
            <a:r>
              <a:rPr lang="fr-FR" b="0" i="0" u="none" strike="noStrike" dirty="0">
                <a:solidFill>
                  <a:srgbClr val="374151"/>
                </a:solidFill>
                <a:effectLst/>
                <a:latin typeface="Söhne"/>
              </a:rPr>
              <a:t>Compréhension des effets des nutriments sur la santé</a:t>
            </a:r>
          </a:p>
          <a:p>
            <a:pPr marL="742950" lvl="1" indent="-285750" algn="l">
              <a:buFont typeface="Arial" panose="020B0604020202020204" pitchFamily="34" charset="0"/>
              <a:buChar char="•"/>
            </a:pPr>
            <a:r>
              <a:rPr lang="fr-FR" b="0" i="0" u="none" strike="noStrike" dirty="0">
                <a:solidFill>
                  <a:srgbClr val="374151"/>
                </a:solidFill>
                <a:effectLst/>
                <a:latin typeface="Söhne"/>
              </a:rPr>
              <a:t>Amélioration qualité nutritionnelle produits alimentaires</a:t>
            </a:r>
          </a:p>
          <a:p>
            <a:pPr algn="l">
              <a:buFont typeface="Arial" panose="020B0604020202020204" pitchFamily="34" charset="0"/>
              <a:buChar char="•"/>
            </a:pPr>
            <a:endParaRPr lang="fr-FR" dirty="0">
              <a:solidFill>
                <a:srgbClr val="374151"/>
              </a:solidFill>
              <a:latin typeface="Söhne"/>
            </a:endParaRPr>
          </a:p>
          <a:p>
            <a:pPr algn="l">
              <a:buFont typeface="Arial" panose="020B0604020202020204" pitchFamily="34" charset="0"/>
              <a:buChar char="•"/>
            </a:pPr>
            <a:endParaRPr lang="fr-FR" b="0" i="0" u="none" strike="noStrike" dirty="0">
              <a:solidFill>
                <a:srgbClr val="374151"/>
              </a:solidFill>
              <a:effectLst/>
              <a:latin typeface="Söhne"/>
            </a:endParaRPr>
          </a:p>
          <a:p>
            <a:pPr algn="l"/>
            <a:endParaRPr lang="fr-FR" b="0" i="0" dirty="0">
              <a:solidFill>
                <a:srgbClr val="374151"/>
              </a:solidFill>
              <a:effectLst/>
              <a:latin typeface="Söhne"/>
            </a:endParaRPr>
          </a:p>
        </p:txBody>
      </p:sp>
      <p:sp>
        <p:nvSpPr>
          <p:cNvPr id="5" name="Google Shape;213;p31">
            <a:extLst>
              <a:ext uri="{FF2B5EF4-FFF2-40B4-BE49-F238E27FC236}">
                <a16:creationId xmlns:a16="http://schemas.microsoft.com/office/drawing/2014/main" id="{0AF65A34-78F7-77AC-E62A-E80A1ABFD1F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err="1"/>
              <a:t>Faisabilité</a:t>
            </a:r>
            <a:r>
              <a:rPr lang="en" dirty="0"/>
              <a:t> et justification de </a:t>
            </a:r>
            <a:r>
              <a:rPr lang="en" dirty="0" err="1"/>
              <a:t>l’application</a:t>
            </a:r>
            <a:endParaRPr dirty="0"/>
          </a:p>
        </p:txBody>
      </p:sp>
      <p:sp>
        <p:nvSpPr>
          <p:cNvPr id="6" name="Google Shape;407;p43">
            <a:extLst>
              <a:ext uri="{FF2B5EF4-FFF2-40B4-BE49-F238E27FC236}">
                <a16:creationId xmlns:a16="http://schemas.microsoft.com/office/drawing/2014/main" id="{27E9C035-A2C5-AB28-13EE-86826E4A36CB}"/>
              </a:ext>
            </a:extLst>
          </p:cNvPr>
          <p:cNvSpPr txBox="1"/>
          <p:nvPr/>
        </p:nvSpPr>
        <p:spPr>
          <a:xfrm flipH="1">
            <a:off x="7319253" y="619091"/>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err="1">
                <a:solidFill>
                  <a:schemeClr val="tx2">
                    <a:lumMod val="10000"/>
                  </a:schemeClr>
                </a:solidFill>
                <a:latin typeface="Quicksand SemiBold"/>
                <a:ea typeface="Quicksand SemiBold"/>
                <a:cs typeface="Quicksand SemiBold"/>
                <a:sym typeface="Quicksand SemiBold"/>
              </a:rPr>
              <a:t>Synthèse</a:t>
            </a:r>
            <a:r>
              <a:rPr lang="en" sz="2200" dirty="0">
                <a:solidFill>
                  <a:schemeClr val="tx2">
                    <a:lumMod val="10000"/>
                  </a:schemeClr>
                </a:solidFill>
                <a:latin typeface="Quicksand SemiBold"/>
                <a:ea typeface="Quicksand SemiBold"/>
                <a:cs typeface="Quicksand SemiBold"/>
                <a:sym typeface="Quicksand SemiBold"/>
              </a:rPr>
              <a:t> </a:t>
            </a:r>
            <a:r>
              <a:rPr lang="en" sz="2200" dirty="0">
                <a:solidFill>
                  <a:schemeClr val="dk1"/>
                </a:solidFill>
                <a:latin typeface="Quicksand SemiBold"/>
                <a:ea typeface="Quicksand SemiBold"/>
                <a:cs typeface="Quicksand SemiBold"/>
                <a:sym typeface="Quicksand SemiBold"/>
              </a:rPr>
              <a:t>Step </a:t>
            </a:r>
            <a:r>
              <a:rPr lang="en" sz="3500" dirty="0">
                <a:solidFill>
                  <a:schemeClr val="dk2"/>
                </a:solidFill>
                <a:latin typeface="Quicksand SemiBold"/>
                <a:ea typeface="Quicksand SemiBold"/>
                <a:cs typeface="Quicksand SemiBold"/>
                <a:sym typeface="Quicksand SemiBold"/>
              </a:rPr>
              <a:t>7</a:t>
            </a:r>
            <a:endParaRPr sz="3500" dirty="0">
              <a:solidFill>
                <a:schemeClr val="dk2"/>
              </a:solidFill>
              <a:latin typeface="Quicksand SemiBold"/>
              <a:ea typeface="Quicksand SemiBold"/>
              <a:cs typeface="Quicksand SemiBold"/>
              <a:sym typeface="Quicksand SemiBold"/>
            </a:endParaRPr>
          </a:p>
        </p:txBody>
      </p:sp>
      <p:sp>
        <p:nvSpPr>
          <p:cNvPr id="7" name="Google Shape;408;p43">
            <a:extLst>
              <a:ext uri="{FF2B5EF4-FFF2-40B4-BE49-F238E27FC236}">
                <a16:creationId xmlns:a16="http://schemas.microsoft.com/office/drawing/2014/main" id="{712429E8-F8E2-79BA-2D9A-512FA11439E2}"/>
              </a:ext>
            </a:extLst>
          </p:cNvPr>
          <p:cNvSpPr txBox="1"/>
          <p:nvPr/>
        </p:nvSpPr>
        <p:spPr>
          <a:xfrm flipH="1">
            <a:off x="7319295" y="1119439"/>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err="1">
                <a:solidFill>
                  <a:schemeClr val="dk1"/>
                </a:solidFill>
                <a:latin typeface="Quicksand SemiBold"/>
                <a:ea typeface="Quicksand SemiBold"/>
                <a:cs typeface="Quicksand SemiBold"/>
                <a:sym typeface="Quicksand SemiBold"/>
              </a:rPr>
              <a:t>Faisabilité</a:t>
            </a:r>
            <a:r>
              <a:rPr lang="en" sz="1200" dirty="0">
                <a:solidFill>
                  <a:schemeClr val="dk1"/>
                </a:solidFill>
                <a:latin typeface="Quicksand SemiBold"/>
                <a:ea typeface="Quicksand SemiBold"/>
                <a:cs typeface="Quicksand SemiBold"/>
                <a:sym typeface="Quicksand SemiBold"/>
              </a:rPr>
              <a:t> de </a:t>
            </a:r>
            <a:r>
              <a:rPr lang="en" sz="1200" dirty="0" err="1">
                <a:solidFill>
                  <a:schemeClr val="dk1"/>
                </a:solidFill>
                <a:latin typeface="Quicksand SemiBold"/>
                <a:ea typeface="Quicksand SemiBold"/>
                <a:cs typeface="Quicksand SemiBold"/>
                <a:sym typeface="Quicksand SemiBold"/>
              </a:rPr>
              <a:t>l’application</a:t>
            </a:r>
            <a:endParaRPr lang="fr-FR" sz="1200" dirty="0">
              <a:solidFill>
                <a:schemeClr val="dk1"/>
              </a:solidFill>
              <a:latin typeface="Quicksand Medium"/>
              <a:ea typeface="Quicksand Medium"/>
              <a:cs typeface="Quicksand Medium"/>
              <a:sym typeface="Quicksand Medium"/>
            </a:endParaRPr>
          </a:p>
        </p:txBody>
      </p:sp>
    </p:spTree>
    <p:extLst>
      <p:ext uri="{BB962C8B-B14F-4D97-AF65-F5344CB8AC3E}">
        <p14:creationId xmlns:p14="http://schemas.microsoft.com/office/powerpoint/2010/main" val="110013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texte&#10;&#10;Description générée automatiquement">
            <a:extLst>
              <a:ext uri="{FF2B5EF4-FFF2-40B4-BE49-F238E27FC236}">
                <a16:creationId xmlns:a16="http://schemas.microsoft.com/office/drawing/2014/main" id="{0A56922E-587B-90D4-D2AB-F3EE2D993134}"/>
              </a:ext>
            </a:extLst>
          </p:cNvPr>
          <p:cNvPicPr>
            <a:picLocks noChangeAspect="1"/>
          </p:cNvPicPr>
          <p:nvPr/>
        </p:nvPicPr>
        <p:blipFill>
          <a:blip r:embed="rId2"/>
          <a:stretch>
            <a:fillRect/>
          </a:stretch>
        </p:blipFill>
        <p:spPr>
          <a:xfrm>
            <a:off x="732685" y="1193465"/>
            <a:ext cx="7035800" cy="3721100"/>
          </a:xfrm>
          <a:prstGeom prst="rect">
            <a:avLst/>
          </a:prstGeom>
        </p:spPr>
      </p:pic>
      <p:sp>
        <p:nvSpPr>
          <p:cNvPr id="6" name="ZoneTexte 5">
            <a:extLst>
              <a:ext uri="{FF2B5EF4-FFF2-40B4-BE49-F238E27FC236}">
                <a16:creationId xmlns:a16="http://schemas.microsoft.com/office/drawing/2014/main" id="{632C649F-5BB6-E742-A1C5-F5D1280C7313}"/>
              </a:ext>
            </a:extLst>
          </p:cNvPr>
          <p:cNvSpPr txBox="1"/>
          <p:nvPr/>
        </p:nvSpPr>
        <p:spPr>
          <a:xfrm>
            <a:off x="732685" y="577280"/>
            <a:ext cx="7704000" cy="523220"/>
          </a:xfrm>
          <a:prstGeom prst="rect">
            <a:avLst/>
          </a:prstGeom>
          <a:noFill/>
        </p:spPr>
        <p:txBody>
          <a:bodyPr wrap="square">
            <a:spAutoFit/>
          </a:bodyPr>
          <a:lstStyle/>
          <a:p>
            <a:pPr algn="l"/>
            <a:r>
              <a:rPr lang="fr-FR" b="0" i="0" dirty="0">
                <a:solidFill>
                  <a:srgbClr val="374151"/>
                </a:solidFill>
                <a:effectLst/>
                <a:latin typeface="Söhne"/>
              </a:rPr>
              <a:t>Les résultats proviennent d'un modèle de régression linéaire multiple qui prédit le score nutritionnel des produits alimentaires en fonction de leur teneur en fibres, sucres, matières grasses et protéines :</a:t>
            </a:r>
          </a:p>
        </p:txBody>
      </p:sp>
      <p:sp>
        <p:nvSpPr>
          <p:cNvPr id="7" name="ZoneTexte 6">
            <a:extLst>
              <a:ext uri="{FF2B5EF4-FFF2-40B4-BE49-F238E27FC236}">
                <a16:creationId xmlns:a16="http://schemas.microsoft.com/office/drawing/2014/main" id="{6556C880-CDD9-C9D1-F3D8-C431B7F13043}"/>
              </a:ext>
            </a:extLst>
          </p:cNvPr>
          <p:cNvSpPr txBox="1"/>
          <p:nvPr/>
        </p:nvSpPr>
        <p:spPr>
          <a:xfrm>
            <a:off x="331728" y="97228"/>
            <a:ext cx="4572000" cy="584775"/>
          </a:xfrm>
          <a:prstGeom prst="rect">
            <a:avLst/>
          </a:prstGeom>
          <a:noFill/>
        </p:spPr>
        <p:txBody>
          <a:bodyPr wrap="square">
            <a:spAutoFit/>
          </a:bodyPr>
          <a:lstStyle/>
          <a:p>
            <a:r>
              <a:rPr lang="fr-FR" sz="3200" dirty="0">
                <a:solidFill>
                  <a:schemeClr val="dk1"/>
                </a:solidFill>
                <a:latin typeface="Poppins Medium"/>
                <a:cs typeface="Poppins Medium"/>
                <a:sym typeface="Poppins Medium"/>
              </a:rPr>
              <a:t>Régression linéaire</a:t>
            </a:r>
          </a:p>
        </p:txBody>
      </p:sp>
    </p:spTree>
    <p:extLst>
      <p:ext uri="{BB962C8B-B14F-4D97-AF65-F5344CB8AC3E}">
        <p14:creationId xmlns:p14="http://schemas.microsoft.com/office/powerpoint/2010/main" val="2880401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EA3726C-E3A2-E68D-2920-131B173E48CB}"/>
              </a:ext>
            </a:extLst>
          </p:cNvPr>
          <p:cNvSpPr txBox="1"/>
          <p:nvPr/>
        </p:nvSpPr>
        <p:spPr>
          <a:xfrm>
            <a:off x="468923" y="436264"/>
            <a:ext cx="8206154" cy="3970318"/>
          </a:xfrm>
          <a:prstGeom prst="rect">
            <a:avLst/>
          </a:prstGeom>
          <a:noFill/>
        </p:spPr>
        <p:txBody>
          <a:bodyPr wrap="square">
            <a:spAutoFit/>
          </a:bodyPr>
          <a:lstStyle/>
          <a:p>
            <a:pPr algn="l"/>
            <a:r>
              <a:rPr lang="fr-FR" b="0" i="0" dirty="0">
                <a:solidFill>
                  <a:srgbClr val="374151"/>
                </a:solidFill>
                <a:effectLst/>
                <a:latin typeface="Söhne"/>
              </a:rPr>
              <a:t>• La valeur de</a:t>
            </a:r>
            <a:r>
              <a:rPr lang="fr-FR" b="1" i="0" dirty="0">
                <a:solidFill>
                  <a:srgbClr val="374151"/>
                </a:solidFill>
                <a:effectLst/>
                <a:latin typeface="Söhne"/>
              </a:rPr>
              <a:t> R² de 0,830 </a:t>
            </a:r>
            <a:r>
              <a:rPr lang="fr-FR" b="0" i="0" dirty="0">
                <a:solidFill>
                  <a:srgbClr val="374151"/>
                </a:solidFill>
                <a:effectLst/>
                <a:latin typeface="Söhne"/>
              </a:rPr>
              <a:t>indique que le modèle explique </a:t>
            </a:r>
            <a:r>
              <a:rPr lang="fr-FR" b="1" i="0" dirty="0">
                <a:solidFill>
                  <a:srgbClr val="374151"/>
                </a:solidFill>
                <a:effectLst/>
                <a:latin typeface="Söhne"/>
              </a:rPr>
              <a:t>83,0 % de la variance </a:t>
            </a:r>
            <a:r>
              <a:rPr lang="fr-FR" b="0" i="0" dirty="0">
                <a:solidFill>
                  <a:srgbClr val="374151"/>
                </a:solidFill>
                <a:effectLst/>
                <a:latin typeface="Söhne"/>
              </a:rPr>
              <a:t>du score nutritionnel. La valeur de R² ajusté est identique, ce qui indique que l'ajout de prédicteurs supplémentaires au modèle n'a pas augmenté de manière significative son pouvoir explicatif.</a:t>
            </a:r>
          </a:p>
          <a:p>
            <a:pPr algn="l"/>
            <a:endParaRPr lang="fr-FR" b="0" i="0" dirty="0">
              <a:solidFill>
                <a:srgbClr val="374151"/>
              </a:solidFill>
              <a:effectLst/>
              <a:latin typeface="Söhne"/>
            </a:endParaRPr>
          </a:p>
          <a:p>
            <a:pPr algn="l"/>
            <a:r>
              <a:rPr lang="fr-FR" b="0" i="0" dirty="0">
                <a:solidFill>
                  <a:srgbClr val="374151"/>
                </a:solidFill>
                <a:effectLst/>
                <a:latin typeface="Söhne"/>
              </a:rPr>
              <a:t>• Le </a:t>
            </a:r>
            <a:r>
              <a:rPr lang="fr-FR" b="1" i="0" dirty="0">
                <a:solidFill>
                  <a:srgbClr val="374151"/>
                </a:solidFill>
                <a:effectLst/>
                <a:latin typeface="Söhne"/>
              </a:rPr>
              <a:t>F-statistique</a:t>
            </a:r>
            <a:r>
              <a:rPr lang="fr-FR" b="0" i="0" dirty="0">
                <a:solidFill>
                  <a:srgbClr val="374151"/>
                </a:solidFill>
                <a:effectLst/>
                <a:latin typeface="Söhne"/>
              </a:rPr>
              <a:t> de </a:t>
            </a:r>
            <a:r>
              <a:rPr lang="fr-FR" b="1" i="0" dirty="0">
                <a:solidFill>
                  <a:srgbClr val="374151"/>
                </a:solidFill>
                <a:effectLst/>
                <a:latin typeface="Söhne"/>
              </a:rPr>
              <a:t>8103,0 </a:t>
            </a:r>
            <a:r>
              <a:rPr lang="fr-FR" b="0" i="0" dirty="0">
                <a:solidFill>
                  <a:srgbClr val="374151"/>
                </a:solidFill>
                <a:effectLst/>
                <a:latin typeface="Söhne"/>
              </a:rPr>
              <a:t>avec une valeur de p de 0,00 indique que le modèle dans son ensemble est statistiquement significatif.</a:t>
            </a:r>
          </a:p>
          <a:p>
            <a:pPr algn="l"/>
            <a:endParaRPr lang="fr-FR" b="0" i="0" dirty="0">
              <a:solidFill>
                <a:srgbClr val="374151"/>
              </a:solidFill>
              <a:effectLst/>
              <a:latin typeface="Söhne"/>
            </a:endParaRPr>
          </a:p>
          <a:p>
            <a:pPr algn="l"/>
            <a:r>
              <a:rPr lang="fr-FR" b="0" i="0" dirty="0">
                <a:solidFill>
                  <a:srgbClr val="374151"/>
                </a:solidFill>
                <a:effectLst/>
                <a:latin typeface="Söhne"/>
              </a:rPr>
              <a:t>• Les coefficients du modèle indiquent la force et la direction des relations entre chaque prédicteur et le score nutritionnel.</a:t>
            </a:r>
          </a:p>
          <a:p>
            <a:pPr algn="l"/>
            <a:endParaRPr lang="fr-FR" b="0" i="0" dirty="0">
              <a:solidFill>
                <a:srgbClr val="374151"/>
              </a:solidFill>
              <a:effectLst/>
              <a:latin typeface="Söhne"/>
            </a:endParaRPr>
          </a:p>
          <a:p>
            <a:pPr algn="l"/>
            <a:r>
              <a:rPr lang="fr-FR" dirty="0">
                <a:solidFill>
                  <a:srgbClr val="374151"/>
                </a:solidFill>
                <a:latin typeface="Söhne"/>
              </a:rPr>
              <a:t>&gt;</a:t>
            </a:r>
            <a:r>
              <a:rPr lang="fr-FR" b="0" i="0" dirty="0">
                <a:solidFill>
                  <a:srgbClr val="374151"/>
                </a:solidFill>
                <a:effectLst/>
                <a:latin typeface="Söhne"/>
              </a:rPr>
              <a:t>Le coefficient pour fiber_100g est de </a:t>
            </a:r>
            <a:r>
              <a:rPr lang="fr-FR" b="1" i="0" dirty="0">
                <a:solidFill>
                  <a:srgbClr val="374151"/>
                </a:solidFill>
                <a:effectLst/>
                <a:latin typeface="Söhne"/>
              </a:rPr>
              <a:t>-0,4491</a:t>
            </a:r>
            <a:r>
              <a:rPr lang="fr-FR" b="0" i="0" dirty="0">
                <a:solidFill>
                  <a:srgbClr val="374151"/>
                </a:solidFill>
                <a:effectLst/>
                <a:latin typeface="Söhne"/>
              </a:rPr>
              <a:t>, ce qui signifie qu'une augmentation d'une unité de la teneur en fibres est associée à une diminution de 0,4491 unité du score nutritionnel. </a:t>
            </a:r>
          </a:p>
          <a:p>
            <a:pPr algn="l"/>
            <a:r>
              <a:rPr lang="fr-FR" b="0" i="0" dirty="0">
                <a:solidFill>
                  <a:srgbClr val="374151"/>
                </a:solidFill>
                <a:effectLst/>
                <a:latin typeface="Söhne"/>
              </a:rPr>
              <a:t>&gt;Le coefficient pour sugars_100g est de </a:t>
            </a:r>
            <a:r>
              <a:rPr lang="fr-FR" b="1" dirty="0">
                <a:solidFill>
                  <a:srgbClr val="374151"/>
                </a:solidFill>
                <a:latin typeface="Söhne"/>
              </a:rPr>
              <a:t>0,2649</a:t>
            </a:r>
            <a:r>
              <a:rPr lang="fr-FR" b="0" i="0" dirty="0">
                <a:solidFill>
                  <a:srgbClr val="374151"/>
                </a:solidFill>
                <a:effectLst/>
                <a:latin typeface="Söhne"/>
              </a:rPr>
              <a:t>, ce qui signifie qu'une augmentation d'une unité de la teneur en sucres est associée à une augmentation de 0,2649 unité du score nutritionnel. </a:t>
            </a:r>
          </a:p>
          <a:p>
            <a:pPr algn="l"/>
            <a:r>
              <a:rPr lang="fr-FR" b="0" i="0" dirty="0">
                <a:solidFill>
                  <a:srgbClr val="374151"/>
                </a:solidFill>
                <a:effectLst/>
                <a:latin typeface="Söhne"/>
              </a:rPr>
              <a:t>&gt;Le coefficient pour fat_100g est de </a:t>
            </a:r>
            <a:r>
              <a:rPr lang="fr-FR" b="1" i="0" dirty="0">
                <a:solidFill>
                  <a:srgbClr val="374151"/>
                </a:solidFill>
                <a:effectLst/>
                <a:latin typeface="Söhne"/>
              </a:rPr>
              <a:t>32,6028</a:t>
            </a:r>
            <a:r>
              <a:rPr lang="fr-FR" b="0" i="0" dirty="0">
                <a:solidFill>
                  <a:srgbClr val="374151"/>
                </a:solidFill>
                <a:effectLst/>
                <a:latin typeface="Söhne"/>
              </a:rPr>
              <a:t>, ce qui signifie qu'une augmentation d'une unité de la teneur en matières grasses est associée à une augmentation de 32,6028 unités du score nutritionnel. </a:t>
            </a:r>
          </a:p>
          <a:p>
            <a:pPr algn="l"/>
            <a:r>
              <a:rPr lang="fr-FR" dirty="0">
                <a:solidFill>
                  <a:srgbClr val="374151"/>
                </a:solidFill>
                <a:latin typeface="Söhne"/>
              </a:rPr>
              <a:t>&gt;Le </a:t>
            </a:r>
            <a:r>
              <a:rPr lang="fr-FR" b="0" i="0" dirty="0">
                <a:solidFill>
                  <a:srgbClr val="374151"/>
                </a:solidFill>
                <a:effectLst/>
                <a:latin typeface="Söhne"/>
              </a:rPr>
              <a:t>coefficient pour proteins_100g est de </a:t>
            </a:r>
            <a:r>
              <a:rPr lang="fr-FR" b="1" i="0" dirty="0">
                <a:solidFill>
                  <a:srgbClr val="374151"/>
                </a:solidFill>
                <a:effectLst/>
                <a:latin typeface="Söhne"/>
              </a:rPr>
              <a:t>0,1384</a:t>
            </a:r>
            <a:r>
              <a:rPr lang="fr-FR" b="0" i="0" dirty="0">
                <a:solidFill>
                  <a:srgbClr val="374151"/>
                </a:solidFill>
                <a:effectLst/>
                <a:latin typeface="Söhne"/>
              </a:rPr>
              <a:t>, ce qui signifie qu'une augmentation d'une unité de la teneur en protéines est associée à une augmentation de 0,1384 unité du score nutritionnel.</a:t>
            </a:r>
          </a:p>
        </p:txBody>
      </p:sp>
    </p:spTree>
    <p:extLst>
      <p:ext uri="{BB962C8B-B14F-4D97-AF65-F5344CB8AC3E}">
        <p14:creationId xmlns:p14="http://schemas.microsoft.com/office/powerpoint/2010/main" val="1966359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D36A51-D4B3-D9ED-6B17-E43561E84FC5}"/>
              </a:ext>
            </a:extLst>
          </p:cNvPr>
          <p:cNvSpPr>
            <a:spLocks noGrp="1"/>
          </p:cNvSpPr>
          <p:nvPr>
            <p:ph type="title"/>
          </p:nvPr>
        </p:nvSpPr>
        <p:spPr>
          <a:xfrm>
            <a:off x="720000" y="194654"/>
            <a:ext cx="7704000" cy="572700"/>
          </a:xfrm>
        </p:spPr>
        <p:txBody>
          <a:bodyPr/>
          <a:lstStyle/>
          <a:p>
            <a:r>
              <a:rPr lang="fr-FR" dirty="0"/>
              <a:t>Intérêt de l’application</a:t>
            </a:r>
          </a:p>
        </p:txBody>
      </p:sp>
      <p:sp>
        <p:nvSpPr>
          <p:cNvPr id="3" name="Espace réservé du texte 2">
            <a:extLst>
              <a:ext uri="{FF2B5EF4-FFF2-40B4-BE49-F238E27FC236}">
                <a16:creationId xmlns:a16="http://schemas.microsoft.com/office/drawing/2014/main" id="{FA2586C6-8BC8-BB95-81C7-9EC5E7C8B3D2}"/>
              </a:ext>
            </a:extLst>
          </p:cNvPr>
          <p:cNvSpPr>
            <a:spLocks noGrp="1"/>
          </p:cNvSpPr>
          <p:nvPr>
            <p:ph type="body" idx="1"/>
          </p:nvPr>
        </p:nvSpPr>
        <p:spPr/>
        <p:txBody>
          <a:bodyPr/>
          <a:lstStyle/>
          <a:p>
            <a:endParaRPr lang="fr-FR"/>
          </a:p>
        </p:txBody>
      </p:sp>
      <p:pic>
        <p:nvPicPr>
          <p:cNvPr id="5" name="Image 4" descr="Une image contenant musique, guitare, climatiseur, matériau de construction&#10;&#10;Description générée automatiquement">
            <a:extLst>
              <a:ext uri="{FF2B5EF4-FFF2-40B4-BE49-F238E27FC236}">
                <a16:creationId xmlns:a16="http://schemas.microsoft.com/office/drawing/2014/main" id="{076B7C8A-F5A8-7201-5DE3-B6D1F7C29D99}"/>
              </a:ext>
            </a:extLst>
          </p:cNvPr>
          <p:cNvPicPr>
            <a:picLocks noChangeAspect="1"/>
          </p:cNvPicPr>
          <p:nvPr/>
        </p:nvPicPr>
        <p:blipFill>
          <a:blip r:embed="rId2"/>
          <a:stretch>
            <a:fillRect/>
          </a:stretch>
        </p:blipFill>
        <p:spPr>
          <a:xfrm>
            <a:off x="504202" y="1119199"/>
            <a:ext cx="7704000" cy="3937824"/>
          </a:xfrm>
          <a:prstGeom prst="rect">
            <a:avLst/>
          </a:prstGeom>
        </p:spPr>
      </p:pic>
      <p:sp>
        <p:nvSpPr>
          <p:cNvPr id="4" name="ZoneTexte 3">
            <a:extLst>
              <a:ext uri="{FF2B5EF4-FFF2-40B4-BE49-F238E27FC236}">
                <a16:creationId xmlns:a16="http://schemas.microsoft.com/office/drawing/2014/main" id="{520A8653-6DF4-653D-F136-A3FD6BEB2CED}"/>
              </a:ext>
            </a:extLst>
          </p:cNvPr>
          <p:cNvSpPr txBox="1"/>
          <p:nvPr/>
        </p:nvSpPr>
        <p:spPr>
          <a:xfrm>
            <a:off x="402772" y="811422"/>
            <a:ext cx="6988628" cy="307777"/>
          </a:xfrm>
          <a:prstGeom prst="rect">
            <a:avLst/>
          </a:prstGeom>
          <a:noFill/>
        </p:spPr>
        <p:txBody>
          <a:bodyPr wrap="square" rtlCol="0">
            <a:spAutoFit/>
          </a:bodyPr>
          <a:lstStyle/>
          <a:p>
            <a:r>
              <a:rPr lang="fr-FR" dirty="0"/>
              <a:t>Visualisation des valeurs manquantes, un </a:t>
            </a:r>
            <a:r>
              <a:rPr lang="fr-FR" dirty="0" err="1"/>
              <a:t>dataset</a:t>
            </a:r>
            <a:r>
              <a:rPr lang="fr-FR" dirty="0"/>
              <a:t> vide et éparse :</a:t>
            </a:r>
          </a:p>
        </p:txBody>
      </p:sp>
    </p:spTree>
    <p:extLst>
      <p:ext uri="{BB962C8B-B14F-4D97-AF65-F5344CB8AC3E}">
        <p14:creationId xmlns:p14="http://schemas.microsoft.com/office/powerpoint/2010/main" val="1691447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D01B1DE5-51E8-A4E3-381E-A7A0BD5984FA}"/>
              </a:ext>
            </a:extLst>
          </p:cNvPr>
          <p:cNvPicPr>
            <a:picLocks noChangeAspect="1"/>
          </p:cNvPicPr>
          <p:nvPr/>
        </p:nvPicPr>
        <p:blipFill>
          <a:blip r:embed="rId2"/>
          <a:stretch>
            <a:fillRect/>
          </a:stretch>
        </p:blipFill>
        <p:spPr>
          <a:xfrm>
            <a:off x="2899368" y="109339"/>
            <a:ext cx="5391701" cy="4924822"/>
          </a:xfrm>
          <a:prstGeom prst="rect">
            <a:avLst/>
          </a:prstGeom>
        </p:spPr>
      </p:pic>
      <p:grpSp>
        <p:nvGrpSpPr>
          <p:cNvPr id="7" name="Google Shape;10186;p67">
            <a:extLst>
              <a:ext uri="{FF2B5EF4-FFF2-40B4-BE49-F238E27FC236}">
                <a16:creationId xmlns:a16="http://schemas.microsoft.com/office/drawing/2014/main" id="{647442F6-3D21-47DD-75D2-286F792A3974}"/>
              </a:ext>
            </a:extLst>
          </p:cNvPr>
          <p:cNvGrpSpPr/>
          <p:nvPr/>
        </p:nvGrpSpPr>
        <p:grpSpPr>
          <a:xfrm>
            <a:off x="325319" y="379382"/>
            <a:ext cx="414840" cy="420832"/>
            <a:chOff x="-2777700" y="2049775"/>
            <a:chExt cx="287325" cy="291475"/>
          </a:xfrm>
        </p:grpSpPr>
        <p:sp>
          <p:nvSpPr>
            <p:cNvPr id="8" name="Google Shape;10187;p67">
              <a:extLst>
                <a:ext uri="{FF2B5EF4-FFF2-40B4-BE49-F238E27FC236}">
                  <a16:creationId xmlns:a16="http://schemas.microsoft.com/office/drawing/2014/main" id="{E32A60F5-66B0-D5EF-F6B2-7B8CB2527FE4}"/>
                </a:ext>
              </a:extLst>
            </p:cNvPr>
            <p:cNvSpPr/>
            <p:nvPr/>
          </p:nvSpPr>
          <p:spPr>
            <a:xfrm>
              <a:off x="-2777700" y="2049775"/>
              <a:ext cx="287325" cy="291475"/>
            </a:xfrm>
            <a:custGeom>
              <a:avLst/>
              <a:gdLst/>
              <a:ahLst/>
              <a:cxnLst/>
              <a:rect l="l" t="t" r="r" b="b"/>
              <a:pathLst>
                <a:path w="11493" h="11659" extrusionOk="0">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188;p67">
              <a:extLst>
                <a:ext uri="{FF2B5EF4-FFF2-40B4-BE49-F238E27FC236}">
                  <a16:creationId xmlns:a16="http://schemas.microsoft.com/office/drawing/2014/main" id="{F0BA2D7C-1E42-9D7D-DC26-9EC94632EF17}"/>
                </a:ext>
              </a:extLst>
            </p:cNvPr>
            <p:cNvSpPr/>
            <p:nvPr/>
          </p:nvSpPr>
          <p:spPr>
            <a:xfrm>
              <a:off x="-2694200" y="2221475"/>
              <a:ext cx="69325" cy="68550"/>
            </a:xfrm>
            <a:custGeom>
              <a:avLst/>
              <a:gdLst/>
              <a:ahLst/>
              <a:cxnLst/>
              <a:rect l="l" t="t" r="r" b="b"/>
              <a:pathLst>
                <a:path w="2773" h="2742" extrusionOk="0">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189;p67">
              <a:extLst>
                <a:ext uri="{FF2B5EF4-FFF2-40B4-BE49-F238E27FC236}">
                  <a16:creationId xmlns:a16="http://schemas.microsoft.com/office/drawing/2014/main" id="{F72B05E6-2B08-D141-0811-5815FA90004D}"/>
                </a:ext>
              </a:extLst>
            </p:cNvPr>
            <p:cNvSpPr/>
            <p:nvPr/>
          </p:nvSpPr>
          <p:spPr>
            <a:xfrm>
              <a:off x="-2608350" y="2255350"/>
              <a:ext cx="51200" cy="51225"/>
            </a:xfrm>
            <a:custGeom>
              <a:avLst/>
              <a:gdLst/>
              <a:ahLst/>
              <a:cxnLst/>
              <a:rect l="l" t="t" r="r" b="b"/>
              <a:pathLst>
                <a:path w="2048" h="2049" extrusionOk="0">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8951;p63">
            <a:extLst>
              <a:ext uri="{FF2B5EF4-FFF2-40B4-BE49-F238E27FC236}">
                <a16:creationId xmlns:a16="http://schemas.microsoft.com/office/drawing/2014/main" id="{60A04B11-00F2-8128-2C93-49C222CC2B30}"/>
              </a:ext>
            </a:extLst>
          </p:cNvPr>
          <p:cNvGrpSpPr/>
          <p:nvPr/>
        </p:nvGrpSpPr>
        <p:grpSpPr>
          <a:xfrm>
            <a:off x="801532" y="443237"/>
            <a:ext cx="366269" cy="368091"/>
            <a:chOff x="-62150375" y="2664925"/>
            <a:chExt cx="316650" cy="318225"/>
          </a:xfrm>
        </p:grpSpPr>
        <p:sp>
          <p:nvSpPr>
            <p:cNvPr id="12" name="Google Shape;8952;p63">
              <a:extLst>
                <a:ext uri="{FF2B5EF4-FFF2-40B4-BE49-F238E27FC236}">
                  <a16:creationId xmlns:a16="http://schemas.microsoft.com/office/drawing/2014/main" id="{9990B7EA-EEB4-522D-FB65-D587ADF75595}"/>
                </a:ext>
              </a:extLst>
            </p:cNvPr>
            <p:cNvSpPr/>
            <p:nvPr/>
          </p:nvSpPr>
          <p:spPr>
            <a:xfrm>
              <a:off x="-62150375" y="2961850"/>
              <a:ext cx="316650" cy="21300"/>
            </a:xfrm>
            <a:custGeom>
              <a:avLst/>
              <a:gdLst/>
              <a:ahLst/>
              <a:cxnLst/>
              <a:rect l="l" t="t" r="r" b="b"/>
              <a:pathLst>
                <a:path w="12666" h="852" extrusionOk="0">
                  <a:moveTo>
                    <a:pt x="379" y="0"/>
                  </a:moveTo>
                  <a:cubicBezTo>
                    <a:pt x="158" y="0"/>
                    <a:pt x="1" y="189"/>
                    <a:pt x="1" y="410"/>
                  </a:cubicBezTo>
                  <a:cubicBezTo>
                    <a:pt x="1" y="662"/>
                    <a:pt x="190" y="851"/>
                    <a:pt x="379" y="851"/>
                  </a:cubicBezTo>
                  <a:lnTo>
                    <a:pt x="12225" y="851"/>
                  </a:lnTo>
                  <a:cubicBezTo>
                    <a:pt x="12477" y="851"/>
                    <a:pt x="12634" y="662"/>
                    <a:pt x="12634" y="410"/>
                  </a:cubicBezTo>
                  <a:cubicBezTo>
                    <a:pt x="12666" y="158"/>
                    <a:pt x="12477" y="0"/>
                    <a:pt x="12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953;p63">
              <a:extLst>
                <a:ext uri="{FF2B5EF4-FFF2-40B4-BE49-F238E27FC236}">
                  <a16:creationId xmlns:a16="http://schemas.microsoft.com/office/drawing/2014/main" id="{3AC8589B-A2EB-65B5-089B-06F881427497}"/>
                </a:ext>
              </a:extLst>
            </p:cNvPr>
            <p:cNvSpPr/>
            <p:nvPr/>
          </p:nvSpPr>
          <p:spPr>
            <a:xfrm>
              <a:off x="-62150375" y="2838200"/>
              <a:ext cx="82725" cy="102400"/>
            </a:xfrm>
            <a:custGeom>
              <a:avLst/>
              <a:gdLst/>
              <a:ahLst/>
              <a:cxnLst/>
              <a:rect l="l" t="t" r="r" b="b"/>
              <a:pathLst>
                <a:path w="3309" h="4096" extrusionOk="0">
                  <a:moveTo>
                    <a:pt x="2363" y="756"/>
                  </a:moveTo>
                  <a:cubicBezTo>
                    <a:pt x="2427" y="756"/>
                    <a:pt x="2521" y="851"/>
                    <a:pt x="2521" y="914"/>
                  </a:cubicBezTo>
                  <a:lnTo>
                    <a:pt x="2521" y="3119"/>
                  </a:lnTo>
                  <a:cubicBezTo>
                    <a:pt x="2521" y="3214"/>
                    <a:pt x="2427" y="3245"/>
                    <a:pt x="2363" y="3245"/>
                  </a:cubicBezTo>
                  <a:lnTo>
                    <a:pt x="977" y="3245"/>
                  </a:lnTo>
                  <a:cubicBezTo>
                    <a:pt x="883" y="3245"/>
                    <a:pt x="820" y="3151"/>
                    <a:pt x="820" y="3119"/>
                  </a:cubicBezTo>
                  <a:lnTo>
                    <a:pt x="820" y="914"/>
                  </a:lnTo>
                  <a:cubicBezTo>
                    <a:pt x="820" y="851"/>
                    <a:pt x="883" y="756"/>
                    <a:pt x="977" y="756"/>
                  </a:cubicBezTo>
                  <a:close/>
                  <a:moveTo>
                    <a:pt x="946" y="0"/>
                  </a:moveTo>
                  <a:cubicBezTo>
                    <a:pt x="379" y="0"/>
                    <a:pt x="1" y="441"/>
                    <a:pt x="1" y="945"/>
                  </a:cubicBezTo>
                  <a:lnTo>
                    <a:pt x="1" y="3151"/>
                  </a:lnTo>
                  <a:cubicBezTo>
                    <a:pt x="1" y="3686"/>
                    <a:pt x="410" y="4096"/>
                    <a:pt x="946" y="4096"/>
                  </a:cubicBezTo>
                  <a:lnTo>
                    <a:pt x="2300" y="4096"/>
                  </a:lnTo>
                  <a:cubicBezTo>
                    <a:pt x="2868" y="4096"/>
                    <a:pt x="3309" y="3686"/>
                    <a:pt x="3309" y="3151"/>
                  </a:cubicBezTo>
                  <a:lnTo>
                    <a:pt x="3309" y="945"/>
                  </a:lnTo>
                  <a:cubicBezTo>
                    <a:pt x="3309" y="410"/>
                    <a:pt x="2868"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954;p63">
              <a:extLst>
                <a:ext uri="{FF2B5EF4-FFF2-40B4-BE49-F238E27FC236}">
                  <a16:creationId xmlns:a16="http://schemas.microsoft.com/office/drawing/2014/main" id="{D729325B-2E40-68D2-2AA9-DC713E6C6A24}"/>
                </a:ext>
              </a:extLst>
            </p:cNvPr>
            <p:cNvSpPr/>
            <p:nvPr/>
          </p:nvSpPr>
          <p:spPr>
            <a:xfrm>
              <a:off x="-62033800" y="2664925"/>
              <a:ext cx="82725" cy="274900"/>
            </a:xfrm>
            <a:custGeom>
              <a:avLst/>
              <a:gdLst/>
              <a:ahLst/>
              <a:cxnLst/>
              <a:rect l="l" t="t" r="r" b="b"/>
              <a:pathLst>
                <a:path w="3309" h="10996" extrusionOk="0">
                  <a:moveTo>
                    <a:pt x="2332" y="788"/>
                  </a:moveTo>
                  <a:cubicBezTo>
                    <a:pt x="2426" y="851"/>
                    <a:pt x="2489" y="882"/>
                    <a:pt x="2489" y="945"/>
                  </a:cubicBezTo>
                  <a:lnTo>
                    <a:pt x="2489" y="10050"/>
                  </a:lnTo>
                  <a:cubicBezTo>
                    <a:pt x="2489" y="10145"/>
                    <a:pt x="2426" y="10176"/>
                    <a:pt x="2332" y="10176"/>
                  </a:cubicBezTo>
                  <a:lnTo>
                    <a:pt x="946" y="10176"/>
                  </a:lnTo>
                  <a:cubicBezTo>
                    <a:pt x="882" y="10176"/>
                    <a:pt x="851" y="10082"/>
                    <a:pt x="851" y="10050"/>
                  </a:cubicBezTo>
                  <a:lnTo>
                    <a:pt x="851" y="945"/>
                  </a:lnTo>
                  <a:cubicBezTo>
                    <a:pt x="851" y="882"/>
                    <a:pt x="914" y="788"/>
                    <a:pt x="946" y="788"/>
                  </a:cubicBezTo>
                  <a:close/>
                  <a:moveTo>
                    <a:pt x="946" y="0"/>
                  </a:moveTo>
                  <a:cubicBezTo>
                    <a:pt x="410" y="0"/>
                    <a:pt x="0" y="441"/>
                    <a:pt x="0" y="945"/>
                  </a:cubicBezTo>
                  <a:lnTo>
                    <a:pt x="0" y="10050"/>
                  </a:lnTo>
                  <a:cubicBezTo>
                    <a:pt x="0" y="10617"/>
                    <a:pt x="441" y="10995"/>
                    <a:pt x="946" y="10995"/>
                  </a:cubicBezTo>
                  <a:lnTo>
                    <a:pt x="2332" y="10995"/>
                  </a:lnTo>
                  <a:cubicBezTo>
                    <a:pt x="2899" y="10995"/>
                    <a:pt x="3308" y="10554"/>
                    <a:pt x="3308" y="10050"/>
                  </a:cubicBezTo>
                  <a:lnTo>
                    <a:pt x="3308" y="945"/>
                  </a:lnTo>
                  <a:cubicBezTo>
                    <a:pt x="3308" y="410"/>
                    <a:pt x="2899"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955;p63">
              <a:extLst>
                <a:ext uri="{FF2B5EF4-FFF2-40B4-BE49-F238E27FC236}">
                  <a16:creationId xmlns:a16="http://schemas.microsoft.com/office/drawing/2014/main" id="{1BFD423C-606C-2A87-3302-F54D79C1F98B}"/>
                </a:ext>
              </a:extLst>
            </p:cNvPr>
            <p:cNvSpPr/>
            <p:nvPr/>
          </p:nvSpPr>
          <p:spPr>
            <a:xfrm>
              <a:off x="-61917225" y="2754700"/>
              <a:ext cx="83500" cy="185900"/>
            </a:xfrm>
            <a:custGeom>
              <a:avLst/>
              <a:gdLst/>
              <a:ahLst/>
              <a:cxnLst/>
              <a:rect l="l" t="t" r="r" b="b"/>
              <a:pathLst>
                <a:path w="3340" h="7436" extrusionOk="0">
                  <a:moveTo>
                    <a:pt x="2394" y="788"/>
                  </a:moveTo>
                  <a:cubicBezTo>
                    <a:pt x="2489" y="788"/>
                    <a:pt x="2520" y="883"/>
                    <a:pt x="2520" y="946"/>
                  </a:cubicBezTo>
                  <a:lnTo>
                    <a:pt x="2520" y="6459"/>
                  </a:lnTo>
                  <a:cubicBezTo>
                    <a:pt x="2520" y="6554"/>
                    <a:pt x="2426" y="6585"/>
                    <a:pt x="2394" y="6585"/>
                  </a:cubicBezTo>
                  <a:lnTo>
                    <a:pt x="1008" y="6585"/>
                  </a:lnTo>
                  <a:cubicBezTo>
                    <a:pt x="945" y="6585"/>
                    <a:pt x="851" y="6491"/>
                    <a:pt x="851" y="6459"/>
                  </a:cubicBezTo>
                  <a:lnTo>
                    <a:pt x="851" y="946"/>
                  </a:lnTo>
                  <a:cubicBezTo>
                    <a:pt x="851" y="883"/>
                    <a:pt x="945" y="788"/>
                    <a:pt x="1008" y="788"/>
                  </a:cubicBezTo>
                  <a:close/>
                  <a:moveTo>
                    <a:pt x="977" y="1"/>
                  </a:moveTo>
                  <a:cubicBezTo>
                    <a:pt x="441" y="1"/>
                    <a:pt x="0" y="442"/>
                    <a:pt x="0" y="977"/>
                  </a:cubicBezTo>
                  <a:lnTo>
                    <a:pt x="0" y="6491"/>
                  </a:lnTo>
                  <a:cubicBezTo>
                    <a:pt x="0" y="7058"/>
                    <a:pt x="441" y="7436"/>
                    <a:pt x="977" y="7436"/>
                  </a:cubicBezTo>
                  <a:lnTo>
                    <a:pt x="2363" y="7436"/>
                  </a:lnTo>
                  <a:cubicBezTo>
                    <a:pt x="2899" y="7436"/>
                    <a:pt x="3308" y="7026"/>
                    <a:pt x="3308" y="6491"/>
                  </a:cubicBezTo>
                  <a:lnTo>
                    <a:pt x="3308" y="977"/>
                  </a:lnTo>
                  <a:cubicBezTo>
                    <a:pt x="3340" y="442"/>
                    <a:pt x="2899" y="1"/>
                    <a:pt x="2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561;p50">
            <a:extLst>
              <a:ext uri="{FF2B5EF4-FFF2-40B4-BE49-F238E27FC236}">
                <a16:creationId xmlns:a16="http://schemas.microsoft.com/office/drawing/2014/main" id="{0D5D3D08-1E52-594F-AD7B-7A1DDEFFFB88}"/>
              </a:ext>
            </a:extLst>
          </p:cNvPr>
          <p:cNvSpPr txBox="1">
            <a:spLocks/>
          </p:cNvSpPr>
          <p:nvPr/>
        </p:nvSpPr>
        <p:spPr>
          <a:xfrm>
            <a:off x="135939" y="786690"/>
            <a:ext cx="2763429" cy="2337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SzPts val="1200"/>
              <a:buFont typeface="Arial"/>
              <a:buChar char="●"/>
            </a:pPr>
            <a:endParaRPr lang="fr-FR" dirty="0">
              <a:uFill>
                <a:noFill/>
              </a:uFill>
            </a:endParaRPr>
          </a:p>
          <a:p>
            <a:pPr marL="457200" indent="-304800">
              <a:spcBef>
                <a:spcPts val="1000"/>
              </a:spcBef>
              <a:buSzPts val="1200"/>
              <a:buFont typeface="Arial"/>
              <a:buChar char="●"/>
            </a:pPr>
            <a:r>
              <a:rPr lang="fr-FR" dirty="0">
                <a:uFill>
                  <a:noFill/>
                </a:uFill>
              </a:rPr>
              <a:t>Comme on peut le voir sur ce graphique représentant les valeurs manquantes pour nos variables choisies de l’application, un nombre conséquent de variables manquantes pourront être imputées grâce à la régression linéaire</a:t>
            </a:r>
          </a:p>
          <a:p>
            <a:pPr marL="457200" indent="-304800">
              <a:spcBef>
                <a:spcPts val="1000"/>
              </a:spcBef>
              <a:buSzPts val="1200"/>
              <a:buFont typeface="Arial"/>
              <a:buChar char="●"/>
            </a:pPr>
            <a:r>
              <a:rPr lang="fr-FR" dirty="0">
                <a:uFill>
                  <a:noFill/>
                </a:uFill>
              </a:rPr>
              <a:t>Environ 100 000 variables manquantes pour le </a:t>
            </a:r>
            <a:r>
              <a:rPr lang="fr-FR" dirty="0" err="1">
                <a:uFill>
                  <a:noFill/>
                </a:uFill>
              </a:rPr>
              <a:t>nutriscore</a:t>
            </a:r>
            <a:r>
              <a:rPr lang="fr-FR" dirty="0">
                <a:uFill>
                  <a:noFill/>
                </a:uFill>
              </a:rPr>
              <a:t> dans le </a:t>
            </a:r>
            <a:r>
              <a:rPr lang="fr-FR" dirty="0" err="1">
                <a:uFill>
                  <a:noFill/>
                </a:uFill>
              </a:rPr>
              <a:t>dataset</a:t>
            </a:r>
            <a:r>
              <a:rPr lang="fr-FR" dirty="0">
                <a:uFill>
                  <a:noFill/>
                </a:uFill>
              </a:rPr>
              <a:t> initial</a:t>
            </a:r>
          </a:p>
          <a:p>
            <a:pPr marL="457200" indent="-304800">
              <a:spcBef>
                <a:spcPts val="1000"/>
              </a:spcBef>
              <a:buSzPts val="1200"/>
              <a:buFont typeface="Arial"/>
              <a:buChar char="●"/>
            </a:pPr>
            <a:endParaRPr lang="fr-FR" dirty="0">
              <a:uFill>
                <a:noFill/>
              </a:uFill>
            </a:endParaRPr>
          </a:p>
        </p:txBody>
      </p:sp>
    </p:spTree>
    <p:extLst>
      <p:ext uri="{BB962C8B-B14F-4D97-AF65-F5344CB8AC3E}">
        <p14:creationId xmlns:p14="http://schemas.microsoft.com/office/powerpoint/2010/main" val="3092527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3" name="Google Shape;563;p50"/>
          <p:cNvSpPr/>
          <p:nvPr/>
        </p:nvSpPr>
        <p:spPr>
          <a:xfrm rot="2700000">
            <a:off x="6962351" y="4135376"/>
            <a:ext cx="1514623" cy="1514199"/>
          </a:xfrm>
          <a:prstGeom prst="roundRect">
            <a:avLst>
              <a:gd name="adj" fmla="val 26624"/>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0"/>
          <p:cNvSpPr/>
          <p:nvPr/>
        </p:nvSpPr>
        <p:spPr>
          <a:xfrm rot="2700000">
            <a:off x="6839748" y="3748427"/>
            <a:ext cx="921077" cy="921077"/>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0"/>
          <p:cNvSpPr txBox="1">
            <a:spLocks noGrp="1"/>
          </p:cNvSpPr>
          <p:nvPr>
            <p:ph type="body" idx="1"/>
          </p:nvPr>
        </p:nvSpPr>
        <p:spPr>
          <a:xfrm>
            <a:off x="720000" y="346697"/>
            <a:ext cx="7704000" cy="233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200" dirty="0">
                <a:latin typeface="Quicksand SemiBold"/>
                <a:ea typeface="Quicksand SemiBold"/>
                <a:cs typeface="Quicksand SemiBold"/>
                <a:sym typeface="Quicksand SemiBold"/>
              </a:rPr>
              <a:t>Limites</a:t>
            </a:r>
            <a:endParaRPr sz="2200" dirty="0">
              <a:latin typeface="Quicksand SemiBold"/>
              <a:ea typeface="Quicksand SemiBold"/>
              <a:cs typeface="Quicksand SemiBold"/>
              <a:sym typeface="Quicksand SemiBold"/>
            </a:endParaRPr>
          </a:p>
          <a:p>
            <a:pPr marL="457200" lvl="0" indent="-304800" algn="l" rtl="0">
              <a:spcBef>
                <a:spcPts val="1000"/>
              </a:spcBef>
              <a:spcAft>
                <a:spcPts val="0"/>
              </a:spcAft>
              <a:buSzPts val="1200"/>
              <a:buChar char="●"/>
            </a:pPr>
            <a:r>
              <a:rPr lang="fr-FR" dirty="0">
                <a:solidFill>
                  <a:schemeClr val="bg2">
                    <a:lumMod val="10000"/>
                  </a:schemeClr>
                </a:solidFill>
                <a:uFill>
                  <a:noFill/>
                </a:uFill>
              </a:rPr>
              <a:t>Mon application présente des limites en raison du petit nombre d'aliments dans le </a:t>
            </a:r>
            <a:r>
              <a:rPr lang="fr-FR" dirty="0" err="1">
                <a:solidFill>
                  <a:schemeClr val="bg2">
                    <a:lumMod val="10000"/>
                  </a:schemeClr>
                </a:solidFill>
                <a:uFill>
                  <a:noFill/>
                </a:uFill>
              </a:rPr>
              <a:t>dataset</a:t>
            </a:r>
            <a:r>
              <a:rPr lang="fr-FR" dirty="0">
                <a:solidFill>
                  <a:schemeClr val="bg2">
                    <a:lumMod val="10000"/>
                  </a:schemeClr>
                </a:solidFill>
                <a:uFill>
                  <a:noFill/>
                </a:uFill>
              </a:rPr>
              <a:t> (vide et peu renseigné), ce qui a limité ma capacité à utiliser des méthodes comme l'ANOVA et l'ACP pour effectuer une analyse plus approfondie. </a:t>
            </a:r>
          </a:p>
          <a:p>
            <a:pPr marL="457200" lvl="0" indent="-304800" algn="l" rtl="0">
              <a:spcBef>
                <a:spcPts val="1000"/>
              </a:spcBef>
              <a:spcAft>
                <a:spcPts val="0"/>
              </a:spcAft>
              <a:buSzPts val="1200"/>
              <a:buChar char="●"/>
            </a:pPr>
            <a:r>
              <a:rPr lang="fr-FR" dirty="0">
                <a:solidFill>
                  <a:schemeClr val="bg2">
                    <a:lumMod val="10000"/>
                  </a:schemeClr>
                </a:solidFill>
                <a:uFill>
                  <a:noFill/>
                </a:uFill>
              </a:rPr>
              <a:t>Besoin de recourir à une estimation des valeurs manquantes dans certaines variables, ce qui peut avoir une incidence sur la fiabilité des résultats. </a:t>
            </a:r>
          </a:p>
          <a:p>
            <a:pPr marL="457200" lvl="0" indent="-304800" algn="l" rtl="0">
              <a:spcBef>
                <a:spcPts val="1000"/>
              </a:spcBef>
              <a:spcAft>
                <a:spcPts val="0"/>
              </a:spcAft>
              <a:buSzPts val="1200"/>
              <a:buChar char="●"/>
            </a:pPr>
            <a:endParaRPr lang="fr-FR" dirty="0">
              <a:uFill>
                <a:noFill/>
              </a:uFill>
            </a:endParaRPr>
          </a:p>
          <a:p>
            <a:pPr marL="0" indent="0">
              <a:buNone/>
            </a:pPr>
            <a:r>
              <a:rPr lang="fr-FR" sz="2200" dirty="0">
                <a:latin typeface="Quicksand SemiBold"/>
              </a:rPr>
              <a:t>Faisabilité</a:t>
            </a:r>
          </a:p>
          <a:p>
            <a:pPr marL="457200" lvl="0" indent="-304800" algn="l" rtl="0">
              <a:spcBef>
                <a:spcPts val="1000"/>
              </a:spcBef>
              <a:spcAft>
                <a:spcPts val="0"/>
              </a:spcAft>
              <a:buSzPts val="1200"/>
              <a:buChar char="●"/>
            </a:pPr>
            <a:r>
              <a:rPr lang="fr-FR" dirty="0">
                <a:solidFill>
                  <a:schemeClr val="bg2">
                    <a:lumMod val="10000"/>
                  </a:schemeClr>
                </a:solidFill>
                <a:uFill>
                  <a:noFill/>
                </a:uFill>
              </a:rPr>
              <a:t>Toutefois, le coefficient de détermination </a:t>
            </a:r>
            <a:r>
              <a:rPr lang="fr-FR" sz="1600" b="1" dirty="0">
                <a:solidFill>
                  <a:schemeClr val="bg2">
                    <a:lumMod val="10000"/>
                  </a:schemeClr>
                </a:solidFill>
                <a:uFill>
                  <a:noFill/>
                </a:uFill>
              </a:rPr>
              <a:t>(R2) de 0,842 </a:t>
            </a:r>
            <a:r>
              <a:rPr lang="fr-FR" dirty="0">
                <a:solidFill>
                  <a:schemeClr val="bg2">
                    <a:lumMod val="10000"/>
                  </a:schemeClr>
                </a:solidFill>
                <a:uFill>
                  <a:noFill/>
                </a:uFill>
              </a:rPr>
              <a:t>suggère que les variables sélectionnées ont une forte corrélation avec le Nutri-Score</a:t>
            </a:r>
          </a:p>
          <a:p>
            <a:pPr marL="457200" lvl="0" indent="-304800" algn="l" rtl="0">
              <a:spcBef>
                <a:spcPts val="1000"/>
              </a:spcBef>
              <a:spcAft>
                <a:spcPts val="0"/>
              </a:spcAft>
              <a:buSzPts val="1200"/>
              <a:buChar char="●"/>
            </a:pPr>
            <a:endParaRPr lang="fr-FR" dirty="0">
              <a:solidFill>
                <a:schemeClr val="bg2">
                  <a:lumMod val="10000"/>
                </a:schemeClr>
              </a:solidFill>
              <a:uFill>
                <a:noFill/>
              </a:uFill>
            </a:endParaRPr>
          </a:p>
          <a:p>
            <a:pPr marL="457200" lvl="0" indent="-304800" algn="l" rtl="0">
              <a:spcBef>
                <a:spcPts val="1000"/>
              </a:spcBef>
              <a:spcAft>
                <a:spcPts val="0"/>
              </a:spcAft>
              <a:buSzPts val="1200"/>
              <a:buChar char="●"/>
            </a:pPr>
            <a:r>
              <a:rPr lang="fr-FR" dirty="0">
                <a:solidFill>
                  <a:schemeClr val="bg2">
                    <a:lumMod val="10000"/>
                  </a:schemeClr>
                </a:solidFill>
                <a:uFill>
                  <a:noFill/>
                </a:uFill>
              </a:rPr>
              <a:t>Cependant, en utilisant un </a:t>
            </a:r>
            <a:r>
              <a:rPr lang="fr-FR" dirty="0" err="1">
                <a:solidFill>
                  <a:schemeClr val="bg2">
                    <a:lumMod val="10000"/>
                  </a:schemeClr>
                </a:solidFill>
                <a:uFill>
                  <a:noFill/>
                </a:uFill>
              </a:rPr>
              <a:t>dataset</a:t>
            </a:r>
            <a:r>
              <a:rPr lang="fr-FR" dirty="0">
                <a:solidFill>
                  <a:schemeClr val="bg2">
                    <a:lumMod val="10000"/>
                  </a:schemeClr>
                </a:solidFill>
                <a:uFill>
                  <a:noFill/>
                </a:uFill>
              </a:rPr>
              <a:t> plus large et en entraînant un modèle plus sophistiqué, il est probable que les limites de l'application puissent être réduites. De cette façon, des recommandations plus précises et fiables pourraient être fournies aux consommateurs.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M</a:t>
            </a:r>
            <a:r>
              <a:rPr lang="en" dirty="0" err="1"/>
              <a:t>erci</a:t>
            </a:r>
            <a:r>
              <a:rPr lang="en" dirty="0"/>
              <a:t> !</a:t>
            </a:r>
            <a:endParaRPr dirty="0"/>
          </a:p>
        </p:txBody>
      </p:sp>
      <p:sp>
        <p:nvSpPr>
          <p:cNvPr id="516" name="Google Shape;516;p48"/>
          <p:cNvSpPr/>
          <p:nvPr/>
        </p:nvSpPr>
        <p:spPr>
          <a:xfrm rot="5400000">
            <a:off x="5138400" y="2293495"/>
            <a:ext cx="11304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8"/>
          <p:cNvSpPr/>
          <p:nvPr/>
        </p:nvSpPr>
        <p:spPr>
          <a:xfrm>
            <a:off x="1796475" y="-900275"/>
            <a:ext cx="2184900" cy="218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8"/>
          <p:cNvSpPr/>
          <p:nvPr/>
        </p:nvSpPr>
        <p:spPr>
          <a:xfrm rot="2700000">
            <a:off x="1653673" y="576473"/>
            <a:ext cx="633002" cy="633002"/>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8"/>
          <p:cNvSpPr/>
          <p:nvPr/>
        </p:nvSpPr>
        <p:spPr>
          <a:xfrm rot="-5400000">
            <a:off x="3577267" y="-512975"/>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Minimalist Geometric Shapes Style Pitch Deck by Slidesgo">
  <a:themeElements>
    <a:clrScheme name="Personnalisé 1">
      <a:dk1>
        <a:srgbClr val="C57863"/>
      </a:dk1>
      <a:lt1>
        <a:srgbClr val="FFFBF8"/>
      </a:lt1>
      <a:dk2>
        <a:srgbClr val="E4D6C6"/>
      </a:dk2>
      <a:lt2>
        <a:srgbClr val="DDD4CE"/>
      </a:lt2>
      <a:accent1>
        <a:srgbClr val="FFFFFF"/>
      </a:accent1>
      <a:accent2>
        <a:srgbClr val="FFFFFF"/>
      </a:accent2>
      <a:accent3>
        <a:srgbClr val="FFFFFF"/>
      </a:accent3>
      <a:accent4>
        <a:srgbClr val="FFFFFF"/>
      </a:accent4>
      <a:accent5>
        <a:srgbClr val="FFFFFF"/>
      </a:accent5>
      <a:accent6>
        <a:srgbClr val="FFFFFF"/>
      </a:accent6>
      <a:hlink>
        <a:srgbClr val="453D3B"/>
      </a:hlink>
      <a:folHlink>
        <a:srgbClr val="C578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7310</TotalTime>
  <Words>1707</Words>
  <Application>Microsoft Macintosh PowerPoint</Application>
  <PresentationFormat>Affichage à l'écran (16:9)</PresentationFormat>
  <Paragraphs>207</Paragraphs>
  <Slides>31</Slides>
  <Notes>9</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31</vt:i4>
      </vt:variant>
    </vt:vector>
  </HeadingPairs>
  <TitlesOfParts>
    <vt:vector size="46" baseType="lpstr">
      <vt:lpstr>ColfaxAI</vt:lpstr>
      <vt:lpstr>Quicksand Medium</vt:lpstr>
      <vt:lpstr>Poppins Medium</vt:lpstr>
      <vt:lpstr>Quicksand</vt:lpstr>
      <vt:lpstr>.AppleSystemUIFont</vt:lpstr>
      <vt:lpstr>Söhne</vt:lpstr>
      <vt:lpstr>Arial</vt:lpstr>
      <vt:lpstr>Nunito Light</vt:lpstr>
      <vt:lpstr>Bebas Neue</vt:lpstr>
      <vt:lpstr>-apple-system</vt:lpstr>
      <vt:lpstr>Quicksand SemiBold</vt:lpstr>
      <vt:lpstr>Inter</vt:lpstr>
      <vt:lpstr>Anaheim</vt:lpstr>
      <vt:lpstr>UICTFontTextStyleBody</vt:lpstr>
      <vt:lpstr>Minimalist Geometric Shapes Style Pitch Deck by Slidesgo</vt:lpstr>
      <vt:lpstr>Concevez une application au service de la santé publique</vt:lpstr>
      <vt:lpstr>Nettoyage de données</vt:lpstr>
      <vt:lpstr>Analyse exploratoire</vt:lpstr>
      <vt:lpstr>Timeline</vt:lpstr>
      <vt:lpstr>Applications</vt:lpstr>
      <vt:lpstr>Nutri-app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Cercle de corrélations</vt:lpstr>
      <vt:lpstr>Présentation PowerPoint</vt:lpstr>
      <vt:lpstr>Présentation PowerPoint</vt:lpstr>
      <vt:lpstr>Test de Kruskal-Wallis</vt:lpstr>
      <vt:lpstr>Présentation PowerPoint</vt:lpstr>
      <vt:lpstr>Présentation application</vt:lpstr>
      <vt:lpstr>App aperçu</vt:lpstr>
      <vt:lpstr>Présentation de l’ application</vt:lpstr>
      <vt:lpstr>Faisabilité et justification de l’application</vt:lpstr>
      <vt:lpstr>Présentation PowerPoint</vt:lpstr>
      <vt:lpstr>Présentation PowerPoint</vt:lpstr>
      <vt:lpstr>Intérêt de l’application</vt:lpstr>
      <vt:lpstr>Présentation PowerPoint</vt:lpstr>
      <vt:lpstr>Présentation PowerPoint</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Geometric Shapes Style Pitch Deck</dc:title>
  <cp:lastModifiedBy>Laure Agrech</cp:lastModifiedBy>
  <cp:revision>73</cp:revision>
  <dcterms:modified xsi:type="dcterms:W3CDTF">2023-03-17T07:56:46Z</dcterms:modified>
</cp:coreProperties>
</file>